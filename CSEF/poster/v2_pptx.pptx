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r="http://schemas.openxmlformats.org/officeDocument/2006/relationships" xmlns:a="http://schemas.openxmlformats.org/drawingml/2006/main" xmlns:p="http://schemas.openxmlformats.org/presentationml/2006/main" embedTrueTypeFonts="1">
  <p:sldMasterIdLst>
    <p:sldMasterId id="2147483648" r:id="rId1"/>
  </p:sldMasterIdLst>
  <p:sldIdLst>
    <p:sldId id="256" r:id="rId2"/>
  </p:sldIdLst>
  <p:sldSz cx="32918400" cy="43891200"/>
  <p:notesSz cx="5800725" cy="9094788"/>
  <p:embeddedFontLst>
    <p:embeddedFont>
      <p:font typeface="Amaranth" panose="02000503050000020004" pitchFamily="2" charset="0"/>
      <p:regular r:id="rId4"/>
    </p:embeddedFont>
    <p:embeddedFont>
      <p:font typeface="Open Sans" panose="020B0606030504020204" pitchFamily="34" charset="0"/>
      <p:regular r:id="rId5"/>
      <p:bold r:id="rId6"/>
      <p:italic r:id="rId7"/>
      <p:boldItalic r:id="rId8"/>
    </p:embeddedFont>
    <p:embeddedFont>
      <p:font typeface="Titillium Web" panose="00000500000000000000" pitchFamily="2" charset="0"/>
      <p:regular r:id="rId9"/>
    </p:embeddedFont>
  </p:embeddedFontLst>
  <p:custDataLst>
    <p:tags r:id="rId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93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93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93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93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93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9300" kern="1200">
        <a:solidFill>
          <a:schemeClr val="tx1"/>
        </a:solidFill>
        <a:latin typeface="Arial"/>
        <a:ea typeface="+mn-ea"/>
        <a:cs typeface="+mn-cs"/>
      </a:defRPr>
    </a:lvl6pPr>
    <a:lvl7pPr marL="2743200" algn="l" defTabSz="914400" rtl="0" eaLnBrk="1" latinLnBrk="0" hangingPunct="1">
      <a:defRPr sz="9300" kern="1200">
        <a:solidFill>
          <a:schemeClr val="tx1"/>
        </a:solidFill>
        <a:latin typeface="Arial"/>
        <a:ea typeface="+mn-ea"/>
        <a:cs typeface="+mn-cs"/>
      </a:defRPr>
    </a:lvl7pPr>
    <a:lvl8pPr marL="3200400" algn="l" defTabSz="914400" rtl="0" eaLnBrk="1" latinLnBrk="0" hangingPunct="1">
      <a:defRPr sz="9300" kern="1200">
        <a:solidFill>
          <a:schemeClr val="tx1"/>
        </a:solidFill>
        <a:latin typeface="Arial"/>
        <a:ea typeface="+mn-ea"/>
        <a:cs typeface="+mn-cs"/>
      </a:defRPr>
    </a:lvl8pPr>
    <a:lvl9pPr marL="3657600" algn="l" defTabSz="914400" rtl="0" eaLnBrk="1" latinLnBrk="0" hangingPunct="1">
      <a:defRPr sz="9300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24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>
      <p:cViewPr varScale="1">
        <p:scale>
          <a:sx n="20" d="100"/>
          <a:sy n="20" d="100"/>
        </p:scale>
        <p:origin x="3706" y="29"/>
      </p:cViewPr>
      <p:guideLst>
        <p:guide orient="horz" pos="13824"/>
        <p:guide pos="1036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ags" Target="tags/tag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356" y="13635568"/>
            <a:ext cx="27979688" cy="9406467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523" y="24870834"/>
            <a:ext cx="23043356" cy="11218333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9E44D62-E9B9-4A1F-9D60-78A1B8BD21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27471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D772C493-C7EB-4BEF-9EB3-C72AA1A173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22162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5" y="28204585"/>
            <a:ext cx="27980878" cy="8716433"/>
          </a:xfrm>
        </p:spPr>
        <p:txBody>
          <a:bodyPr anchor="t"/>
          <a:lstStyle>
            <a:defPPr>
              <a:defRPr kern="1200"/>
            </a:defPPr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5" y="18603384"/>
            <a:ext cx="27980878" cy="96012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239EF23-2AC5-4B50-8C9E-5F8D49668A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25829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444" y="10240433"/>
            <a:ext cx="14756606" cy="28966585"/>
          </a:xfrm>
        </p:spPr>
        <p:txBody>
          <a:bodyPr/>
          <a:lstStyle>
            <a:defPPr>
              <a:defRPr kern="1200"/>
            </a:defPPr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16352" y="10240433"/>
            <a:ext cx="14756606" cy="28966585"/>
          </a:xfrm>
        </p:spPr>
        <p:txBody>
          <a:bodyPr/>
          <a:lstStyle>
            <a:defPPr>
              <a:defRPr kern="1200"/>
            </a:defPPr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BBD8762-0F6F-41F2-8E1E-C5EF6CE7FF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97227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444" y="9825568"/>
            <a:ext cx="14544675" cy="4093633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444" y="13919200"/>
            <a:ext cx="14544675" cy="25287816"/>
          </a:xfrm>
        </p:spPr>
        <p:txBody>
          <a:bodyPr/>
          <a:lstStyle>
            <a:defPPr>
              <a:defRPr kern="1200"/>
            </a:defPPr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328" y="9825568"/>
            <a:ext cx="14550630" cy="4093633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328" y="13919200"/>
            <a:ext cx="14550630" cy="25287816"/>
          </a:xfrm>
        </p:spPr>
        <p:txBody>
          <a:bodyPr/>
          <a:lstStyle>
            <a:defPPr>
              <a:defRPr kern="1200"/>
            </a:defPPr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C245EB89-E1F0-4213-BFCF-D6A06A13C4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56688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F9249905-9305-4041-8B60-8DE0824E81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12194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7C76933-D99D-4DC1-BD09-1072CC92B2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93674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1748367"/>
            <a:ext cx="10829925" cy="7435851"/>
          </a:xfrm>
        </p:spPr>
        <p:txBody>
          <a:bodyPr anchor="b"/>
          <a:lstStyle>
            <a:defPPr>
              <a:defRPr kern="1200"/>
            </a:defPPr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656" y="1748367"/>
            <a:ext cx="18402300" cy="37458650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444" y="9184217"/>
            <a:ext cx="10829925" cy="300228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F6A5529-8465-4E7D-9DB8-D374C51CD7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111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997" y="30723418"/>
            <a:ext cx="19751280" cy="3627967"/>
          </a:xfrm>
        </p:spPr>
        <p:txBody>
          <a:bodyPr anchor="b"/>
          <a:lstStyle>
            <a:defPPr>
              <a:defRPr kern="1200"/>
            </a:defPPr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1997" y="3922184"/>
            <a:ext cx="19751280" cy="2633345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1997" y="34351385"/>
            <a:ext cx="19751280" cy="5149849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C022C6C-C3BF-4CE1-8842-0AC5970173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10504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A277C51-0625-40F0-8A02-D153CC2D70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59031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6080" y="1756833"/>
            <a:ext cx="7406878" cy="37450185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444" y="1756833"/>
            <a:ext cx="22106334" cy="37450185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C9A1A37-7051-412A-8F35-8483CD8F48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706"/>
      </p:ext>
    </p:extLst>
  </p:cSld>
  <p:clrMapOvr>
    <a:masterClrMapping/>
  </p:clrMapOvr>
  <p:transition/>
  <p:timing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45444" y="1756833"/>
            <a:ext cx="29627512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45444" y="10240433"/>
            <a:ext cx="29627512" cy="28966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45444" y="39969015"/>
            <a:ext cx="768191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3526631">
              <a:defRPr sz="54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6644" y="39969015"/>
            <a:ext cx="1042511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 defTabSz="3526631">
              <a:defRPr sz="54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91044" y="39969015"/>
            <a:ext cx="768191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3526631">
              <a:defRPr sz="5400" smtClean="0">
                <a:latin typeface="Arial" pitchFamily="34" charset="0"/>
              </a:defRPr>
            </a:lvl1pPr>
          </a:lstStyle>
          <a:p>
            <a:pPr>
              <a:defRPr/>
            </a:pPr>
            <a:fld id="{25043CB6-A91D-4176-912B-555F54C38C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 title=""/>
          <p:cNvPicPr/>
          <p:nvPr/>
        </p:nvPicPr>
        <p:blipFill>
          <a:blip r:embed="rId12"/>
          <a:stretch>
            <a:fillRect/>
          </a:stretch>
        </p:blipFill>
        <p:spPr>
          <a:xfrm rot="16200000">
            <a:off x="-11074400" y="21945600"/>
            <a:ext cx="14274800" cy="3937000"/>
          </a:xfrm>
          <a:prstGeom prst="rect">
            <a:avLst/>
          </a:prstGeom>
        </p:spPr>
      </p:pic>
      <p:pic>
        <p:nvPicPr>
          <p:cNvPr id="1032" name="New picture" title=""/>
          <p:cNvPicPr/>
          <p:nvPr/>
        </p:nvPicPr>
        <p:blipFill>
          <a:blip r:embed="rId12"/>
          <a:stretch>
            <a:fillRect/>
          </a:stretch>
        </p:blipFill>
        <p:spPr>
          <a:xfrm rot="5400000">
            <a:off x="29718000" y="21945600"/>
            <a:ext cx="14274800" cy="3937000"/>
          </a:xfrm>
          <a:prstGeom prst="rect">
            <a:avLst/>
          </a:prstGeom>
        </p:spPr>
      </p:pic>
      <p:pic>
        <p:nvPicPr>
          <p:cNvPr id="1033" name="New picture" title=""/>
          <p:cNvPicPr/>
          <p:nvPr/>
        </p:nvPicPr>
        <p:blipFill>
          <a:blip r:embed="rId13"/>
          <a:stretch>
            <a:fillRect/>
          </a:stretch>
        </p:blipFill>
        <p:spPr>
          <a:xfrm>
            <a:off x="1460500" y="44399200"/>
            <a:ext cx="29997400" cy="1447800"/>
          </a:xfrm>
          <a:prstGeom prst="rect">
            <a:avLst/>
          </a:prstGeom>
        </p:spPr>
      </p:pic>
      <p:sp>
        <p:nvSpPr>
          <p:cNvPr id="1034" name="New shape" title=""/>
          <p:cNvSpPr/>
          <p:nvPr/>
        </p:nvSpPr>
        <p:spPr>
          <a:xfrm>
            <a:off x="1460500" y="44970700"/>
            <a:ext cx="164592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conceptualizingcobalt  Size: 36x48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defPPr>
        <a:defRPr kern="1200"/>
      </a:defPPr>
      <a:lvl1pPr algn="ctr" defTabSz="3526631" rtl="0" eaLnBrk="0" fontAlgn="base" hangingPunct="0">
        <a:spcBef>
          <a:spcPct val="0"/>
        </a:spcBef>
        <a:spcAft>
          <a:spcPct val="0"/>
        </a:spcAft>
        <a:defRPr sz="16950">
          <a:solidFill>
            <a:schemeClr val="tx2"/>
          </a:solidFill>
          <a:latin typeface="+mj-lt"/>
          <a:ea typeface="+mj-ea"/>
          <a:cs typeface="+mj-cs"/>
        </a:defRPr>
      </a:lvl1pPr>
      <a:lvl2pPr algn="ctr" defTabSz="3526631" rtl="0" eaLnBrk="0" fontAlgn="base" hangingPunct="0">
        <a:spcBef>
          <a:spcPct val="0"/>
        </a:spcBef>
        <a:spcAft>
          <a:spcPct val="0"/>
        </a:spcAft>
        <a:defRPr sz="16950">
          <a:solidFill>
            <a:schemeClr val="tx2"/>
          </a:solidFill>
          <a:latin typeface="Arial" pitchFamily="34" charset="0"/>
        </a:defRPr>
      </a:lvl2pPr>
      <a:lvl3pPr algn="ctr" defTabSz="3526631" rtl="0" eaLnBrk="0" fontAlgn="base" hangingPunct="0">
        <a:spcBef>
          <a:spcPct val="0"/>
        </a:spcBef>
        <a:spcAft>
          <a:spcPct val="0"/>
        </a:spcAft>
        <a:defRPr sz="16950">
          <a:solidFill>
            <a:schemeClr val="tx2"/>
          </a:solidFill>
          <a:latin typeface="Arial" pitchFamily="34" charset="0"/>
        </a:defRPr>
      </a:lvl3pPr>
      <a:lvl4pPr algn="ctr" defTabSz="3526631" rtl="0" eaLnBrk="0" fontAlgn="base" hangingPunct="0">
        <a:spcBef>
          <a:spcPct val="0"/>
        </a:spcBef>
        <a:spcAft>
          <a:spcPct val="0"/>
        </a:spcAft>
        <a:defRPr sz="16950">
          <a:solidFill>
            <a:schemeClr val="tx2"/>
          </a:solidFill>
          <a:latin typeface="Arial" pitchFamily="34" charset="0"/>
        </a:defRPr>
      </a:lvl4pPr>
      <a:lvl5pPr algn="ctr" defTabSz="3526631" rtl="0" eaLnBrk="0" fontAlgn="base" hangingPunct="0">
        <a:spcBef>
          <a:spcPct val="0"/>
        </a:spcBef>
        <a:spcAft>
          <a:spcPct val="0"/>
        </a:spcAft>
        <a:defRPr sz="16950">
          <a:solidFill>
            <a:schemeClr val="tx2"/>
          </a:solidFill>
          <a:latin typeface="Arial" pitchFamily="34" charset="0"/>
        </a:defRPr>
      </a:lvl5pPr>
      <a:lvl6pPr marL="342900" algn="ctr" defTabSz="3526631" rtl="0" fontAlgn="base">
        <a:spcBef>
          <a:spcPct val="0"/>
        </a:spcBef>
        <a:spcAft>
          <a:spcPct val="0"/>
        </a:spcAft>
        <a:defRPr sz="16950">
          <a:solidFill>
            <a:schemeClr val="tx2"/>
          </a:solidFill>
          <a:latin typeface="Arial" pitchFamily="34" charset="0"/>
        </a:defRPr>
      </a:lvl6pPr>
      <a:lvl7pPr marL="685800" algn="ctr" defTabSz="3526631" rtl="0" fontAlgn="base">
        <a:spcBef>
          <a:spcPct val="0"/>
        </a:spcBef>
        <a:spcAft>
          <a:spcPct val="0"/>
        </a:spcAft>
        <a:defRPr sz="16950">
          <a:solidFill>
            <a:schemeClr val="tx2"/>
          </a:solidFill>
          <a:latin typeface="Arial" pitchFamily="34" charset="0"/>
        </a:defRPr>
      </a:lvl7pPr>
      <a:lvl8pPr marL="1028700" algn="ctr" defTabSz="3526631" rtl="0" fontAlgn="base">
        <a:spcBef>
          <a:spcPct val="0"/>
        </a:spcBef>
        <a:spcAft>
          <a:spcPct val="0"/>
        </a:spcAft>
        <a:defRPr sz="16950">
          <a:solidFill>
            <a:schemeClr val="tx2"/>
          </a:solidFill>
          <a:latin typeface="Arial" pitchFamily="34" charset="0"/>
        </a:defRPr>
      </a:lvl8pPr>
      <a:lvl9pPr marL="1371600" algn="ctr" defTabSz="3526631" rtl="0" fontAlgn="base">
        <a:spcBef>
          <a:spcPct val="0"/>
        </a:spcBef>
        <a:spcAft>
          <a:spcPct val="0"/>
        </a:spcAft>
        <a:defRPr sz="16950">
          <a:solidFill>
            <a:schemeClr val="tx2"/>
          </a:solidFill>
          <a:latin typeface="Arial" pitchFamily="34" charset="0"/>
        </a:defRPr>
      </a:lvl9pPr>
    </p:titleStyle>
    <p:bodyStyle>
      <a:defPPr>
        <a:defRPr kern="1200"/>
      </a:defPPr>
      <a:lvl1pPr marL="1322785" indent="-1322785" algn="l" defTabSz="3526631" rtl="0" eaLnBrk="0" fontAlgn="base" hangingPunct="0">
        <a:spcBef>
          <a:spcPct val="20000"/>
        </a:spcBef>
        <a:spcAft>
          <a:spcPct val="0"/>
        </a:spcAft>
        <a:buChar char="•"/>
        <a:defRPr sz="12375">
          <a:solidFill>
            <a:schemeClr val="tx1"/>
          </a:solidFill>
          <a:latin typeface="+mn-lt"/>
          <a:ea typeface="+mn-ea"/>
          <a:cs typeface="+mn-cs"/>
        </a:defRPr>
      </a:lvl1pPr>
      <a:lvl2pPr marL="2865835" indent="-1102519" algn="l" defTabSz="3526631" rtl="0" eaLnBrk="0" fontAlgn="base" hangingPunct="0">
        <a:spcBef>
          <a:spcPct val="20000"/>
        </a:spcBef>
        <a:spcAft>
          <a:spcPct val="0"/>
        </a:spcAft>
        <a:buChar char="–"/>
        <a:defRPr sz="10800">
          <a:solidFill>
            <a:schemeClr val="tx1"/>
          </a:solidFill>
          <a:latin typeface="+mn-lt"/>
        </a:defRPr>
      </a:lvl2pPr>
      <a:lvl3pPr marL="4408885" indent="-882254" algn="l" defTabSz="3526631" rtl="0" eaLnBrk="0" fontAlgn="base" hangingPunct="0">
        <a:spcBef>
          <a:spcPct val="20000"/>
        </a:spcBef>
        <a:spcAft>
          <a:spcPct val="0"/>
        </a:spcAft>
        <a:buChar char="•"/>
        <a:defRPr sz="9225">
          <a:solidFill>
            <a:schemeClr val="tx1"/>
          </a:solidFill>
          <a:latin typeface="+mn-lt"/>
        </a:defRPr>
      </a:lvl3pPr>
      <a:lvl4pPr marL="6172200" indent="-882254" algn="l" defTabSz="3526631" rtl="0" eaLnBrk="0" fontAlgn="base" hangingPunct="0">
        <a:spcBef>
          <a:spcPct val="20000"/>
        </a:spcBef>
        <a:spcAft>
          <a:spcPct val="0"/>
        </a:spcAft>
        <a:buChar char="–"/>
        <a:defRPr sz="7725">
          <a:solidFill>
            <a:schemeClr val="tx1"/>
          </a:solidFill>
          <a:latin typeface="+mn-lt"/>
        </a:defRPr>
      </a:lvl4pPr>
      <a:lvl5pPr marL="7935516" indent="-881063" algn="l" defTabSz="3526631" rtl="0" eaLnBrk="0" fontAlgn="base" hangingPunct="0">
        <a:spcBef>
          <a:spcPct val="20000"/>
        </a:spcBef>
        <a:spcAft>
          <a:spcPct val="0"/>
        </a:spcAft>
        <a:buChar char="»"/>
        <a:defRPr sz="7725">
          <a:solidFill>
            <a:schemeClr val="tx1"/>
          </a:solidFill>
          <a:latin typeface="+mn-lt"/>
        </a:defRPr>
      </a:lvl5pPr>
      <a:lvl6pPr marL="8278416" indent="-881063" algn="l" defTabSz="3526631" rtl="0" fontAlgn="base">
        <a:spcBef>
          <a:spcPct val="20000"/>
        </a:spcBef>
        <a:spcAft>
          <a:spcPct val="0"/>
        </a:spcAft>
        <a:buChar char="»"/>
        <a:defRPr sz="7725">
          <a:solidFill>
            <a:schemeClr val="tx1"/>
          </a:solidFill>
          <a:latin typeface="+mn-lt"/>
        </a:defRPr>
      </a:lvl6pPr>
      <a:lvl7pPr marL="8621316" indent="-881063" algn="l" defTabSz="3526631" rtl="0" fontAlgn="base">
        <a:spcBef>
          <a:spcPct val="20000"/>
        </a:spcBef>
        <a:spcAft>
          <a:spcPct val="0"/>
        </a:spcAft>
        <a:buChar char="»"/>
        <a:defRPr sz="7725">
          <a:solidFill>
            <a:schemeClr val="tx1"/>
          </a:solidFill>
          <a:latin typeface="+mn-lt"/>
        </a:defRPr>
      </a:lvl7pPr>
      <a:lvl8pPr marL="8964216" indent="-881063" algn="l" defTabSz="3526631" rtl="0" fontAlgn="base">
        <a:spcBef>
          <a:spcPct val="20000"/>
        </a:spcBef>
        <a:spcAft>
          <a:spcPct val="0"/>
        </a:spcAft>
        <a:buChar char="»"/>
        <a:defRPr sz="7725">
          <a:solidFill>
            <a:schemeClr val="tx1"/>
          </a:solidFill>
          <a:latin typeface="+mn-lt"/>
        </a:defRPr>
      </a:lvl8pPr>
      <a:lvl9pPr marL="9307116" indent="-881063" algn="l" defTabSz="3526631" rtl="0" fontAlgn="base">
        <a:spcBef>
          <a:spcPct val="20000"/>
        </a:spcBef>
        <a:spcAft>
          <a:spcPct val="0"/>
        </a:spcAft>
        <a:buChar char="»"/>
        <a:defRPr sz="7725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1E0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Rectangle 1"/>
          <p:cNvSpPr/>
          <p:nvPr/>
        </p:nvSpPr>
        <p:spPr>
          <a:xfrm>
            <a:off x="-36576" y="-36576"/>
            <a:ext cx="32991552" cy="4846320"/>
          </a:xfrm>
          <a:prstGeom prst="rect">
            <a:avLst/>
          </a:prstGeom>
          <a:solidFill>
            <a:srgbClr val="23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3017520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560"/>
              </a:lnSpc>
              <a:defRPr sz="3800" b="1" i="0">
                <a:solidFill>
                  <a:srgbClr val="FFFFFF"/>
                </a:solidFill>
                <a:latin typeface="Amaranth"/>
              </a:defRPr>
            </a:pPr>
            <a:r>
              <a:t>Personalized Deep Learning Model for Closed-Loop</a:t>
            </a:r>
            <a:br/>
            <a:r>
              <a:t>40 Hz Entrainment to Optimize Theta-Gamma</a:t>
            </a:r>
            <a:br/>
            <a:r>
              <a:t>Coupling in Alzheimer’s Disease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3017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879"/>
              </a:lnSpc>
              <a:defRPr sz="2400" b="0" i="0">
                <a:solidFill>
                  <a:srgbClr val="FFFFFF"/>
                </a:solidFill>
                <a:latin typeface="Titillium Web"/>
              </a:defRPr>
            </a:pPr>
            <a:r>
              <a:t>Amaar M. Chughtai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3017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defRPr sz="1400" b="0" i="0">
                <a:solidFill>
                  <a:srgbClr val="CCDDEE"/>
                </a:solidFill>
                <a:latin typeface="Titillium Web"/>
              </a:defRPr>
            </a:pPr>
            <a:r>
              <a:t>California Science and Engineering Fair 2026  •  Medicine &amp; Physiology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15179040" cy="914400"/>
          </a:xfrm>
          <a:prstGeom prst="rect">
            <a:avLst/>
          </a:prstGeom>
          <a:solidFill>
            <a:srgbClr val="148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1463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240"/>
              </a:lnSpc>
              <a:defRPr sz="2700" b="1" i="0">
                <a:solidFill>
                  <a:srgbClr val="FFFFFF"/>
                </a:solidFill>
                <a:latin typeface="Amaranth"/>
              </a:defRPr>
            </a:pPr>
            <a:r>
              <a:t>INTRODUCTION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5179040" cy="11430000"/>
          </a:xfrm>
          <a:prstGeom prst="rect">
            <a:avLst/>
          </a:prstGeom>
          <a:solidFill>
            <a:srgbClr val="B4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6492240"/>
            <a:ext cx="14721840" cy="11064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Titillium Web"/>
              </a:defRPr>
            </a:pPr>
            <a:r>
              <a:t>Alzheimer’s disease affects 55 million people worldwide with no cure. Emerging research shows 40 Hz auditory stimulation drives gamma brain rhythms that promote clearance of toxic amyloid-β plaques through microglial activation (Iaccarino et al., 2016) and glymphatic fluid exchange (Murdock et al., 2024).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/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Titillium Web"/>
              </a:defRPr>
            </a:pPr>
            <a:r>
              <a:t>Current clinical protocols deliver stimulation on a fixed schedule — the same for every patient. This ignores two critical problems: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~30% of patients habituate within minutes (Fortunato et al., 2023)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Responding patients still lose entrainment periodically, wasting stimulation during strong coupling and missing periods of genuine need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/>
            </a:pPr>
          </a:p>
          <a:p>
            <a:pPr algn="ctr">
              <a:spcBef>
                <a:spcPts val="400"/>
              </a:spcBef>
              <a:spcAft>
                <a:spcPts val="400"/>
              </a:spcAft>
              <a:defRPr sz="1100" i="1">
                <a:solidFill>
                  <a:srgbClr val="666666"/>
                </a:solidFill>
                <a:latin typeface="Titillium Web"/>
              </a:defRPr>
            </a:pPr>
            <a:r>
              <a:t>[INSERT: Fixed vs. Adaptive comparison diagram]</a:t>
            </a:r>
            <a:br/>
            <a:r>
              <a:t>Use results/figures/ai_generated/closedloop_vs_fixed_v2.png</a:t>
            </a:r>
            <a:br/>
            <a:r>
              <a:t>or create a simple 2-timeline diagram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/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235078"/>
                </a:solidFill>
                <a:latin typeface="Amaranth"/>
              </a:defRPr>
            </a:pPr>
            <a:r>
              <a:t>Research Question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Titillium Web"/>
              </a:defRPr>
            </a:pPr>
            <a:r>
              <a:t>Can deep learning models forecast theta-gamma phase-amplitude coupling (PAC) dynamics 5–10 seconds into the future, and does integrating such forecasts into a closed-loop controller improve personalized 40 Hz entrainment therapy?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/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235078"/>
                </a:solidFill>
                <a:latin typeface="Amaranth"/>
              </a:defRPr>
            </a:pPr>
            <a:r>
              <a:t>Hypothesis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Titillium Web"/>
              </a:defRPr>
            </a:pPr>
            <a:r>
              <a:t>A causal Temporal Convolutional Network can forecast PAC at horizons beyond 3 seconds where simpler baselines fail, and integrating these forecasts into a closed-loop controller will outperform reactive threshold control.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367760" y="5303520"/>
            <a:ext cx="15179040" cy="914400"/>
          </a:xfrm>
          <a:prstGeom prst="rect">
            <a:avLst/>
          </a:prstGeom>
          <a:solidFill>
            <a:srgbClr val="148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642080" y="5394960"/>
            <a:ext cx="1463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240"/>
              </a:lnSpc>
              <a:defRPr sz="2700" b="1" i="0">
                <a:solidFill>
                  <a:srgbClr val="FFFFFF"/>
                </a:solidFill>
                <a:latin typeface="Amaranth"/>
              </a:defRPr>
            </a:pPr>
            <a:r>
              <a:t>SYSTEM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367760" y="6309360"/>
            <a:ext cx="15179040" cy="11430000"/>
          </a:xfrm>
          <a:prstGeom prst="rect">
            <a:avLst/>
          </a:prstGeom>
          <a:solidFill>
            <a:srgbClr val="B4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596360" y="6492240"/>
            <a:ext cx="14721840" cy="6035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100" i="1">
                <a:solidFill>
                  <a:srgbClr val="666666"/>
                </a:solidFill>
                <a:latin typeface="Titillium Web"/>
              </a:defRPr>
            </a:pPr>
            <a:r>
              <a:t>[INSERT: System Architecture Diagram — Figure 1]</a:t>
            </a:r>
            <a:br/>
            <a:br/>
            <a:r>
              <a:t>Use results/figures/system_block_diagram.png</a:t>
            </a:r>
            <a:br/>
            <a:r>
              <a:t>or the author-generated diagram from the presentation</a:t>
            </a:r>
            <a:br/>
            <a:br/>
            <a:r>
              <a:t>EEG (7ch) → Preprocessing → EEGNet (1,457 params)</a:t>
            </a:r>
            <a:br/>
            <a:r>
              <a:t>→ PAC Estimate → 12-Feature Extraction</a:t>
            </a:r>
            <a:br/>
            <a:r>
              <a:t>→ Causal TCN (22,914 params, 5s horizon)</a:t>
            </a:r>
            <a:br/>
            <a:r>
              <a:t>→ Controller (z-score ±0.5, 5s hysteresis)</a:t>
            </a:r>
            <a:br/>
            <a:r>
              <a:t>→ STIMULATE / REST / MAINTAIN → 40 Hz Audio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i="1">
                <a:solidFill>
                  <a:srgbClr val="444444"/>
                </a:solidFill>
                <a:latin typeface="Titillium Web"/>
              </a:defRPr>
            </a:pPr>
            <a:r>
              <a:t>Figure 1. System architecture of the closed-loop 40 Hz entrainment system. Raw EEG flows through signal processing, PAC estimation, 12-feature temporal encoding, and causal TCN forecasting. The adaptive controller personalizes decisions using a rolling z-score baseline. Author-generated diagram.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642080" y="13167360"/>
            <a:ext cx="14630400" cy="41148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0" y="13350240"/>
            <a:ext cx="1408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20"/>
              </a:lnSpc>
              <a:defRPr sz="1600" b="1" i="0">
                <a:solidFill>
                  <a:srgbClr val="235078"/>
                </a:solidFill>
                <a:latin typeface="Amaranth"/>
              </a:defRPr>
            </a:pPr>
            <a:r>
              <a:t>KEY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0" y="13898880"/>
            <a:ext cx="1408176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defRPr sz="1200" b="0" i="0">
                <a:solidFill>
                  <a:srgbClr val="235078"/>
                </a:solidFill>
                <a:latin typeface="Titillium Web"/>
              </a:defRPr>
            </a:pPr>
            <a:r>
              <a:t>Dropping 61 spectral features and keeping only 12 PAC-trajectory and stimulation-context features raised test R² from −0.025 to 0.606 (5-seed mean ± 0.032). Spectral features encoded patient-specific anatomy, not generalizable dynamics.</a:t>
            </a:r>
            <a:br/>
            <a:br/>
            <a:r>
              <a:t>Feature selection mattered more than model architecture — 8 neural network architectures (1,457 to 1.1M parameters) all converged at R² ≈ 0.287 on spectral features.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17922240"/>
            <a:ext cx="15179040" cy="914400"/>
          </a:xfrm>
          <a:prstGeom prst="rect">
            <a:avLst/>
          </a:prstGeom>
          <a:solidFill>
            <a:srgbClr val="148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18013680"/>
            <a:ext cx="1463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240"/>
              </a:lnSpc>
              <a:defRPr sz="2700" b="1" i="0">
                <a:solidFill>
                  <a:srgbClr val="FFFFFF"/>
                </a:solidFill>
                <a:latin typeface="Amaranth"/>
              </a:defRPr>
            </a:pPr>
            <a:r>
              <a:t>METHODS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18928080"/>
            <a:ext cx="15179040" cy="12344400"/>
          </a:xfrm>
          <a:prstGeom prst="rect">
            <a:avLst/>
          </a:prstGeom>
          <a:solidFill>
            <a:srgbClr val="B4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19110960"/>
            <a:ext cx="14721840" cy="11978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235078"/>
                </a:solidFill>
                <a:latin typeface="Amaranth"/>
              </a:defRPr>
            </a:pPr>
            <a:r>
              <a:t>Dataset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OpenNeuro ds005048 (Lahijanian et al., 2024)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35 elderly subjects: 17 AD, 6 MCI, 10 healthy controls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7 frontal EEG channels (Fp1, Fp2, F7, F3, Fz, F4, F8), 250 Hz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Protocol: 40 Hz auditory stimulation (40s ON / 20s OFF cycles)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/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235078"/>
                </a:solidFill>
                <a:latin typeface="Amaranth"/>
              </a:defRPr>
            </a:pPr>
            <a:r>
              <a:t>Preprocessing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Bandpass: 0.5–80 Hz (4th-order Butterworth, zero-phase)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Notch: 50 Hz (Q = 30), artifact rejection: ±100 µV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Common average reference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2-second windows (500 samples), 1-second hop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/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235078"/>
                </a:solidFill>
                <a:latin typeface="Amaranth"/>
              </a:defRPr>
            </a:pPr>
            <a:r>
              <a:t>PAC Computation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Modulation Index (Tort et al., 2010)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Theta phase (4–8 Hz) × gamma amplitude (38–42 Hz)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KL divergence over 18 phase bins (20°)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Computed at epoch level (20–40s), assigned to 2s windows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/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235078"/>
                </a:solidFill>
                <a:latin typeface="Amaranth"/>
              </a:defRPr>
            </a:pPr>
            <a:r>
              <a:t>Model Architecture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MultiscaleCausalTCN: 22,914 parameters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4 causal depthwise-separable conv blocks, dilations [1,2,4,8]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Receptive field: 31 time steps (31 seconds of history)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GroupNorm + SiLU activation, attention pooling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Huber loss, AdamW optimizer, early stopping (patience = 20)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12 input features: 7 PAC-derived + 5 stimulation context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/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235078"/>
                </a:solidFill>
                <a:latin typeface="Amaranth"/>
              </a:defRPr>
            </a:pPr>
            <a:r>
              <a:t>Data Splits (subject-level, no within-subject leakage)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Train: 24 subjects (11,736 windows)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Validation: 5 subjects (2,725 windows)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Test: 6 subjects (2,822 windows)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/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235078"/>
                </a:solidFill>
                <a:latin typeface="Amaranth"/>
              </a:defRPr>
            </a:pPr>
            <a:r>
              <a:t>Validation Protocol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Offline counterfactual replay on all 35 subjects’ EEG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Ground-truth PAC labels used as TCN input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6 controller variants compared including alignment oracle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Wilcoxon signed-rank tests, Hedges’ g, BCa bootstrap CIs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367760" y="17922240"/>
            <a:ext cx="15179040" cy="914400"/>
          </a:xfrm>
          <a:prstGeom prst="rect">
            <a:avLst/>
          </a:prstGeom>
          <a:solidFill>
            <a:srgbClr val="148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642080" y="18013680"/>
            <a:ext cx="1463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240"/>
              </a:lnSpc>
              <a:defRPr sz="2700" b="1" i="0">
                <a:solidFill>
                  <a:srgbClr val="FFFFFF"/>
                </a:solidFill>
                <a:latin typeface="Amaranth"/>
              </a:defRPr>
            </a:pPr>
            <a:r>
              <a:t>RESULTS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367760" y="18928080"/>
            <a:ext cx="15179040" cy="12344400"/>
          </a:xfrm>
          <a:prstGeom prst="rect">
            <a:avLst/>
          </a:prstGeom>
          <a:solidFill>
            <a:srgbClr val="B4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596360" y="19110960"/>
            <a:ext cx="14721840" cy="4206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100" i="1">
                <a:solidFill>
                  <a:srgbClr val="666666"/>
                </a:solidFill>
                <a:latin typeface="Titillium Web"/>
              </a:defRPr>
            </a:pPr>
            <a:r>
              <a:t>[INSERT: Figure 2 — Controller Comparison Bar Chart]</a:t>
            </a:r>
            <a:br/>
            <a:br/>
            <a:r>
              <a:t>Use results/figures/controller_comparison.png</a:t>
            </a:r>
            <a:br/>
            <a:r>
              <a:t>Resize to fill ~15.5" wide x 4.5" tall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i="1">
                <a:solidFill>
                  <a:srgbClr val="444444"/>
                </a:solidFill>
                <a:latin typeface="Titillium Web"/>
              </a:defRPr>
            </a:pPr>
            <a:r>
              <a:t>Figure 2. Controller comparison on 35 subjects’ real EEG. TCN Predictive achieves 72.1% alignment vs 64.5% for Reactive (g = 1.31, p &lt; 0.001) and targets 82.6% of low-PAC windows vs 51.7% (g = 4.47, p &lt; 0.001).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96360" y="23682960"/>
            <a:ext cx="6858000" cy="374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100" i="1">
                <a:solidFill>
                  <a:srgbClr val="666666"/>
                </a:solidFill>
                <a:latin typeface="Titillium Web"/>
              </a:defRPr>
            </a:pPr>
            <a:r>
              <a:t>[INSERT: Figure 3 — Horizon Sweep]</a:t>
            </a:r>
            <a:br/>
            <a:br/>
            <a:r>
              <a:t>results/figures/horizon_sweep.png</a:t>
            </a:r>
            <a:br/>
            <a:r>
              <a:t>TCN maintains R² = 0.37–0.67</a:t>
            </a:r>
            <a:br/>
            <a:r>
              <a:t>Baselines collapse beyond 3s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i="1">
                <a:solidFill>
                  <a:srgbClr val="444444"/>
                </a:solidFill>
                <a:latin typeface="Titillium Web"/>
              </a:defRPr>
            </a:pPr>
            <a:r>
              <a:t>Figure 3. Prediction horizon sweep (1–10s).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68760" y="23682960"/>
            <a:ext cx="6858000" cy="3749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100" i="1">
                <a:solidFill>
                  <a:srgbClr val="666666"/>
                </a:solidFill>
                <a:latin typeface="Titillium Web"/>
              </a:defRPr>
            </a:pPr>
            <a:r>
              <a:t>[INSERT: Figure 4 — Per-Subject Scatter]</a:t>
            </a:r>
            <a:br/>
            <a:br/>
            <a:r>
              <a:t>results/figures/per_subject_utility.png</a:t>
            </a:r>
            <a:br/>
            <a:r>
              <a:t>All 35/35 above diagonal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i="1">
                <a:solidFill>
                  <a:srgbClr val="444444"/>
                </a:solidFill>
                <a:latin typeface="Titillium Web"/>
              </a:defRPr>
            </a:pPr>
            <a:r>
              <a:t>Figure 4. Per-subject alignment (35/35 benefit).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642080" y="28072080"/>
            <a:ext cx="4572000" cy="20116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733520" y="28209240"/>
            <a:ext cx="4389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600"/>
              </a:lnSpc>
              <a:defRPr sz="3000" b="1" i="0">
                <a:solidFill>
                  <a:srgbClr val="235078"/>
                </a:solidFill>
                <a:latin typeface="Amaranth"/>
              </a:defRPr>
            </a:pPr>
            <a:r>
              <a:t>72.1%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733520" y="2889504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defRPr sz="1200" b="1" i="0">
                <a:solidFill>
                  <a:srgbClr val="235078"/>
                </a:solidFill>
                <a:latin typeface="Titillium Web"/>
              </a:defRPr>
            </a:pPr>
            <a:r>
              <a:t>Alignment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733520" y="29215080"/>
            <a:ext cx="4389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40"/>
              </a:lnSpc>
              <a:defRPr sz="950" b="0" i="0">
                <a:solidFill>
                  <a:srgbClr val="235078"/>
                </a:solidFill>
                <a:latin typeface="Titillium Web"/>
              </a:defRPr>
            </a:pPr>
            <a:r>
              <a:t>vs 64.5% reactive</a:t>
            </a:r>
            <a:br/>
            <a:r>
              <a:t>g = 1.31, p &lt; 0.001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0" y="28072080"/>
            <a:ext cx="4572000" cy="20116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579840" y="28209240"/>
            <a:ext cx="4389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600"/>
              </a:lnSpc>
              <a:defRPr sz="3000" b="1" i="0">
                <a:solidFill>
                  <a:srgbClr val="235078"/>
                </a:solidFill>
                <a:latin typeface="Amaranth"/>
              </a:defRPr>
            </a:pPr>
            <a:r>
              <a:t>82.6%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579840" y="2889504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defRPr sz="1200" b="1" i="0">
                <a:solidFill>
                  <a:srgbClr val="235078"/>
                </a:solidFill>
                <a:latin typeface="Titillium Web"/>
              </a:defRPr>
            </a:pPr>
            <a:r>
              <a:t>Low-PAC Targeting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579840" y="29215080"/>
            <a:ext cx="4389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40"/>
              </a:lnSpc>
              <a:defRPr sz="950" b="0" i="0">
                <a:solidFill>
                  <a:srgbClr val="235078"/>
                </a:solidFill>
                <a:latin typeface="Titillium Web"/>
              </a:defRPr>
            </a:pPr>
            <a:r>
              <a:t>vs 51.7% reactive</a:t>
            </a:r>
            <a:br/>
            <a:r>
              <a:t>g = 4.47, p &lt; 0.001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334720" y="28072080"/>
            <a:ext cx="4572000" cy="20116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426160" y="28209240"/>
            <a:ext cx="4389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600"/>
              </a:lnSpc>
              <a:defRPr sz="3000" b="1" i="0">
                <a:solidFill>
                  <a:srgbClr val="235078"/>
                </a:solidFill>
                <a:latin typeface="Amaranth"/>
              </a:defRPr>
            </a:pPr>
            <a:r>
              <a:t>35 / 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426160" y="2889504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defRPr sz="1200" b="1" i="0">
                <a:solidFill>
                  <a:srgbClr val="235078"/>
                </a:solidFill>
                <a:latin typeface="Titillium Web"/>
              </a:defRPr>
            </a:pPr>
            <a:r>
              <a:t>Subjects Benefited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426160" y="29215080"/>
            <a:ext cx="4389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40"/>
              </a:lnSpc>
              <a:defRPr sz="950" b="0" i="0">
                <a:solidFill>
                  <a:srgbClr val="235078"/>
                </a:solidFill>
                <a:latin typeface="Titillium Web"/>
              </a:defRPr>
            </a:pPr>
            <a:r>
              <a:t>binomial p &lt; 0.001</a:t>
            </a:r>
            <a:br/>
            <a:r>
              <a:t>91% of oracle’s gap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642080" y="30266640"/>
            <a:ext cx="1463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defRPr sz="1100" b="1" i="0">
                <a:solidFill>
                  <a:srgbClr val="235078"/>
                </a:solidFill>
                <a:latin typeface="Titillium Web"/>
              </a:defRPr>
            </a:pPr>
            <a:r>
              <a:t>The predictive controller reaches 91% of the theoretical oracle’s targeting gap, demonstrating that 5-second PAC forecasting enables personalized therapy outperforming both fixed and reactive protocols.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31455360"/>
            <a:ext cx="15179040" cy="914400"/>
          </a:xfrm>
          <a:prstGeom prst="rect">
            <a:avLst/>
          </a:prstGeom>
          <a:solidFill>
            <a:srgbClr val="148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31546800"/>
            <a:ext cx="1463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240"/>
              </a:lnSpc>
              <a:defRPr sz="2700" b="1" i="0">
                <a:solidFill>
                  <a:srgbClr val="FFFFFF"/>
                </a:solidFill>
                <a:latin typeface="Amaranth"/>
              </a:defRPr>
            </a:pPr>
            <a:r>
              <a:t>CONCLUSIONS &amp; FUTURE DIRECTIONS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2461200"/>
            <a:ext cx="15179040" cy="10972800"/>
          </a:xfrm>
          <a:prstGeom prst="rect">
            <a:avLst/>
          </a:prstGeom>
          <a:solidFill>
            <a:srgbClr val="B4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32644080"/>
            <a:ext cx="14721840" cy="10607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235078"/>
                </a:solidFill>
                <a:latin typeface="Amaranth"/>
              </a:defRPr>
            </a:pPr>
            <a:r>
              <a:t>Conclusions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The predictive controller reaches 91% of the oracle’s targeting gap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Feature selection was the breakthrough: 12 PAC features outperform 73 spectral features five-fold (R² = 0.606 vs. −0.025)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8 architectures (1,457 to 1.1M params) converged at R² = 0.287 on spectral features — the bottleneck was data, not model capacity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TCN maintains R² = 0.37–0.67 at 3–10s horizons where all baselines collapse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All 35 subjects benefited, including 6 held-out test subjects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Robust across thresholds 0.2–1.0 and four fatigue models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/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235078"/>
                </a:solidFill>
                <a:latin typeface="Amaranth"/>
              </a:defRPr>
            </a:pPr>
            <a:r>
              <a:t>Statistical Validation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235078"/>
                </a:solidFill>
                <a:latin typeface="Titillium Web"/>
              </a:defRPr>
            </a:pPr>
            <a:r>
              <a:t>  Alignment:           g = 1.31 [0.75, 1.87]   p &lt; 0.001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235078"/>
                </a:solidFill>
                <a:latin typeface="Titillium Web"/>
              </a:defRPr>
            </a:pPr>
            <a:r>
              <a:t>  Low-PAC targeting:  g = 4.47 [3.33, 5.62]   p &lt; 0.001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235078"/>
                </a:solidFill>
                <a:latin typeface="Titillium Web"/>
              </a:defRPr>
            </a:pPr>
            <a:r>
              <a:t>  PAC Gap:              g = 1.57 [0.98, 2.17]   p &lt; 0.001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Titillium Web"/>
              </a:defRPr>
            </a:pPr>
            <a:r>
              <a:t>Wilcoxon signed-rank (paired, non-parametric), Hedges’ g with 95% BCa bootstrap CIs (10,000 iterations)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Titillium Web"/>
              </a:defRPr>
            </a:pPr>
            <a:r>
              <a:t>5-seed TCN: R² = 0.606 ± 0.032 (range 0.558–0.647)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/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235078"/>
                </a:solidFill>
                <a:latin typeface="Amaranth"/>
              </a:defRPr>
            </a:pPr>
            <a:r>
              <a:t>Future Directions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Real-time validation with live EEG streaming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IRB-approved pilot at memory care facilities (N = 5–10)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Crossover study: adaptive vs. fixed with cognitive outcomes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System cost under $250/patient (consumer EEG + headphones)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Titillium Web"/>
              </a:defRPr>
            </a:pPr>
            <a:r>
              <a:t>• Framework generalizes to other brain stimulation paradigms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/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235078"/>
                </a:solidFill>
                <a:latin typeface="Amaranth"/>
              </a:defRPr>
            </a:pPr>
            <a:r>
              <a:t>Broader Impact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Titillium Web"/>
              </a:defRPr>
            </a:pPr>
            <a:r>
              <a:t>The closed-loop principle — using a biomarker forecast to time interventions proactively — applies to any stimulation paradigm where response is variable and predictable. Adaptive DBS for Parkinson’s, FDA-approved February 2025, validates this approach.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367760" y="31455360"/>
            <a:ext cx="15179040" cy="914400"/>
          </a:xfrm>
          <a:prstGeom prst="rect">
            <a:avLst/>
          </a:prstGeom>
          <a:solidFill>
            <a:srgbClr val="148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642080" y="31546800"/>
            <a:ext cx="1463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240"/>
              </a:lnSpc>
              <a:defRPr sz="2700" b="1" i="0">
                <a:solidFill>
                  <a:srgbClr val="FFFFFF"/>
                </a:solidFill>
                <a:latin typeface="Amaranth"/>
              </a:defRPr>
            </a:pPr>
            <a:r>
              <a:t>ACKNOWLEDGEMENTS &amp; REFERENCES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367760" y="32461200"/>
            <a:ext cx="15179040" cy="10972800"/>
          </a:xfrm>
          <a:prstGeom prst="rect">
            <a:avLst/>
          </a:prstGeom>
          <a:solidFill>
            <a:srgbClr val="B4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596360" y="32644080"/>
            <a:ext cx="14721840" cy="10607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235078"/>
                </a:solidFill>
                <a:latin typeface="Amaranth"/>
              </a:defRPr>
            </a:pPr>
            <a:r>
              <a:t>Acknowledgements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Titillium Web"/>
              </a:defRPr>
            </a:pPr>
            <a:r>
              <a:t>My AP Statistics teacher was consulted on statistical test selection. All other work — literature review, software development, experimental design, and analysis — was conducted independently.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Titillium Web"/>
              </a:defRPr>
            </a:pPr>
            <a:r>
              <a:t>Computing: personal Apple Silicon MacBook and personal RTX 3080 GPU. No institutional lab, university mentor, or summer research program.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Titillium Web"/>
              </a:defRPr>
            </a:pPr>
            <a:r>
              <a:t>Data: OpenNeuro ds005048, open access license.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Titillium Web"/>
              </a:defRPr>
            </a:pPr>
            <a:r>
              <a:t>All diagrams created by the author unless otherwise noted.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00"/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235078"/>
                </a:solidFill>
                <a:latin typeface="Amaranth"/>
              </a:defRPr>
            </a:pPr>
            <a:r>
              <a:t>References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Titillium Web"/>
              </a:defRPr>
            </a:pPr>
            <a:r>
              <a:t>[1] Iaccarino HG et al. Gamma frequency entrainment attenuates amyloid load. Nature 540, 230–235, 2016.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Titillium Web"/>
              </a:defRPr>
            </a:pPr>
            <a:r>
              <a:t>[2] Murdock MH et al. Multisensory gamma stimulation promotes glymphatic clearance. Nature 627, 149–156, 2024.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Titillium Web"/>
              </a:defRPr>
            </a:pPr>
            <a:r>
              <a:t>[3] Chan D et al. Gamma sensory stimulation in mild Alzheimer’s dementia: open-label extension. Alzheimer’s &amp; Dementia 21(10), e70792, 2025.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Titillium Web"/>
              </a:defRPr>
            </a:pPr>
            <a:r>
              <a:t>[4] Fortunato C et al. Gamma entrainment for cognitive improvement in neurodegeneration. Front Neurosci 17, 2023.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Titillium Web"/>
              </a:defRPr>
            </a:pPr>
            <a:r>
              <a:t>[5] Lahijanian B et al. Auditory gamma entrainment enhances DMN connectivity in dementia. Sci Rep 14, 2024.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Titillium Web"/>
              </a:defRPr>
            </a:pPr>
            <a:r>
              <a:t>[6] Lawhern VJ et al. EEGNet: compact CNN for EEG-based BCIs. J Neural Eng 15, 056013, 2018.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Titillium Web"/>
              </a:defRPr>
            </a:pPr>
            <a:r>
              <a:t>[7] Tort ABL et al. Measuring phase-amplitude coupling. J Neurophysiol 104, 1195–1210, 2010.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Titillium Web"/>
              </a:defRPr>
            </a:pPr>
            <a:r>
              <a:t>[8] Rosin B et al. Closed-loop DBS for Parkinson’s disease. Neuron 72, 370–384, 2011.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-36576" y="42784776"/>
            <a:ext cx="32991552" cy="1106424"/>
          </a:xfrm>
          <a:prstGeom prst="rect">
            <a:avLst/>
          </a:prstGeom>
          <a:solidFill>
            <a:srgbClr val="23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conceptualizingcobalt|08-2022"/>
</p:tagLst>
</file>

<file path=ppt/theme/theme1.xml><?xml version="1.0" encoding="utf-8"?>
<a:theme xmlns:r="http://schemas.openxmlformats.org/officeDocument/2006/relationships" xmlns:a="http://schemas.openxmlformats.org/drawingml/2006/main" name="Default Design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:vt="http://schemas.openxmlformats.org/officeDocument/2006/docPropsVTypes" xmlns="http://schemas.openxmlformats.org/officeDocument/2006/extended-properties">
  <Company>Graphicsland/MAKESIGNS.COM</Company>
  <PresentationFormat>Custom</PresentationFormat>
  <Paragraphs>13</Paragraphs>
  <Slides>1</Slides>
  <Notes>0</Notes>
  <TotalTime>115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7">
      <vt:lpstr>Arial</vt:lpstr>
      <vt:lpstr>Symbol</vt:lpstr>
      <vt:lpstr>Amaranth</vt:lpstr>
      <vt:lpstr>Titillium Web</vt:lpstr>
      <vt:lpstr>Open Sans</vt:lpstr>
      <vt:lpstr>Default Design</vt:lpstr>
      <vt:lpstr>PowerPoint Presentation</vt:lpstr>
    </vt:vector>
  </TitlesOfParts>
  <LinksUpToDate>0</LinksUpToDate>
  <SharedDoc>0</SharedDoc>
  <HyperlinksChanged>0</HyperlinksChanged>
  <Application>Aspose.Slides for .NET</Application>
  <AppVersion>22.0400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Template to create a scientific poster</dc:title>
  <cp:category>scientific poster PowerPoint</cp:category>
  <dc:creator>Graphicsland/MakeSigns.com</dc:creator>
  <dc:description>Download our scientific poster templates at no cost to you and get one step closer to making a great research poster.</dc:description>
  <cp:keywords>scientific, research, template, custom, poster, presentation, symposium, printing, PowerPoint, create, design, example, sample, download</cp:keywords>
  <cp:lastModifiedBy>Justin Delre</cp:lastModifiedBy>
  <cp:revision>30</cp:revision>
  <dcterms:modified xsi:type="dcterms:W3CDTF">2024-02-07T18:40:33Z</dcterms:modified>
  <dc:subject>Example Of A Sample Research Poster</dc:subject>
</cp:coreProperties>
</file>