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32918400" cy="43891200"/>
  <p:notesSz cx="5800725" cy="9094788"/>
  <p:embeddedFontLst>
    <p:embeddedFont>
      <p:font typeface="Amaranth" panose="02000503050000020004" pitchFamily="2" charset="77"/>
      <p:regular r:id="rId3"/>
    </p:embeddedFont>
    <p:embeddedFont>
      <p:font typeface="Titillium Web" panose="00000500000000000000" pitchFamily="2" charset="77"/>
      <p:regular r:id="rId4"/>
      <p:bold r:id="rId5"/>
      <p:italic r:id="rId6"/>
      <p:boldItalic r:id="rId7"/>
    </p:embeddedFont>
  </p:embeddedFontLst>
  <p:custDataLst>
    <p:tags r:id="rId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9300" kern="1200"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9300" kern="1200"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9300" kern="1200"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9300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D48C"/>
    <a:srgbClr val="1382A5"/>
    <a:srgbClr val="D7C8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988"/>
    <p:restoredTop sz="94660"/>
  </p:normalViewPr>
  <p:slideViewPr>
    <p:cSldViewPr snapToGrid="0">
      <p:cViewPr>
        <p:scale>
          <a:sx n="65" d="100"/>
          <a:sy n="65" d="100"/>
        </p:scale>
        <p:origin x="-1656" y="-10128"/>
      </p:cViewPr>
      <p:guideLst>
        <p:guide orient="horz" pos="13824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6" y="13635568"/>
            <a:ext cx="27979688" cy="9406467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523" y="24870834"/>
            <a:ext cx="23043356" cy="11218333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9E44D62-E9B9-4A1F-9D60-78A1B8BD21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2747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772C493-C7EB-4BEF-9EB3-C72AA1A173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2216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28204585"/>
            <a:ext cx="27980878" cy="8716433"/>
          </a:xfrm>
        </p:spPr>
        <p:txBody>
          <a:bodyPr anchor="t"/>
          <a:lstStyle>
            <a:defPPr>
              <a:defRPr kern="1200"/>
            </a:defPPr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18603384"/>
            <a:ext cx="27980878" cy="96012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239EF23-2AC5-4B50-8C9E-5F8D49668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2582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444" y="10240433"/>
            <a:ext cx="14756606" cy="28966585"/>
          </a:xfrm>
        </p:spPr>
        <p:txBody>
          <a:bodyPr/>
          <a:lstStyle>
            <a:defPPr>
              <a:defRPr kern="1200"/>
            </a:defPPr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2" y="10240433"/>
            <a:ext cx="14756606" cy="28966585"/>
          </a:xfrm>
        </p:spPr>
        <p:txBody>
          <a:bodyPr/>
          <a:lstStyle>
            <a:defPPr>
              <a:defRPr kern="1200"/>
            </a:defPPr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BBD8762-0F6F-41F2-8E1E-C5EF6CE7FF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9722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4" y="9825568"/>
            <a:ext cx="14544675" cy="4093633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4" y="13919200"/>
            <a:ext cx="14544675" cy="25287816"/>
          </a:xfrm>
        </p:spPr>
        <p:txBody>
          <a:bodyPr/>
          <a:lstStyle>
            <a:defPPr>
              <a:defRPr kern="1200"/>
            </a:defPPr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328" y="9825568"/>
            <a:ext cx="14550630" cy="4093633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328" y="13919200"/>
            <a:ext cx="14550630" cy="25287816"/>
          </a:xfrm>
        </p:spPr>
        <p:txBody>
          <a:bodyPr/>
          <a:lstStyle>
            <a:defPPr>
              <a:defRPr kern="1200"/>
            </a:defPPr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C245EB89-E1F0-4213-BFCF-D6A06A13C4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5668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F9249905-9305-4041-8B60-8DE0824E81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1219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7C76933-D99D-4DC1-BD09-1072CC92B2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9367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1748367"/>
            <a:ext cx="10829925" cy="7435851"/>
          </a:xfrm>
        </p:spPr>
        <p:txBody>
          <a:bodyPr anchor="b"/>
          <a:lstStyle>
            <a:defPPr>
              <a:defRPr kern="1200"/>
            </a:defPPr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6" y="1748367"/>
            <a:ext cx="18402300" cy="37458650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4" y="9184217"/>
            <a:ext cx="10829925" cy="300228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F6A5529-8465-4E7D-9DB8-D374C51CD7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111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997" y="30723418"/>
            <a:ext cx="19751280" cy="3627967"/>
          </a:xfrm>
        </p:spPr>
        <p:txBody>
          <a:bodyPr anchor="b"/>
          <a:lstStyle>
            <a:defPPr>
              <a:defRPr kern="1200"/>
            </a:defPPr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997" y="3922184"/>
            <a:ext cx="19751280" cy="2633345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997" y="34351385"/>
            <a:ext cx="19751280" cy="5149849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C022C6C-C3BF-4CE1-8842-0AC5970173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1050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A277C51-0625-40F0-8A02-D153CC2D70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590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6080" y="1756833"/>
            <a:ext cx="7406878" cy="37450185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444" y="1756833"/>
            <a:ext cx="22106334" cy="37450185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C9A1A37-7051-412A-8F35-8483CD8F48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70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5444" y="1756833"/>
            <a:ext cx="29627512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5444" y="10240433"/>
            <a:ext cx="29627512" cy="28966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5444" y="39969015"/>
            <a:ext cx="768191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3526631">
              <a:defRPr sz="54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6644" y="39969015"/>
            <a:ext cx="1042511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3526631">
              <a:defRPr sz="54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044" y="39969015"/>
            <a:ext cx="768191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3526631">
              <a:defRPr sz="5400" smtClean="0">
                <a:latin typeface="Arial" pitchFamily="34" charset="0"/>
              </a:defRPr>
            </a:lvl1pPr>
          </a:lstStyle>
          <a:p>
            <a:pPr>
              <a:defRPr/>
            </a:pPr>
            <a:fld id="{25043CB6-A91D-4176-912B-555F54C38C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219456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9718000" y="219456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460500" y="443992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1460500" y="449707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 dirty="0">
                <a:solidFill>
                  <a:srgbClr val="808080"/>
                </a:solidFill>
              </a:rPr>
              <a:t>Template ID: </a:t>
            </a:r>
            <a:r>
              <a:rPr sz="4560" dirty="0" err="1">
                <a:solidFill>
                  <a:srgbClr val="808080"/>
                </a:solidFill>
              </a:rPr>
              <a:t>conceptualizingcobalt</a:t>
            </a:r>
            <a:r>
              <a:rPr sz="4560" dirty="0">
                <a:solidFill>
                  <a:srgbClr val="808080"/>
                </a:solidFill>
              </a:rPr>
              <a:t>  Size: 36x48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3526631" rtl="0" eaLnBrk="0" fontAlgn="base" hangingPunct="0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+mj-lt"/>
          <a:ea typeface="+mj-ea"/>
          <a:cs typeface="+mj-cs"/>
        </a:defRPr>
      </a:lvl1pPr>
      <a:lvl2pPr algn="ctr" defTabSz="3526631" rtl="0" eaLnBrk="0" fontAlgn="base" hangingPunct="0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Arial" pitchFamily="34" charset="0"/>
        </a:defRPr>
      </a:lvl2pPr>
      <a:lvl3pPr algn="ctr" defTabSz="3526631" rtl="0" eaLnBrk="0" fontAlgn="base" hangingPunct="0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Arial" pitchFamily="34" charset="0"/>
        </a:defRPr>
      </a:lvl3pPr>
      <a:lvl4pPr algn="ctr" defTabSz="3526631" rtl="0" eaLnBrk="0" fontAlgn="base" hangingPunct="0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Arial" pitchFamily="34" charset="0"/>
        </a:defRPr>
      </a:lvl4pPr>
      <a:lvl5pPr algn="ctr" defTabSz="3526631" rtl="0" eaLnBrk="0" fontAlgn="base" hangingPunct="0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Arial" pitchFamily="34" charset="0"/>
        </a:defRPr>
      </a:lvl5pPr>
      <a:lvl6pPr marL="342900" algn="ctr" defTabSz="3526631" rtl="0" fontAlgn="base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Arial" pitchFamily="34" charset="0"/>
        </a:defRPr>
      </a:lvl6pPr>
      <a:lvl7pPr marL="685800" algn="ctr" defTabSz="3526631" rtl="0" fontAlgn="base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Arial" pitchFamily="34" charset="0"/>
        </a:defRPr>
      </a:lvl7pPr>
      <a:lvl8pPr marL="1028700" algn="ctr" defTabSz="3526631" rtl="0" fontAlgn="base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Arial" pitchFamily="34" charset="0"/>
        </a:defRPr>
      </a:lvl8pPr>
      <a:lvl9pPr marL="1371600" algn="ctr" defTabSz="3526631" rtl="0" fontAlgn="base">
        <a:spcBef>
          <a:spcPct val="0"/>
        </a:spcBef>
        <a:spcAft>
          <a:spcPct val="0"/>
        </a:spcAft>
        <a:defRPr sz="16950">
          <a:solidFill>
            <a:schemeClr val="tx2"/>
          </a:solidFill>
          <a:latin typeface="Arial" pitchFamily="34" charset="0"/>
        </a:defRPr>
      </a:lvl9pPr>
    </p:titleStyle>
    <p:bodyStyle>
      <a:defPPr>
        <a:defRPr kern="1200"/>
      </a:defPPr>
      <a:lvl1pPr marL="1322785" indent="-1322785" algn="l" defTabSz="3526631" rtl="0" eaLnBrk="0" fontAlgn="base" hangingPunct="0">
        <a:spcBef>
          <a:spcPct val="20000"/>
        </a:spcBef>
        <a:spcAft>
          <a:spcPct val="0"/>
        </a:spcAft>
        <a:buChar char="•"/>
        <a:defRPr sz="12375">
          <a:solidFill>
            <a:schemeClr val="tx1"/>
          </a:solidFill>
          <a:latin typeface="+mn-lt"/>
          <a:ea typeface="+mn-ea"/>
          <a:cs typeface="+mn-cs"/>
        </a:defRPr>
      </a:lvl1pPr>
      <a:lvl2pPr marL="2865835" indent="-1102519" algn="l" defTabSz="3526631" rtl="0" eaLnBrk="0" fontAlgn="base" hangingPunct="0">
        <a:spcBef>
          <a:spcPct val="20000"/>
        </a:spcBef>
        <a:spcAft>
          <a:spcPct val="0"/>
        </a:spcAft>
        <a:buChar char="–"/>
        <a:defRPr sz="10800">
          <a:solidFill>
            <a:schemeClr val="tx1"/>
          </a:solidFill>
          <a:latin typeface="+mn-lt"/>
        </a:defRPr>
      </a:lvl2pPr>
      <a:lvl3pPr marL="4408885" indent="-882254" algn="l" defTabSz="3526631" rtl="0" eaLnBrk="0" fontAlgn="base" hangingPunct="0">
        <a:spcBef>
          <a:spcPct val="20000"/>
        </a:spcBef>
        <a:spcAft>
          <a:spcPct val="0"/>
        </a:spcAft>
        <a:buChar char="•"/>
        <a:defRPr sz="9225">
          <a:solidFill>
            <a:schemeClr val="tx1"/>
          </a:solidFill>
          <a:latin typeface="+mn-lt"/>
        </a:defRPr>
      </a:lvl3pPr>
      <a:lvl4pPr marL="6172200" indent="-882254" algn="l" defTabSz="3526631" rtl="0" eaLnBrk="0" fontAlgn="base" hangingPunct="0">
        <a:spcBef>
          <a:spcPct val="20000"/>
        </a:spcBef>
        <a:spcAft>
          <a:spcPct val="0"/>
        </a:spcAft>
        <a:buChar char="–"/>
        <a:defRPr sz="7725">
          <a:solidFill>
            <a:schemeClr val="tx1"/>
          </a:solidFill>
          <a:latin typeface="+mn-lt"/>
        </a:defRPr>
      </a:lvl4pPr>
      <a:lvl5pPr marL="7935516" indent="-881063" algn="l" defTabSz="3526631" rtl="0" eaLnBrk="0" fontAlgn="base" hangingPunct="0">
        <a:spcBef>
          <a:spcPct val="20000"/>
        </a:spcBef>
        <a:spcAft>
          <a:spcPct val="0"/>
        </a:spcAft>
        <a:buChar char="»"/>
        <a:defRPr sz="7725">
          <a:solidFill>
            <a:schemeClr val="tx1"/>
          </a:solidFill>
          <a:latin typeface="+mn-lt"/>
        </a:defRPr>
      </a:lvl5pPr>
      <a:lvl6pPr marL="8278416" indent="-881063" algn="l" defTabSz="3526631" rtl="0" fontAlgn="base">
        <a:spcBef>
          <a:spcPct val="20000"/>
        </a:spcBef>
        <a:spcAft>
          <a:spcPct val="0"/>
        </a:spcAft>
        <a:buChar char="»"/>
        <a:defRPr sz="7725">
          <a:solidFill>
            <a:schemeClr val="tx1"/>
          </a:solidFill>
          <a:latin typeface="+mn-lt"/>
        </a:defRPr>
      </a:lvl6pPr>
      <a:lvl7pPr marL="8621316" indent="-881063" algn="l" defTabSz="3526631" rtl="0" fontAlgn="base">
        <a:spcBef>
          <a:spcPct val="20000"/>
        </a:spcBef>
        <a:spcAft>
          <a:spcPct val="0"/>
        </a:spcAft>
        <a:buChar char="»"/>
        <a:defRPr sz="7725">
          <a:solidFill>
            <a:schemeClr val="tx1"/>
          </a:solidFill>
          <a:latin typeface="+mn-lt"/>
        </a:defRPr>
      </a:lvl7pPr>
      <a:lvl8pPr marL="8964216" indent="-881063" algn="l" defTabSz="3526631" rtl="0" fontAlgn="base">
        <a:spcBef>
          <a:spcPct val="20000"/>
        </a:spcBef>
        <a:spcAft>
          <a:spcPct val="0"/>
        </a:spcAft>
        <a:buChar char="»"/>
        <a:defRPr sz="7725">
          <a:solidFill>
            <a:schemeClr val="tx1"/>
          </a:solidFill>
          <a:latin typeface="+mn-lt"/>
        </a:defRPr>
      </a:lvl8pPr>
      <a:lvl9pPr marL="9307116" indent="-881063" algn="l" defTabSz="3526631" rtl="0" fontAlgn="base">
        <a:spcBef>
          <a:spcPct val="20000"/>
        </a:spcBef>
        <a:spcAft>
          <a:spcPct val="0"/>
        </a:spcAft>
        <a:buChar char="»"/>
        <a:defRPr sz="772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1E0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27"/>
          <p:cNvSpPr>
            <a:spLocks noChangeArrowheads="1"/>
          </p:cNvSpPr>
          <p:nvPr/>
        </p:nvSpPr>
        <p:spPr bwMode="auto">
          <a:xfrm>
            <a:off x="-36371" y="-38226"/>
            <a:ext cx="32954770" cy="3204743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defPPr>
              <a:defRPr kern="1200"/>
            </a:defPPr>
          </a:lstStyle>
          <a:p>
            <a:endParaRPr lang="en-US" sz="6975" dirty="0"/>
          </a:p>
        </p:txBody>
      </p:sp>
      <p:sp>
        <p:nvSpPr>
          <p:cNvPr id="33" name="Rectangle 29"/>
          <p:cNvSpPr>
            <a:spLocks noChangeArrowheads="1"/>
          </p:cNvSpPr>
          <p:nvPr/>
        </p:nvSpPr>
        <p:spPr bwMode="auto">
          <a:xfrm>
            <a:off x="-36369" y="42787853"/>
            <a:ext cx="32954770" cy="1103348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lIns="102870" tIns="51435" rIns="102870" bIns="51435" anchor="ctr"/>
          <a:lstStyle>
            <a:defPPr>
              <a:defRPr kern="1200"/>
            </a:defPPr>
          </a:lstStyle>
          <a:p>
            <a:pPr defTabSz="3527822"/>
            <a:endParaRPr lang="en-US" sz="6975" dirty="0">
              <a:solidFill>
                <a:schemeClr val="bg1"/>
              </a:solidFill>
              <a:sym typeface="Symbol" pitchFamily="18" charset="2"/>
            </a:endParaRPr>
          </a:p>
        </p:txBody>
      </p:sp>
      <p:sp>
        <p:nvSpPr>
          <p:cNvPr id="31" name="Title 11">
            <a:extLst>
              <a:ext uri="{FF2B5EF4-FFF2-40B4-BE49-F238E27FC236}">
                <a16:creationId xmlns:a16="http://schemas.microsoft.com/office/drawing/2014/main" id="{A3F6428D-1FA6-42BA-BAEA-3577E1620F6B}"/>
              </a:ext>
            </a:extLst>
          </p:cNvPr>
          <p:cNvSpPr txBox="1"/>
          <p:nvPr/>
        </p:nvSpPr>
        <p:spPr>
          <a:xfrm>
            <a:off x="1428862" y="220622"/>
            <a:ext cx="30460838" cy="2060201"/>
          </a:xfrm>
          <a:prstGeom prst="rect">
            <a:avLst/>
          </a:prstGeom>
        </p:spPr>
        <p:txBody>
          <a:bodyPr lIns="96012" tIns="48006" rIns="96012" bIns="48006"/>
          <a:lstStyle>
            <a:defPPr>
              <a:defRPr kern="1200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chemeClr val="bg1"/>
                </a:solidFill>
                <a:latin typeface="Amaranth" panose="02000503050000020004" pitchFamily="2" charset="0"/>
              </a:rPr>
              <a:t>Personalized Deep Learning Model for Closed-Loop 40 Hz Entrainment to Optimize Theta-Gamma Coupling in Alzheimer's Disease</a:t>
            </a:r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30C08963-BE29-4B96-B122-F15F02A3F7E3}"/>
              </a:ext>
            </a:extLst>
          </p:cNvPr>
          <p:cNvSpPr txBox="1"/>
          <p:nvPr/>
        </p:nvSpPr>
        <p:spPr>
          <a:xfrm>
            <a:off x="1428862" y="2441865"/>
            <a:ext cx="30460838" cy="775946"/>
          </a:xfrm>
          <a:prstGeom prst="rect">
            <a:avLst/>
          </a:prstGeom>
        </p:spPr>
        <p:txBody>
          <a:bodyPr lIns="96012" tIns="48006" rIns="96012" bIns="48006"/>
          <a:lstStyle>
            <a:defPPr>
              <a:defRPr kern="1200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>
                <a:solidFill>
                  <a:schemeClr val="bg1"/>
                </a:solidFill>
                <a:latin typeface="Titillium Web" panose="00000500000000000000" pitchFamily="2" charset="0"/>
              </a:rPr>
              <a:t>Amaar M. Chughtai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799219-F591-1B05-4942-B9D4EDE50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55245"/>
            <a:ext cx="6976872" cy="539496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05740" tIns="51435" rIns="205740" bIns="51435" anchor="ctr"/>
          <a:lstStyle>
            <a:defPPr>
              <a:defRPr kern="1200"/>
            </a:defPPr>
          </a:lstStyle>
          <a:p>
            <a:pPr defTabSz="3527822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784E53-8C7A-C355-0330-5898DABB3F28}"/>
              </a:ext>
            </a:extLst>
          </p:cNvPr>
          <p:cNvSpPr txBox="1"/>
          <p:nvPr/>
        </p:nvSpPr>
        <p:spPr>
          <a:xfrm>
            <a:off x="457201" y="4240123"/>
            <a:ext cx="697687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Alzheimer's disease affects over 55 million people worldwide with no cure. Recent research shows 40 Hz auditory stimulation synchronizes brain gamma oscillations, reducing amyloid-beta plaques and tau tangles in animal models (Iaccarino 2016) and showing cognitive benefits in human trials (Chan 2025).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Current protocols deliver stimulation on a fixed schedule — 40s ON / 20s OFF, cycling for one hour regardless of how the patient's brain responds. This ignores that some patients maintain strong theta-gamma coupling throughout a session while others lose it within seconds. Prolonged stimulation also causes neural habituation, where the brain "tunes out" the stimulus. The result: wasted stimulation during strong coupling and missed therapeutic windows during fading coupling.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Can we predict when a patient's brain will lose entrainment and stimulate proactively, before decline occurs?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16BD02E1-F047-7D0D-78AB-59560DCED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84326" y="3555245"/>
            <a:ext cx="6976872" cy="539496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05740" tIns="51435" rIns="205740" bIns="51435" anchor="ctr"/>
          <a:lstStyle>
            <a:defPPr>
              <a:defRPr kern="1200"/>
            </a:defPPr>
          </a:lstStyle>
          <a:p>
            <a:pPr defTabSz="3527822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Results / Findings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E07829-1D53-442C-54D2-199CDC864623}"/>
              </a:ext>
            </a:extLst>
          </p:cNvPr>
          <p:cNvSpPr txBox="1"/>
          <p:nvPr/>
        </p:nvSpPr>
        <p:spPr>
          <a:xfrm>
            <a:off x="25484326" y="4240123"/>
            <a:ext cx="7198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Result 1: TCN Predictive Controller Outperforms All Alternatives Controller performance replayed on all 35 subjects' real EEG: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2287DA9B-4130-F62E-00D1-6B2F26029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718287"/>
            <a:ext cx="6976872" cy="539496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05740" tIns="51435" rIns="205740" bIns="51435" anchor="ctr"/>
          <a:lstStyle>
            <a:defPPr>
              <a:defRPr kern="1200"/>
            </a:defPPr>
          </a:lstStyle>
          <a:p>
            <a:pPr defTabSz="3527822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Background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3BBD42-CDB9-5E32-DAE7-6F1EAE974001}"/>
              </a:ext>
            </a:extLst>
          </p:cNvPr>
          <p:cNvSpPr txBox="1"/>
          <p:nvPr/>
        </p:nvSpPr>
        <p:spPr>
          <a:xfrm>
            <a:off x="457201" y="14335204"/>
            <a:ext cx="697687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40 Hz gamma entrainment reduces amyloid load in Alzheimer's mouse models by activating microglia (Iaccarino 2016); multi-sensory stimulation reduces tau pathology and improves cognition (Martorell 2019); auditory entrainment enhances default mode network connectivity in human dementia patients (Lahijanian 2024)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Phase-Amplitude Coupling (PAC) quantifies entrainment success — how strongly gamma amplitude (38-42 Hz) locks to theta phase (4-8 Hz), measured via the Modulation Index (Tort 2010). High PAC = entrained; low PAC = lost synchronization.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Neural habituation causes repeated identical stimuli to produce progressively weaker neural responses (Thompson &amp; Spencer 1966), making fixed schedules less effective over time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No existing system predicts future entrainment state for proactive control. Current approaches either use fixed schedules (no adaptation) or reactive thresholds (respond after PAC decline has already occurred).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B67BB009-F346-56A4-5233-00F4ECD3A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31103541"/>
            <a:ext cx="6976872" cy="539496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05740" tIns="51435" rIns="205740" bIns="51435" anchor="ctr"/>
          <a:lstStyle>
            <a:defPPr>
              <a:defRPr kern="1200"/>
            </a:defPPr>
          </a:lstStyle>
          <a:p>
            <a:pPr defTabSz="3527822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Hypothesis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F3BAE9-768C-1496-B099-389D23B5441D}"/>
              </a:ext>
            </a:extLst>
          </p:cNvPr>
          <p:cNvSpPr txBox="1"/>
          <p:nvPr/>
        </p:nvSpPr>
        <p:spPr>
          <a:xfrm>
            <a:off x="457200" y="31788419"/>
            <a:ext cx="697687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 causal Temporal Convolutional Network trained on PAC trajectory features can forecast coupling dynamics 5-10 seconds ahead, a horizon where simpler baselines collapse, enabling a closed-loop controller that delivers stimulation proactively rather than reactively.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Goals: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Predict brain entrainment 5-10s into the future (the minimum lead time for proactive control)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Closed-loop controller — integrate predictions into a personalized stimulation controller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Validate on real patient EEG that predictive control outperforms fixed and reactive approaches</a:t>
            </a:r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1873C84C-3FCE-3B96-19AA-CB316370B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5597" y="3555245"/>
            <a:ext cx="8204201" cy="539496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05740" tIns="51435" rIns="205740" bIns="51435" anchor="ctr"/>
          <a:lstStyle>
            <a:defPPr>
              <a:defRPr kern="1200"/>
            </a:defPPr>
          </a:lstStyle>
          <a:p>
            <a:pPr defTabSz="3527822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System Architecture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D6B1DF-739A-893F-4F2B-77C4DCC8663E}"/>
              </a:ext>
            </a:extLst>
          </p:cNvPr>
          <p:cNvSpPr txBox="1"/>
          <p:nvPr/>
        </p:nvSpPr>
        <p:spPr>
          <a:xfrm>
            <a:off x="7975598" y="4240123"/>
            <a:ext cx="82042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 control stimulation proactively, the system needs to predict PAC 5-10 seconds into the future. The approach consists of two phases: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Estimate current PAC from raw EEG in real time (since live patients don't have ground-truth labels)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Predict future PAC from a history of past estimates — temporal forecasting</a:t>
            </a:r>
            <a:b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0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Stage 1: Architecture Decision for Static PAC Estimation</a:t>
            </a:r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9C82EB56-3E96-14A8-A2ED-AC3AB89E6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38599" y="3555245"/>
            <a:ext cx="8204201" cy="539496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05740" tIns="51435" rIns="205740" bIns="51435" anchor="ctr"/>
          <a:lstStyle>
            <a:defPPr>
              <a:defRPr kern="1200"/>
            </a:defPPr>
          </a:lstStyle>
          <a:p>
            <a:pPr defTabSz="3527822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Materials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3AD279-29E4-27AC-8930-3FB5F6A6F520}"/>
              </a:ext>
            </a:extLst>
          </p:cNvPr>
          <p:cNvSpPr txBox="1"/>
          <p:nvPr/>
        </p:nvSpPr>
        <p:spPr>
          <a:xfrm>
            <a:off x="16738600" y="4240123"/>
            <a:ext cx="82042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Dataset: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35 dementia patients, OpenNeuro ds005048 (Lahijanian 2024)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7 frontal EEG channels (Fp1, Fp2, F3, F4, F7, F8, Fz), 250 Hz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Alternating Stimulus (40 Hz AM auditory) and Rest epochs, 20-40s each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17,283 two-second windows; subject-level splits (24 train / 5 val / 6 test)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Compute: Python 3.13, PyTorch, Apple Silicon (MPS), no cloud GPU required</a:t>
            </a: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A4F042F2-D362-5D6F-8B80-397281348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38599" y="15514417"/>
            <a:ext cx="8204201" cy="539496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05740" tIns="51435" rIns="205740" bIns="51435" anchor="ctr"/>
          <a:lstStyle>
            <a:defPPr>
              <a:defRPr kern="1200"/>
            </a:defPPr>
          </a:lstStyle>
          <a:p>
            <a:pPr defTabSz="3527822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Procedure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DDCA2F-78BF-70AB-1CD3-DE8A1F278AA6}"/>
              </a:ext>
            </a:extLst>
          </p:cNvPr>
          <p:cNvSpPr txBox="1"/>
          <p:nvPr/>
        </p:nvSpPr>
        <p:spPr>
          <a:xfrm>
            <a:off x="16738600" y="16199295"/>
            <a:ext cx="8204201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Training: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EEGNet: MSE loss, Adam optimizer, gradient clipping (max_norm=1.0), early stopping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Causal TCN: Huber loss (robust to PAC outliers), learning rate reduction on plateau, early stopping (patience=20)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All hyperparameters tuned on validation set (5 subjects); test set (6 subjects) used only for final evaluation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Validation (two independent protocols):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Primary (real data): Replayed TCN controller on all 35 subjects' actual EEG recordings — offline counterfactual decisions on real brain data. For validation, ground-truth PAC labels were used as TCN input, isolating the TCN's predictive contribution from EEGNet estimation error.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Secondary (simulation): Closed-loop simulation with neural fatigue modeling — 6 severity levels × 50 trials × 600 seconds per trial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Statistical validation: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Wilcoxon signed-rank tests (non-parametric, paired)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Bootstrap 95% confidence intervals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Hedges' g effect sizes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Compared against: Fixed Schedule, Reactive Threshold, PI Controller, Alignment Oracle (theoretical upper bound)</a:t>
            </a:r>
          </a:p>
        </p:txBody>
      </p:sp>
      <p:sp>
        <p:nvSpPr>
          <p:cNvPr id="41" name="Rectangle 5">
            <a:extLst>
              <a:ext uri="{FF2B5EF4-FFF2-40B4-BE49-F238E27FC236}">
                <a16:creationId xmlns:a16="http://schemas.microsoft.com/office/drawing/2014/main" id="{CF32736B-B844-801E-6493-C1897155B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06218" y="37386949"/>
            <a:ext cx="8204201" cy="539496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05740" tIns="51435" rIns="205740" bIns="51435" anchor="ctr"/>
          <a:lstStyle>
            <a:defPPr>
              <a:defRPr kern="1200"/>
            </a:defPPr>
          </a:lstStyle>
          <a:p>
            <a:pPr defTabSz="3527822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Towards Clinical Use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BE1E39-477A-FE5E-8B6F-28A550062CDF}"/>
              </a:ext>
            </a:extLst>
          </p:cNvPr>
          <p:cNvSpPr txBox="1"/>
          <p:nvPr/>
        </p:nvSpPr>
        <p:spPr>
          <a:xfrm>
            <a:off x="20692237" y="38190656"/>
            <a:ext cx="422363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The full pipeline runs in real time on consumer hardware: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EEG capture: Muse 2 headband ($249);  4 dry electrodes, no gel or technician needed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Processing: Single laptop, &lt;50ms end-to-end inference latency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Audio delivery: Standard headphones with 40 Hz amplitude-modulated audio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Total cost per patient: Under $300 (headband + headphones)</a:t>
            </a: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468602BB-9805-5633-921D-B25B5F974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5194" y="30638998"/>
            <a:ext cx="8204201" cy="539496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05740" tIns="51435" rIns="205740" bIns="51435" anchor="ctr"/>
          <a:lstStyle>
            <a:defPPr>
              <a:defRPr kern="1200"/>
            </a:defPPr>
          </a:lstStyle>
          <a:p>
            <a:pPr defTabSz="3527822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Data Analysis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60333F-A46E-CC25-34B1-EC8B0F8BF6BC}"/>
              </a:ext>
            </a:extLst>
          </p:cNvPr>
          <p:cNvSpPr txBox="1"/>
          <p:nvPr/>
        </p:nvSpPr>
        <p:spPr>
          <a:xfrm>
            <a:off x="7995195" y="36147118"/>
            <a:ext cx="82042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Real EEG from a held-out test subject. The reactive controller stimulates after PAC drops; the TCN anticipates decline 5 seconds early.</a:t>
            </a:r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id="{E864B53B-BA89-03A2-D3F4-2BD4138E1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84326" y="36205316"/>
            <a:ext cx="6976872" cy="539496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05740" tIns="51435" rIns="205740" bIns="51435" anchor="ctr"/>
          <a:lstStyle>
            <a:defPPr>
              <a:defRPr kern="1200"/>
            </a:defPPr>
          </a:lstStyle>
          <a:p>
            <a:pPr defTabSz="3527822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Conclusions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C369CB-F9E1-5223-6A0B-7AAB3B07A977}"/>
              </a:ext>
            </a:extLst>
          </p:cNvPr>
          <p:cNvSpPr txBox="1"/>
          <p:nvPr/>
        </p:nvSpPr>
        <p:spPr>
          <a:xfrm>
            <a:off x="25484327" y="36890194"/>
            <a:ext cx="697687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marL="457200" indent="-457200">
              <a:buAutoNum type="arabicPeriod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At 5-10s horizons, the TCN maintains R² = 0.37-0.67 while all baselines collapse below zero; a +0.5 R² margin at the operationally relevant range for proactive control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On real patient EEG: 72.1% alignment vs 64.5% reactive (p &lt; 0.001), targeting 82.6% of low-PAC windows vs 51.7% — 60% improvement in therapeutic targeting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All 35 patients benefited, including 6 held-out test subjects — generalizes across individuals without retraining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Adaptive advantage increases with fatigue (+0.4% to +5.7%) and holds across four fatigue model assumptions</a:t>
            </a:r>
          </a:p>
          <a:p>
            <a:pPr marL="457200" indent="-457200">
              <a:buAutoNum type="arabicPeriod"/>
            </a:pPr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Limitation</a:t>
            </a: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: Real-data validation uses offline replay on recorded EEG, not live closed-loop streaming. The system makes decisions on real brain data but cannot observe the brain's response to those decisions.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2FE1AA-E912-35D2-3E08-0D888BCECB5A}"/>
              </a:ext>
            </a:extLst>
          </p:cNvPr>
          <p:cNvSpPr txBox="1"/>
          <p:nvPr/>
        </p:nvSpPr>
        <p:spPr>
          <a:xfrm>
            <a:off x="16937581" y="31263019"/>
            <a:ext cx="79714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Deploy with live EEG streaming for real-time crossover validation (adaptive vs fixed within-same session)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Record 30-60-minute sessions to capture the full habituation time course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Replace the heuristic controller with reinforcement learning for long-horizon optimization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Extend to multi-biomarker control (PAC + spectral power + connectivity)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System cost under $300/patient (consumer EEG + headphones)</a:t>
            </a:r>
          </a:p>
        </p:txBody>
      </p:sp>
      <p:sp>
        <p:nvSpPr>
          <p:cNvPr id="53" name="Rectangle 5">
            <a:extLst>
              <a:ext uri="{FF2B5EF4-FFF2-40B4-BE49-F238E27FC236}">
                <a16:creationId xmlns:a16="http://schemas.microsoft.com/office/drawing/2014/main" id="{9A8D954B-26CB-E2BC-32CF-895D72A5E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7" y="36335002"/>
            <a:ext cx="6976872" cy="539496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05740" tIns="51435" rIns="205740" bIns="51435" anchor="ctr"/>
          <a:lstStyle>
            <a:defPPr>
              <a:defRPr kern="1200"/>
            </a:defPPr>
          </a:lstStyle>
          <a:p>
            <a:pPr defTabSz="3527822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References / Acknowledgements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A67ADD-7D29-4698-CF29-FC78B2244066}"/>
              </a:ext>
            </a:extLst>
          </p:cNvPr>
          <p:cNvSpPr txBox="1"/>
          <p:nvPr/>
        </p:nvSpPr>
        <p:spPr>
          <a:xfrm>
            <a:off x="457198" y="37106603"/>
            <a:ext cx="697687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[1] Iaccarino et al. Nature 540(7632), 230-235, 2016. </a:t>
            </a: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[2] Martorell et al. Cell 177(2), 256-271, 2019. </a:t>
            </a: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[3] Tort et al. J Neurophysiol 104(2), 1195-1210, 2010. </a:t>
            </a: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[4] Lawhern et al. J Neural Eng 15(5), 056013, 2018. </a:t>
            </a: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[5] Lahijanian et al. Sci Rep 14, 13153, 2024. </a:t>
            </a: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[6] Thompson &amp; Spencer. Psychol Rev 73(1), 16-43, 1966. </a:t>
            </a: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[7] Chan et al. Alz &amp; Dem 21(10), e70792, 2025. </a:t>
            </a: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[8] Fortunato et al. Front Neurosci 17, 2023.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AP Statistics teacher consulted on statistical test selection. All other work conducted independently. Computing: personal MacBook + RTX 3080. No institutional lab or mentor.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Data: OpenNeuro ds005048, open access license. All diagrams by the author. All experimental design, analysis, interpretation, and conclusions are the student's own work.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B69D12-CE51-7DAD-7187-F2FE6D071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381" y="9961994"/>
            <a:ext cx="7238504" cy="3477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1D6A3C-052E-E9F1-16F4-D98BDB50B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735" y="20658052"/>
            <a:ext cx="7006334" cy="377685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BD5788B-0E9D-B631-1399-A518E1CE8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496902"/>
              </p:ext>
            </p:extLst>
          </p:nvPr>
        </p:nvGraphicFramePr>
        <p:xfrm>
          <a:off x="7992873" y="7164233"/>
          <a:ext cx="5027388" cy="5162317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608284">
                  <a:extLst>
                    <a:ext uri="{9D8B030D-6E8A-4147-A177-3AD203B41FA5}">
                      <a16:colId xmlns:a16="http://schemas.microsoft.com/office/drawing/2014/main" val="476290120"/>
                    </a:ext>
                  </a:extLst>
                </a:gridCol>
                <a:gridCol w="1295949">
                  <a:extLst>
                    <a:ext uri="{9D8B030D-6E8A-4147-A177-3AD203B41FA5}">
                      <a16:colId xmlns:a16="http://schemas.microsoft.com/office/drawing/2014/main" val="2226223649"/>
                    </a:ext>
                  </a:extLst>
                </a:gridCol>
                <a:gridCol w="1123155">
                  <a:extLst>
                    <a:ext uri="{9D8B030D-6E8A-4147-A177-3AD203B41FA5}">
                      <a16:colId xmlns:a16="http://schemas.microsoft.com/office/drawing/2014/main" val="1535894409"/>
                    </a:ext>
                  </a:extLst>
                </a:gridCol>
              </a:tblGrid>
              <a:tr h="69096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Architecture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Params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Test </a:t>
                      </a: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Titillium Web" panose="00000500000000000000" pitchFamily="2" charset="77"/>
                        </a:rPr>
                        <a:t>R²</a:t>
                      </a:r>
                      <a:endParaRPr lang="en-US" sz="2000" dirty="0">
                        <a:latin typeface="Titillium Web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0522"/>
                  </a:ext>
                </a:extLst>
              </a:tr>
              <a:tr h="853756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tillium Web" pitchFamily="2" charset="77"/>
                        </a:rPr>
                        <a:t>EEGNet (V4)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tillium Web" pitchFamily="2" charset="77"/>
                        </a:rPr>
                        <a:t>1457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tillium Web" pitchFamily="2" charset="77"/>
                        </a:rPr>
                        <a:t>0.287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965967"/>
                  </a:ext>
                </a:extLst>
              </a:tr>
              <a:tr h="69096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SpecRNN (V3)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180K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0.236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987082"/>
                  </a:ext>
                </a:extLst>
              </a:tr>
              <a:tr h="69096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ViT-TCNet (V4)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~2M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0.222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352131"/>
                  </a:ext>
                </a:extLst>
              </a:tr>
              <a:tr h="69096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Ridge Regression (V1)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135 coefs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0.287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956266"/>
                  </a:ext>
                </a:extLst>
              </a:tr>
              <a:tr h="69096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ATCNet (V6)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29K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0.075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207841"/>
                  </a:ext>
                </a:extLst>
              </a:tr>
              <a:tr h="85375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EEGNetLarge (input)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141K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0.287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63834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C43BFDD-1273-5A9D-7244-7FAC609B083E}"/>
              </a:ext>
            </a:extLst>
          </p:cNvPr>
          <p:cNvSpPr txBox="1"/>
          <p:nvPr/>
        </p:nvSpPr>
        <p:spPr>
          <a:xfrm>
            <a:off x="13238922" y="7247827"/>
            <a:ext cx="294087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EEGNet matches the best R² (0.287) with only 1,457 parameters. It's the lightest weight architecture tested, enabling real-time inference on embedded devices — provides the current PAC estimate that feeds into the temporal predictor.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Conclusion: R² = 0.287 is a data ceiling (epoch-level PAC labels on 2s windows).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1B87F7-EDAA-29D1-F55A-6F0A63D88739}"/>
              </a:ext>
            </a:extLst>
          </p:cNvPr>
          <p:cNvSpPr txBox="1"/>
          <p:nvPr/>
        </p:nvSpPr>
        <p:spPr>
          <a:xfrm>
            <a:off x="7975595" y="12682968"/>
            <a:ext cx="8204200" cy="1323439"/>
          </a:xfrm>
          <a:prstGeom prst="rect">
            <a:avLst/>
          </a:prstGeom>
          <a:noFill/>
          <a:ln w="12700">
            <a:solidFill>
              <a:srgbClr val="FFC000"/>
            </a:solidFill>
          </a:ln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Dropping 61 spectral features and keeping only 12 PAC-trajectory features raised test R² from -0.025 to 0.606 (5-seed mean ± 0.032). Spectral features encoded patient-specific anatomy that does not generalize across subjects. Feature selection mattered more than architecture.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2C683B-85BF-2033-2653-DB0EF5C10D3F}"/>
              </a:ext>
            </a:extLst>
          </p:cNvPr>
          <p:cNvSpPr txBox="1"/>
          <p:nvPr/>
        </p:nvSpPr>
        <p:spPr>
          <a:xfrm>
            <a:off x="7992873" y="17907073"/>
            <a:ext cx="820420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Stage 2: Temporal Prediction; Causal TCN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Since no single-window architecture could exceed R² = 0.287, I shifted the approach: instead of predicting PAC better from one snapshot, predict it further into the future from a sequence of snapshots. The Causal TCN ingests 20 seconds of history and forecasts PAC 5 seconds ahead.</a:t>
            </a: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dirty="0">
              <a:latin typeface="Titillium Web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12 TCN input features:</a:t>
            </a:r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7 PAC-derived (current value from EEGNet, moving averages, trends) + 5 stimulation context (on/off state, duration, session phase)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8E6BE77-4AC1-BE4C-F3DF-A5D3A31DD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364456"/>
              </p:ext>
            </p:extLst>
          </p:nvPr>
        </p:nvGraphicFramePr>
        <p:xfrm>
          <a:off x="7992873" y="19843796"/>
          <a:ext cx="8186922" cy="437170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590023">
                  <a:extLst>
                    <a:ext uri="{9D8B030D-6E8A-4147-A177-3AD203B41FA5}">
                      <a16:colId xmlns:a16="http://schemas.microsoft.com/office/drawing/2014/main" val="476290120"/>
                    </a:ext>
                  </a:extLst>
                </a:gridCol>
                <a:gridCol w="3383025">
                  <a:extLst>
                    <a:ext uri="{9D8B030D-6E8A-4147-A177-3AD203B41FA5}">
                      <a16:colId xmlns:a16="http://schemas.microsoft.com/office/drawing/2014/main" val="2226223649"/>
                    </a:ext>
                  </a:extLst>
                </a:gridCol>
                <a:gridCol w="3213874">
                  <a:extLst>
                    <a:ext uri="{9D8B030D-6E8A-4147-A177-3AD203B41FA5}">
                      <a16:colId xmlns:a16="http://schemas.microsoft.com/office/drawing/2014/main" val="1535894409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endParaRPr lang="en-US" sz="2000" dirty="0">
                        <a:latin typeface="Titillium Web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EEGNet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Causal TCN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0522"/>
                  </a:ext>
                </a:extLst>
              </a:tr>
              <a:tr h="64562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Estimate current PAC (raw EEG)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Predict future PAC (5s horizon)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965967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1,457 (7 </a:t>
                      </a:r>
                      <a:r>
                        <a:rPr lang="en-US" sz="2000" dirty="0" err="1">
                          <a:latin typeface="Titillium Web" panose="00000500000000000000" pitchFamily="2" charset="77"/>
                        </a:rPr>
                        <a:t>ch</a:t>
                      </a:r>
                      <a:r>
                        <a:rPr lang="en-US" sz="2000" dirty="0">
                          <a:latin typeface="Titillium Web" panose="00000500000000000000" pitchFamily="2" charset="77"/>
                        </a:rPr>
                        <a:t> x 500 windows)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5,154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98708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Raw EEG (7 ch x 500 samples)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12 features x 20 timesteps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35213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Temporal + depth-wise spatial conv.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Dilated causal conv (d=1,2,4,8)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956266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Current PAC 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Future PAC (5s Horizon)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207841"/>
                  </a:ext>
                </a:extLst>
              </a:tr>
              <a:tr h="64562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Key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Real-time-inference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itchFamily="2" charset="77"/>
                        </a:rPr>
                        <a:t>11-step receptive field, causal (no future leakage)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638341"/>
                  </a:ext>
                </a:extLst>
              </a:tr>
            </a:tbl>
          </a:graphicData>
        </a:graphic>
      </p:graphicFrame>
      <p:pic>
        <p:nvPicPr>
          <p:cNvPr id="30" name="Picture 29">
            <a:extLst>
              <a:ext uri="{FF2B5EF4-FFF2-40B4-BE49-F238E27FC236}">
                <a16:creationId xmlns:a16="http://schemas.microsoft.com/office/drawing/2014/main" id="{652DC918-3B89-D162-910C-6E6F6A24E7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57938" y="7374962"/>
            <a:ext cx="8330682" cy="751713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3AA4E16-C30A-0B97-A334-DB87C963E6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0040" y="25418502"/>
            <a:ext cx="8587519" cy="4729845"/>
          </a:xfrm>
          <a:prstGeom prst="rect">
            <a:avLst/>
          </a:prstGeom>
          <a:ln w="12700">
            <a:solidFill>
              <a:srgbClr val="F2D48C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2C88F4E-FFE5-993A-0ABB-94D81352E9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" r="19"/>
          <a:stretch/>
        </p:blipFill>
        <p:spPr>
          <a:xfrm>
            <a:off x="563659" y="24544507"/>
            <a:ext cx="6763897" cy="629066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6738677-CCE8-A63E-03DE-3B663FC1CD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49361" y="24572510"/>
            <a:ext cx="8293438" cy="565415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609AC39-EB50-9F95-16CA-14A13F0E2A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39340" y="32135399"/>
            <a:ext cx="8273843" cy="365212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A515886-3A8D-D811-EFF8-69CF9CBA5B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56325" y="37008093"/>
            <a:ext cx="8077296" cy="523316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08094A0-5AAE-EE5B-FB12-EB55E7AF5E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60529" y="14206103"/>
            <a:ext cx="8916960" cy="343094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A1450B32-0283-1DDF-F991-E73AA791E81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" r="195"/>
          <a:stretch/>
        </p:blipFill>
        <p:spPr>
          <a:xfrm>
            <a:off x="16557611" y="38242198"/>
            <a:ext cx="3920307" cy="3920307"/>
          </a:xfrm>
          <a:prstGeom prst="rect">
            <a:avLst/>
          </a:prstGeom>
          <a:effectLst>
            <a:softEdge rad="0"/>
          </a:effectLst>
        </p:spPr>
      </p:pic>
      <p:sp>
        <p:nvSpPr>
          <p:cNvPr id="21" name="TextBox 39">
            <a:extLst>
              <a:ext uri="{FF2B5EF4-FFF2-40B4-BE49-F238E27FC236}">
                <a16:creationId xmlns:a16="http://schemas.microsoft.com/office/drawing/2014/main" id="{394BE20B-692B-BAFA-8246-626FAF715D34}"/>
              </a:ext>
            </a:extLst>
          </p:cNvPr>
          <p:cNvSpPr txBox="1"/>
          <p:nvPr/>
        </p:nvSpPr>
        <p:spPr>
          <a:xfrm>
            <a:off x="25249972" y="12024544"/>
            <a:ext cx="743279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 kern="1200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342900" indent="-342900" algn="just">
              <a:buFontTx/>
              <a:buChar char="-"/>
            </a:pPr>
            <a:r>
              <a:rPr lang="en-US" sz="2000" dirty="0">
                <a:latin typeface="Titillium Web" panose="00000500000000000000" pitchFamily="2" charset="77"/>
              </a:rPr>
              <a:t>TCN vs Reactive: Alignment g = +1.31, Low-PAC targeting g = +4.47, PAC gap g = +1.57 (all p &lt; 0.001)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latin typeface="Titillium Web" panose="00000500000000000000" pitchFamily="2" charset="77"/>
              </a:rPr>
              <a:t>TCN PAC targeting gap reaches 91% of the theoretical oracle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latin typeface="Titillium Web" panose="00000500000000000000" pitchFamily="2" charset="77"/>
              </a:rPr>
              <a:t>TCN uses less stimulation than Fixed Schedule (59.7% vs 66.6%)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latin typeface="Titillium Web" panose="00000500000000000000" pitchFamily="2" charset="77"/>
              </a:rPr>
              <a:t>Reactive misses 48% of low-PAC windows that need treatment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38320BD-5E59-6076-D987-6A49F37EB47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84326" y="4999258"/>
            <a:ext cx="6976873" cy="3747343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ED8E093-7605-426A-E905-CFAA40712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528981"/>
              </p:ext>
            </p:extLst>
          </p:nvPr>
        </p:nvGraphicFramePr>
        <p:xfrm>
          <a:off x="25264599" y="8956149"/>
          <a:ext cx="7440460" cy="295602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88092">
                  <a:extLst>
                    <a:ext uri="{9D8B030D-6E8A-4147-A177-3AD203B41FA5}">
                      <a16:colId xmlns:a16="http://schemas.microsoft.com/office/drawing/2014/main" val="3839222090"/>
                    </a:ext>
                  </a:extLst>
                </a:gridCol>
                <a:gridCol w="1488092">
                  <a:extLst>
                    <a:ext uri="{9D8B030D-6E8A-4147-A177-3AD203B41FA5}">
                      <a16:colId xmlns:a16="http://schemas.microsoft.com/office/drawing/2014/main" val="50388315"/>
                    </a:ext>
                  </a:extLst>
                </a:gridCol>
                <a:gridCol w="1488092">
                  <a:extLst>
                    <a:ext uri="{9D8B030D-6E8A-4147-A177-3AD203B41FA5}">
                      <a16:colId xmlns:a16="http://schemas.microsoft.com/office/drawing/2014/main" val="1426794024"/>
                    </a:ext>
                  </a:extLst>
                </a:gridCol>
                <a:gridCol w="1488092">
                  <a:extLst>
                    <a:ext uri="{9D8B030D-6E8A-4147-A177-3AD203B41FA5}">
                      <a16:colId xmlns:a16="http://schemas.microsoft.com/office/drawing/2014/main" val="1992107126"/>
                    </a:ext>
                  </a:extLst>
                </a:gridCol>
                <a:gridCol w="1488092">
                  <a:extLst>
                    <a:ext uri="{9D8B030D-6E8A-4147-A177-3AD203B41FA5}">
                      <a16:colId xmlns:a16="http://schemas.microsoft.com/office/drawing/2014/main" val="2191578843"/>
                    </a:ext>
                  </a:extLst>
                </a:gridCol>
              </a:tblGrid>
              <a:tr h="761468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tillium Web" panose="00000500000000000000" pitchFamily="2" charset="77"/>
                        </a:rPr>
                        <a:t>Controller</a:t>
                      </a:r>
                    </a:p>
                  </a:txBody>
                  <a:tcPr>
                    <a:solidFill>
                      <a:srgbClr val="F2D4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tillium Web" panose="00000500000000000000" pitchFamily="2" charset="77"/>
                        </a:rPr>
                        <a:t>Alignment</a:t>
                      </a:r>
                    </a:p>
                  </a:txBody>
                  <a:tcPr>
                    <a:solidFill>
                      <a:srgbClr val="F2D4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tillium Web" panose="00000500000000000000" pitchFamily="2" charset="77"/>
                        </a:rPr>
                        <a:t>Low-PAC Targeting</a:t>
                      </a:r>
                    </a:p>
                  </a:txBody>
                  <a:tcPr>
                    <a:solidFill>
                      <a:srgbClr val="F2D4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tillium Web" panose="00000500000000000000" pitchFamily="2" charset="77"/>
                        </a:rPr>
                        <a:t>PAC Gap 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Titillium Web" panose="00000500000000000000" pitchFamily="2" charset="77"/>
                        </a:rPr>
                        <a:t>(×10⁻⁶)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Titillium Web" panose="00000500000000000000" pitchFamily="2" charset="77"/>
                      </a:endParaRPr>
                    </a:p>
                  </a:txBody>
                  <a:tcPr>
                    <a:solidFill>
                      <a:srgbClr val="F2D4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tillium Web" panose="00000500000000000000" pitchFamily="2" charset="77"/>
                        </a:rPr>
                        <a:t>Stim %</a:t>
                      </a:r>
                    </a:p>
                  </a:txBody>
                  <a:tcPr>
                    <a:solidFill>
                      <a:srgbClr val="F2D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437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Fixed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45.0%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-6.6 (wrong direction)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66.6%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006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Reactive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64.5%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51.7%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+21.1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36.7%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811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tillium Web" panose="00000500000000000000" pitchFamily="2" charset="77"/>
                        </a:rPr>
                        <a:t>TCN Predictive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tillium Web" panose="00000500000000000000" pitchFamily="2" charset="77"/>
                        </a:rPr>
                        <a:t>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tillium Web" panose="00000500000000000000" pitchFamily="2" charset="77"/>
                        </a:rPr>
                        <a:t>82.6%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tillium Web" panose="00000500000000000000" pitchFamily="2" charset="77"/>
                        </a:rPr>
                        <a:t>+30.5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tillium Web" panose="00000500000000000000" pitchFamily="2" charset="77"/>
                        </a:rPr>
                        <a:t>59.7%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531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+33.3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48.3%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958757"/>
                  </a:ext>
                </a:extLst>
              </a:tr>
            </a:tbl>
          </a:graphicData>
        </a:graphic>
      </p:graphicFrame>
      <p:sp>
        <p:nvSpPr>
          <p:cNvPr id="29" name="TextBox 39">
            <a:extLst>
              <a:ext uri="{FF2B5EF4-FFF2-40B4-BE49-F238E27FC236}">
                <a16:creationId xmlns:a16="http://schemas.microsoft.com/office/drawing/2014/main" id="{7B6DC1A6-3D7D-24F1-5CC4-3EC617996B71}"/>
              </a:ext>
            </a:extLst>
          </p:cNvPr>
          <p:cNvSpPr txBox="1"/>
          <p:nvPr/>
        </p:nvSpPr>
        <p:spPr>
          <a:xfrm>
            <a:off x="25249971" y="17152783"/>
            <a:ext cx="743279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 kern="1200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dirty="0">
                <a:latin typeface="Titillium Web" panose="00000500000000000000" pitchFamily="2" charset="77"/>
              </a:rPr>
              <a:t>Result 2: Every Patient Benefits</a:t>
            </a:r>
          </a:p>
          <a:p>
            <a:pPr algn="just"/>
            <a:endParaRPr lang="en-US" sz="2000" dirty="0">
              <a:latin typeface="Titillium Web" panose="00000500000000000000" pitchFamily="2" charset="77"/>
            </a:endParaRPr>
          </a:p>
          <a:p>
            <a:pPr algn="just"/>
            <a:endParaRPr lang="en-US" sz="2000" dirty="0">
              <a:latin typeface="Titillium Web" panose="00000500000000000000" pitchFamily="2" charset="77"/>
            </a:endParaRPr>
          </a:p>
          <a:p>
            <a:pPr algn="just"/>
            <a:endParaRPr lang="en-US" sz="2000" dirty="0">
              <a:latin typeface="Titillium Web" panose="00000500000000000000" pitchFamily="2" charset="77"/>
            </a:endParaRPr>
          </a:p>
          <a:p>
            <a:pPr algn="just"/>
            <a:endParaRPr lang="en-US" sz="2000" dirty="0">
              <a:latin typeface="Titillium Web" panose="00000500000000000000" pitchFamily="2" charset="77"/>
            </a:endParaRPr>
          </a:p>
          <a:p>
            <a:pPr algn="just"/>
            <a:endParaRPr lang="en-US" sz="2000" dirty="0">
              <a:latin typeface="Titillium Web" panose="00000500000000000000" pitchFamily="2" charset="77"/>
            </a:endParaRPr>
          </a:p>
          <a:p>
            <a:pPr algn="just"/>
            <a:endParaRPr lang="en-US" sz="2000" dirty="0">
              <a:latin typeface="Titillium Web" panose="00000500000000000000" pitchFamily="2" charset="77"/>
            </a:endParaRPr>
          </a:p>
          <a:p>
            <a:pPr algn="just"/>
            <a:endParaRPr lang="en-US" sz="2000" dirty="0">
              <a:latin typeface="Titillium Web" panose="00000500000000000000" pitchFamily="2" charset="77"/>
            </a:endParaRPr>
          </a:p>
          <a:p>
            <a:pPr algn="just"/>
            <a:endParaRPr lang="en-US" sz="2000" dirty="0">
              <a:latin typeface="Titillium Web" panose="00000500000000000000" pitchFamily="2" charset="77"/>
            </a:endParaRPr>
          </a:p>
          <a:p>
            <a:pPr algn="just"/>
            <a:endParaRPr lang="en-US" sz="2000" dirty="0">
              <a:latin typeface="Titillium Web" panose="00000500000000000000" pitchFamily="2" charset="77"/>
            </a:endParaRPr>
          </a:p>
          <a:p>
            <a:pPr algn="just"/>
            <a:endParaRPr lang="en-US" sz="2000" dirty="0">
              <a:latin typeface="Titillium Web" panose="00000500000000000000" pitchFamily="2" charset="77"/>
            </a:endParaRPr>
          </a:p>
          <a:p>
            <a:pPr algn="just"/>
            <a:endParaRPr lang="en-US" sz="2000" dirty="0">
              <a:latin typeface="Titillium Web" panose="00000500000000000000" pitchFamily="2" charset="77"/>
            </a:endParaRPr>
          </a:p>
          <a:p>
            <a:pPr algn="just"/>
            <a:endParaRPr lang="en-US" sz="2000" dirty="0">
              <a:latin typeface="Titillium Web" panose="00000500000000000000" pitchFamily="2" charset="77"/>
            </a:endParaRPr>
          </a:p>
          <a:p>
            <a:pPr marL="342900" indent="-342900" algn="just">
              <a:buFontTx/>
              <a:buChar char="-"/>
            </a:pPr>
            <a:r>
              <a:rPr lang="en-US" sz="2000" dirty="0">
                <a:latin typeface="Titillium Web" panose="00000500000000000000" pitchFamily="2" charset="77"/>
              </a:rPr>
              <a:t>35/35 subjects (100%) show higher utility with TCN vs Reactive (binomial p &lt; 0.001)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latin typeface="Titillium Web" panose="00000500000000000000" pitchFamily="2" charset="77"/>
              </a:rPr>
              <a:t>Advantage holds for 6 held-out test subjects never seen during training</a:t>
            </a:r>
          </a:p>
          <a:p>
            <a:pPr algn="just"/>
            <a:endParaRPr lang="en-US" sz="2000" dirty="0">
              <a:latin typeface="Titillium Web" panose="00000500000000000000" pitchFamily="2" charset="77"/>
            </a:endParaRPr>
          </a:p>
          <a:p>
            <a:pPr algn="just"/>
            <a:r>
              <a:rPr lang="en-US" sz="2000" b="1" dirty="0">
                <a:latin typeface="Titillium Web" panose="00000500000000000000" pitchFamily="2" charset="77"/>
              </a:rPr>
              <a:t>Result 3: Advantage Increases with Fatigue</a:t>
            </a:r>
          </a:p>
          <a:p>
            <a:pPr algn="just"/>
            <a:r>
              <a:rPr lang="en-US" sz="2000" dirty="0">
                <a:latin typeface="Titillium Web" panose="00000500000000000000" pitchFamily="2" charset="77"/>
              </a:rPr>
              <a:t>Simulation results across 6 fatigue severity levels (n=50 trials each):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20324AA-D203-EFB2-66E5-84D7C400E1A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73771" y="13637801"/>
            <a:ext cx="7661919" cy="339698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22095F31-5555-2464-889D-6CAB6CF36B0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" r="50"/>
          <a:stretch/>
        </p:blipFill>
        <p:spPr>
          <a:xfrm>
            <a:off x="25290817" y="17593104"/>
            <a:ext cx="7271587" cy="3440420"/>
          </a:xfrm>
          <a:prstGeom prst="rect">
            <a:avLst/>
          </a:prstGeom>
        </p:spPr>
      </p:pic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D68F17CD-33F2-5DEA-A631-092CF41C3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602463"/>
              </p:ext>
            </p:extLst>
          </p:nvPr>
        </p:nvGraphicFramePr>
        <p:xfrm>
          <a:off x="25264600" y="23464445"/>
          <a:ext cx="7094805" cy="325565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697355">
                  <a:extLst>
                    <a:ext uri="{9D8B030D-6E8A-4147-A177-3AD203B41FA5}">
                      <a16:colId xmlns:a16="http://schemas.microsoft.com/office/drawing/2014/main" val="3839222090"/>
                    </a:ext>
                  </a:extLst>
                </a:gridCol>
                <a:gridCol w="1799150">
                  <a:extLst>
                    <a:ext uri="{9D8B030D-6E8A-4147-A177-3AD203B41FA5}">
                      <a16:colId xmlns:a16="http://schemas.microsoft.com/office/drawing/2014/main" val="50388315"/>
                    </a:ext>
                  </a:extLst>
                </a:gridCol>
                <a:gridCol w="1799150">
                  <a:extLst>
                    <a:ext uri="{9D8B030D-6E8A-4147-A177-3AD203B41FA5}">
                      <a16:colId xmlns:a16="http://schemas.microsoft.com/office/drawing/2014/main" val="1426794024"/>
                    </a:ext>
                  </a:extLst>
                </a:gridCol>
                <a:gridCol w="1799150">
                  <a:extLst>
                    <a:ext uri="{9D8B030D-6E8A-4147-A177-3AD203B41FA5}">
                      <a16:colId xmlns:a16="http://schemas.microsoft.com/office/drawing/2014/main" val="1992107126"/>
                    </a:ext>
                  </a:extLst>
                </a:gridCol>
              </a:tblGrid>
              <a:tr h="503923">
                <a:tc>
                  <a:txBody>
                    <a:bodyPr/>
                    <a:lstStyle/>
                    <a:p>
                      <a:r>
                        <a:rPr lang="en-US" sz="2000" dirty="0"/>
                        <a:t>Fatigue Level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Fixed Efficiency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Adaptive Efficiency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Improvement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437577"/>
                  </a:ext>
                </a:extLst>
              </a:tr>
              <a:tr h="510923">
                <a:tc>
                  <a:txBody>
                    <a:bodyPr/>
                    <a:lstStyle/>
                    <a:p>
                      <a:r>
                        <a:rPr lang="en-US" sz="2000" dirty="0"/>
                        <a:t>None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5.381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5.401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+0.4%***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006189"/>
                  </a:ext>
                </a:extLst>
              </a:tr>
              <a:tr h="510923">
                <a:tc>
                  <a:txBody>
                    <a:bodyPr/>
                    <a:lstStyle/>
                    <a:p>
                      <a:r>
                        <a:rPr lang="en-US" sz="2000" dirty="0"/>
                        <a:t>Mild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5.294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5.361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+1.3%***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811135"/>
                  </a:ext>
                </a:extLst>
              </a:tr>
              <a:tr h="510923">
                <a:tc>
                  <a:txBody>
                    <a:bodyPr/>
                    <a:lstStyle/>
                    <a:p>
                      <a:r>
                        <a:rPr lang="en-US" sz="2000" b="0" dirty="0"/>
                        <a:t>Moderate</a:t>
                      </a:r>
                      <a:endParaRPr lang="en-US" sz="2000" b="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5.101</a:t>
                      </a:r>
                      <a:endParaRPr lang="en-US" sz="2000" b="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5.231</a:t>
                      </a:r>
                      <a:endParaRPr lang="en-US" sz="2000" b="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+2.6%***</a:t>
                      </a:r>
                      <a:endParaRPr lang="en-US" sz="2000" b="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531399"/>
                  </a:ext>
                </a:extLst>
              </a:tr>
              <a:tr h="510923">
                <a:tc>
                  <a:txBody>
                    <a:bodyPr/>
                    <a:lstStyle/>
                    <a:p>
                      <a:r>
                        <a:rPr lang="en-US" sz="2000" dirty="0"/>
                        <a:t>High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4.968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5.184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+4.3%***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958757"/>
                  </a:ext>
                </a:extLst>
              </a:tr>
              <a:tr h="510923">
                <a:tc>
                  <a:txBody>
                    <a:bodyPr/>
                    <a:lstStyle/>
                    <a:p>
                      <a:r>
                        <a:rPr lang="en-US" sz="2000" dirty="0"/>
                        <a:t>Severe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4.819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5.092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+5.7%***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147427"/>
                  </a:ext>
                </a:extLst>
              </a:tr>
            </a:tbl>
          </a:graphicData>
        </a:graphic>
      </p:graphicFrame>
      <p:sp>
        <p:nvSpPr>
          <p:cNvPr id="77" name="TextBox 73">
            <a:extLst>
              <a:ext uri="{FF2B5EF4-FFF2-40B4-BE49-F238E27FC236}">
                <a16:creationId xmlns:a16="http://schemas.microsoft.com/office/drawing/2014/main" id="{BE37E21D-EEEA-E7E1-A5F2-1362473E7033}"/>
              </a:ext>
            </a:extLst>
          </p:cNvPr>
          <p:cNvSpPr txBox="1"/>
          <p:nvPr/>
        </p:nvSpPr>
        <p:spPr>
          <a:xfrm>
            <a:off x="25264600" y="26801091"/>
            <a:ext cx="718075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 kern="1200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>
                <a:latin typeface="Titillium Web" panose="00000500000000000000" pitchFamily="2" charset="77"/>
              </a:rPr>
              <a:t>***p &lt; 0.001, Hedges' g = 1.7–2.4 (large to very large effects). Advantage grows as fatigue worsens; exactly when personalization matters most.</a:t>
            </a:r>
          </a:p>
          <a:p>
            <a:pPr algn="just"/>
            <a:endParaRPr lang="en-US" sz="2000" dirty="0">
              <a:latin typeface="Titillium Web" panose="00000500000000000000" pitchFamily="2" charset="77"/>
            </a:endParaRPr>
          </a:p>
          <a:p>
            <a:pPr algn="just"/>
            <a:r>
              <a:rPr lang="en-US" sz="2000" b="1" dirty="0">
                <a:latin typeface="Titillium Web" panose="00000500000000000000" pitchFamily="2" charset="77"/>
              </a:rPr>
              <a:t>Result 4: Robust Across Fatigue Model Assumptions</a:t>
            </a:r>
            <a:endParaRPr lang="en-US" sz="2000" dirty="0">
              <a:latin typeface="Titillium Web" panose="00000500000000000000" pitchFamily="2" charset="77"/>
            </a:endParaRPr>
          </a:p>
          <a:p>
            <a:pPr algn="just"/>
            <a:r>
              <a:rPr lang="en-US" sz="2000" dirty="0">
                <a:latin typeface="Titillium Web" panose="00000500000000000000" pitchFamily="2" charset="77"/>
              </a:rPr>
              <a:t>Tested under 4 different mathematical models of neural fatigue (n = 50 trials each):</a:t>
            </a:r>
          </a:p>
          <a:p>
            <a:pPr algn="just"/>
            <a:endParaRPr lang="en-US" sz="2000" dirty="0">
              <a:latin typeface="Titillium Web" panose="00000500000000000000" pitchFamily="2" charset="77"/>
            </a:endParaRPr>
          </a:p>
        </p:txBody>
      </p:sp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90992E9E-9956-6096-78C1-C635AE33D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763593"/>
              </p:ext>
            </p:extLst>
          </p:nvPr>
        </p:nvGraphicFramePr>
        <p:xfrm>
          <a:off x="25264601" y="29212462"/>
          <a:ext cx="7196598" cy="2590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433459">
                  <a:extLst>
                    <a:ext uri="{9D8B030D-6E8A-4147-A177-3AD203B41FA5}">
                      <a16:colId xmlns:a16="http://schemas.microsoft.com/office/drawing/2014/main" val="3839222090"/>
                    </a:ext>
                  </a:extLst>
                </a:gridCol>
                <a:gridCol w="1587713">
                  <a:extLst>
                    <a:ext uri="{9D8B030D-6E8A-4147-A177-3AD203B41FA5}">
                      <a16:colId xmlns:a16="http://schemas.microsoft.com/office/drawing/2014/main" val="50388315"/>
                    </a:ext>
                  </a:extLst>
                </a:gridCol>
                <a:gridCol w="1587713">
                  <a:extLst>
                    <a:ext uri="{9D8B030D-6E8A-4147-A177-3AD203B41FA5}">
                      <a16:colId xmlns:a16="http://schemas.microsoft.com/office/drawing/2014/main" val="1426794024"/>
                    </a:ext>
                  </a:extLst>
                </a:gridCol>
                <a:gridCol w="1587713">
                  <a:extLst>
                    <a:ext uri="{9D8B030D-6E8A-4147-A177-3AD203B41FA5}">
                      <a16:colId xmlns:a16="http://schemas.microsoft.com/office/drawing/2014/main" val="1992107126"/>
                    </a:ext>
                  </a:extLst>
                </a:gridCol>
              </a:tblGrid>
              <a:tr h="63313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Fatigue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Fixed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Adaptive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Hedges’ 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437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Exponential Decay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5.381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Titillium Web" panose="00000500000000000000" pitchFamily="2" charset="77"/>
                        </a:rPr>
                        <a:t>5.401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2.01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006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Step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4.947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Titillium Web" panose="00000500000000000000" pitchFamily="2" charset="77"/>
                        </a:rPr>
                        <a:t>5.361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Titillium Web" panose="00000500000000000000" pitchFamily="2" charset="77"/>
                        </a:rPr>
                        <a:t>1.21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811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tillium Web" panose="00000500000000000000" pitchFamily="2" charset="77"/>
                        </a:rPr>
                        <a:t>Heterogeneous (50/50)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tillium Web" panose="00000500000000000000" pitchFamily="2" charset="77"/>
                        </a:rPr>
                        <a:t>5.101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Titillium Web" panose="00000500000000000000" pitchFamily="2" charset="77"/>
                        </a:rPr>
                        <a:t>5.231</a:t>
                      </a:r>
                      <a:endParaRPr lang="en-US" sz="2000" b="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tillium Web" panose="00000500000000000000" pitchFamily="2" charset="77"/>
                        </a:rPr>
                        <a:t>1.71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531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Saturation (synaptic)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4.819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dk1"/>
                          </a:solidFill>
                          <a:effectLst/>
                          <a:latin typeface="Titillium Web" panose="00000500000000000000" pitchFamily="2" charset="77"/>
                        </a:rPr>
                        <a:t>5.092</a:t>
                      </a:r>
                      <a:endParaRPr lang="en-US" sz="2000" dirty="0">
                        <a:latin typeface="Titillium Web" panose="000005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tillium Web" panose="00000500000000000000" pitchFamily="2" charset="77"/>
                        </a:rPr>
                        <a:t>3.66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958757"/>
                  </a:ext>
                </a:extLst>
              </a:tr>
            </a:tbl>
          </a:graphicData>
        </a:graphic>
      </p:graphicFrame>
      <p:sp>
        <p:nvSpPr>
          <p:cNvPr id="79" name="Rectangle 5">
            <a:extLst>
              <a:ext uri="{FF2B5EF4-FFF2-40B4-BE49-F238E27FC236}">
                <a16:creationId xmlns:a16="http://schemas.microsoft.com/office/drawing/2014/main" id="{852567D3-ADAD-EB67-EF40-43A415ABB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04784" y="30650832"/>
            <a:ext cx="8204201" cy="539496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05740" tIns="51435" rIns="205740" bIns="51435" anchor="ctr"/>
          <a:lstStyle>
            <a:defPPr>
              <a:defRPr kern="1200"/>
            </a:defPPr>
          </a:lstStyle>
          <a:p>
            <a:pPr defTabSz="3527822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Future Directions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96B71751-AE73-DF03-DA64-0CEF436C5A7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74063" y="34242842"/>
            <a:ext cx="8241809" cy="2720440"/>
          </a:xfrm>
          <a:prstGeom prst="rect">
            <a:avLst/>
          </a:prstGeom>
        </p:spPr>
      </p:pic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7C358E8D-E08D-CF2B-4199-B6F259126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409443"/>
              </p:ext>
            </p:extLst>
          </p:nvPr>
        </p:nvGraphicFramePr>
        <p:xfrm>
          <a:off x="25290817" y="32843761"/>
          <a:ext cx="2232829" cy="294376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32829">
                  <a:extLst>
                    <a:ext uri="{9D8B030D-6E8A-4147-A177-3AD203B41FA5}">
                      <a16:colId xmlns:a16="http://schemas.microsoft.com/office/drawing/2014/main" val="2191578843"/>
                    </a:ext>
                  </a:extLst>
                </a:gridCol>
              </a:tblGrid>
              <a:tr h="99405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tillium Web" panose="00000500000000000000" pitchFamily="2" charset="77"/>
                        </a:rPr>
                        <a:t>72.1% Alignment</a:t>
                      </a:r>
                    </a:p>
                  </a:txBody>
                  <a:tcPr>
                    <a:solidFill>
                      <a:srgbClr val="F2D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437577"/>
                  </a:ext>
                </a:extLst>
              </a:tr>
              <a:tr h="9151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tillium Web" panose="00000500000000000000" pitchFamily="2" charset="77"/>
                        </a:rPr>
                        <a:t>vs. 64.5% </a:t>
                      </a:r>
                    </a:p>
                    <a:p>
                      <a:pPr algn="ctr"/>
                      <a:r>
                        <a:rPr lang="en-US" sz="2000" dirty="0">
                          <a:latin typeface="Titillium Web" panose="00000500000000000000" pitchFamily="2" charset="77"/>
                        </a:rPr>
                        <a:t>reactive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006189"/>
                  </a:ext>
                </a:extLst>
              </a:tr>
              <a:tr h="5172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tillium Web" panose="00000500000000000000" pitchFamily="2" charset="77"/>
                        </a:rPr>
                        <a:t>g = 1.31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811135"/>
                  </a:ext>
                </a:extLst>
              </a:tr>
              <a:tr h="51727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itillium Web" panose="00000500000000000000" pitchFamily="2" charset="77"/>
                        </a:rPr>
                        <a:t>p &lt; 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531399"/>
                  </a:ext>
                </a:extLst>
              </a:tr>
            </a:tbl>
          </a:graphicData>
        </a:graphic>
      </p:graphicFrame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3B21BA0B-A03A-7BC4-2052-B072662A6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208285"/>
              </p:ext>
            </p:extLst>
          </p:nvPr>
        </p:nvGraphicFramePr>
        <p:xfrm>
          <a:off x="27810195" y="32843761"/>
          <a:ext cx="2232829" cy="294376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32829">
                  <a:extLst>
                    <a:ext uri="{9D8B030D-6E8A-4147-A177-3AD203B41FA5}">
                      <a16:colId xmlns:a16="http://schemas.microsoft.com/office/drawing/2014/main" val="2191578843"/>
                    </a:ext>
                  </a:extLst>
                </a:gridCol>
              </a:tblGrid>
              <a:tr h="99405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tillium Web" panose="00000500000000000000" pitchFamily="2" charset="77"/>
                        </a:rPr>
                        <a:t>82.6% Low-PAC Targeting</a:t>
                      </a:r>
                    </a:p>
                  </a:txBody>
                  <a:tcPr>
                    <a:solidFill>
                      <a:srgbClr val="F2D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437577"/>
                  </a:ext>
                </a:extLst>
              </a:tr>
              <a:tr h="9151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tillium Web" panose="00000500000000000000" pitchFamily="2" charset="77"/>
                        </a:rPr>
                        <a:t>vs. 51.7% </a:t>
                      </a:r>
                    </a:p>
                    <a:p>
                      <a:pPr algn="ctr"/>
                      <a:r>
                        <a:rPr lang="en-US" sz="2000" dirty="0">
                          <a:latin typeface="Titillium Web" panose="00000500000000000000" pitchFamily="2" charset="77"/>
                        </a:rPr>
                        <a:t>reactive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006189"/>
                  </a:ext>
                </a:extLst>
              </a:tr>
              <a:tr h="51727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tillium Web" panose="00000500000000000000" pitchFamily="2" charset="77"/>
                        </a:rPr>
                        <a:t>g = 4.47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811135"/>
                  </a:ext>
                </a:extLst>
              </a:tr>
              <a:tr h="51727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itillium Web" panose="00000500000000000000" pitchFamily="2" charset="77"/>
                        </a:rPr>
                        <a:t>p &lt; 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531399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8686539-F9A7-FE85-AE9B-491A07A6E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040375"/>
              </p:ext>
            </p:extLst>
          </p:nvPr>
        </p:nvGraphicFramePr>
        <p:xfrm>
          <a:off x="30329573" y="32843760"/>
          <a:ext cx="2232829" cy="294376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32829">
                  <a:extLst>
                    <a:ext uri="{9D8B030D-6E8A-4147-A177-3AD203B41FA5}">
                      <a16:colId xmlns:a16="http://schemas.microsoft.com/office/drawing/2014/main" val="2191578843"/>
                    </a:ext>
                  </a:extLst>
                </a:gridCol>
              </a:tblGrid>
              <a:tr h="10302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tillium Web" panose="00000500000000000000" pitchFamily="2" charset="77"/>
                        </a:rPr>
                        <a:t>35/35 Subjects benefited</a:t>
                      </a:r>
                    </a:p>
                  </a:txBody>
                  <a:tcPr>
                    <a:solidFill>
                      <a:srgbClr val="F2D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437577"/>
                  </a:ext>
                </a:extLst>
              </a:tr>
              <a:tr h="5506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tillium Web" panose="00000500000000000000" pitchFamily="2" charset="77"/>
                        </a:rPr>
                        <a:t>Via EEG Replay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006189"/>
                  </a:ext>
                </a:extLst>
              </a:tr>
              <a:tr h="58841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tillium Web" panose="00000500000000000000" pitchFamily="2" charset="77"/>
                        </a:rPr>
                        <a:t>Binomial p &lt; 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811135"/>
                  </a:ext>
                </a:extLst>
              </a:tr>
              <a:tr h="774399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Titillium Web" panose="00000500000000000000" pitchFamily="2" charset="77"/>
                        </a:rPr>
                        <a:t>91% of oracle 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531399"/>
                  </a:ext>
                </a:extLst>
              </a:tr>
            </a:tbl>
          </a:graphicData>
        </a:graphic>
      </p:graphicFrame>
      <p:sp>
        <p:nvSpPr>
          <p:cNvPr id="90" name="TextBox 89">
            <a:extLst>
              <a:ext uri="{FF2B5EF4-FFF2-40B4-BE49-F238E27FC236}">
                <a16:creationId xmlns:a16="http://schemas.microsoft.com/office/drawing/2014/main" id="{0D01701E-1A1E-8520-982E-1DEC4A8B1CE3}"/>
              </a:ext>
            </a:extLst>
          </p:cNvPr>
          <p:cNvSpPr txBox="1"/>
          <p:nvPr/>
        </p:nvSpPr>
        <p:spPr>
          <a:xfrm>
            <a:off x="25327390" y="32077298"/>
            <a:ext cx="719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ctr"/>
            <a:r>
              <a:rPr lang="en-US" sz="2400" b="1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Summary of Key Results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CB556AF-FF7A-9334-5A79-351405A2BC45}"/>
              </a:ext>
            </a:extLst>
          </p:cNvPr>
          <p:cNvSpPr txBox="1"/>
          <p:nvPr/>
        </p:nvSpPr>
        <p:spPr>
          <a:xfrm>
            <a:off x="7923230" y="31345750"/>
            <a:ext cx="82042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Each horizon trains a separate model. Persistence works at 1-2s; the TCN's advantage emerges at 3-10s, the lead time needed for proactive control.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conceptualizingcobalt|08-2022"/>
</p:tagLst>
</file>

<file path=ppt/theme/theme1.xml><?xml version="1.0" encoding="utf-8"?>
<a:theme xmlns:a="http://schemas.openxmlformats.org/drawingml/2006/main" name="Default Design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3890</TotalTime>
  <Words>1899</Words>
  <Application>Microsoft Macintosh PowerPoint</Application>
  <PresentationFormat>Custom</PresentationFormat>
  <Paragraphs>268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Amaranth</vt:lpstr>
      <vt:lpstr>Titillium Web</vt:lpstr>
      <vt:lpstr>Symbol</vt:lpstr>
      <vt:lpstr>Arial</vt:lpstr>
      <vt:lpstr>Default Design</vt:lpstr>
      <vt:lpstr>PowerPoint Presentation</vt:lpstr>
    </vt:vector>
  </TitlesOfParts>
  <Company>Graphicsland/MAKESIGNS.COM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to create a scientific poster</dc:title>
  <dc:subject>Example Of A Sample Research Poster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Amaar Chughtai</cp:lastModifiedBy>
  <cp:revision>49</cp:revision>
  <dcterms:modified xsi:type="dcterms:W3CDTF">2026-04-07T00:33:30Z</dcterms:modified>
  <cp:category>scientific poster PowerPoint</cp:category>
</cp:coreProperties>
</file>