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8" r:id="rId10"/>
    <p:sldId id="264" r:id="rId11"/>
    <p:sldId id="265" r:id="rId12"/>
    <p:sldId id="266" r:id="rId13"/>
    <p:sldId id="267" r:id="rId14"/>
  </p:sldIdLst>
  <p:sldSz cx="10058400" cy="777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29"/>
    <p:restoredTop sz="94718"/>
  </p:normalViewPr>
  <p:slideViewPr>
    <p:cSldViewPr snapToGrid="0" snapToObjects="1">
      <p:cViewPr>
        <p:scale>
          <a:sx n="125" d="100"/>
          <a:sy n="125" d="100"/>
        </p:scale>
        <p:origin x="80" y="11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188719"/>
            <a:ext cx="8686800" cy="1188720"/>
          </a:xfrm>
          <a:prstGeom prst="rect">
            <a:avLst/>
          </a:prstGeom>
          <a:noFill/>
        </p:spPr>
        <p:txBody>
          <a:bodyPr wrap="square">
            <a:spAutoFit/>
          </a:bodyPr>
          <a:lstStyle/>
          <a:p>
            <a:pPr algn="ctr">
              <a:spcBef>
                <a:spcPts val="0"/>
              </a:spcBef>
              <a:spcAft>
                <a:spcPts val="0"/>
              </a:spcAft>
            </a:pPr>
            <a:r>
              <a:rPr sz="2600" b="1" i="0" dirty="0">
                <a:solidFill>
                  <a:srgbClr val="000000"/>
                </a:solidFill>
                <a:latin typeface="Times New Roman"/>
              </a:rPr>
              <a:t>Personalized Deep Learning Model for Closed-Loop 40 Hz Entrainment to Optimize Theta-Gamma Coupling in Alzheimer’s Disease</a:t>
            </a:r>
          </a:p>
        </p:txBody>
      </p:sp>
      <p:sp>
        <p:nvSpPr>
          <p:cNvPr id="3" name="TextBox 2"/>
          <p:cNvSpPr txBox="1"/>
          <p:nvPr/>
        </p:nvSpPr>
        <p:spPr>
          <a:xfrm>
            <a:off x="685800" y="2651760"/>
            <a:ext cx="8686800" cy="365760"/>
          </a:xfrm>
          <a:prstGeom prst="rect">
            <a:avLst/>
          </a:prstGeom>
          <a:noFill/>
        </p:spPr>
        <p:txBody>
          <a:bodyPr wrap="square">
            <a:spAutoFit/>
          </a:bodyPr>
          <a:lstStyle/>
          <a:p>
            <a:pPr algn="ctr">
              <a:spcBef>
                <a:spcPts val="0"/>
              </a:spcBef>
              <a:spcAft>
                <a:spcPts val="0"/>
              </a:spcAft>
            </a:pPr>
            <a:r>
              <a:rPr sz="1800" b="0" i="0">
                <a:solidFill>
                  <a:srgbClr val="000000"/>
                </a:solidFill>
                <a:latin typeface="Times New Roman"/>
              </a:rPr>
              <a:t>Amaar Chughtai</a:t>
            </a:r>
          </a:p>
        </p:txBody>
      </p:sp>
      <p:sp>
        <p:nvSpPr>
          <p:cNvPr id="4" name="TextBox 3"/>
          <p:cNvSpPr txBox="1"/>
          <p:nvPr/>
        </p:nvSpPr>
        <p:spPr>
          <a:xfrm>
            <a:off x="685800" y="3383280"/>
            <a:ext cx="8686800" cy="320040"/>
          </a:xfrm>
          <a:prstGeom prst="rect">
            <a:avLst/>
          </a:prstGeom>
          <a:noFill/>
        </p:spPr>
        <p:txBody>
          <a:bodyPr wrap="square">
            <a:spAutoFit/>
          </a:bodyPr>
          <a:lstStyle/>
          <a:p>
            <a:pPr algn="l">
              <a:spcBef>
                <a:spcPts val="0"/>
              </a:spcBef>
              <a:spcAft>
                <a:spcPts val="0"/>
              </a:spcAft>
            </a:pPr>
            <a:r>
              <a:rPr sz="1600" b="1" i="0">
                <a:solidFill>
                  <a:srgbClr val="000000"/>
                </a:solidFill>
                <a:latin typeface="Times New Roman"/>
              </a:rPr>
              <a:t>Project Summary</a:t>
            </a:r>
          </a:p>
        </p:txBody>
      </p:sp>
      <p:sp>
        <p:nvSpPr>
          <p:cNvPr id="5" name="TextBox 4"/>
          <p:cNvSpPr txBox="1"/>
          <p:nvPr/>
        </p:nvSpPr>
        <p:spPr>
          <a:xfrm>
            <a:off x="685800" y="3758184"/>
            <a:ext cx="8686800" cy="2800767"/>
          </a:xfrm>
          <a:prstGeom prst="rect">
            <a:avLst/>
          </a:prstGeom>
          <a:noFill/>
        </p:spPr>
        <p:txBody>
          <a:bodyPr wrap="square">
            <a:spAutoFit/>
          </a:bodyPr>
          <a:lstStyle/>
          <a:p>
            <a:pPr>
              <a:spcAft>
                <a:spcPts val="200"/>
              </a:spcAft>
            </a:pPr>
            <a:r>
              <a:rPr lang="en-US" sz="1600" dirty="0">
                <a:solidFill>
                  <a:srgbClr val="000000"/>
                </a:solidFill>
                <a:latin typeface="Times New Roman"/>
              </a:rPr>
              <a:t>This project develops a closed-loop deep learning system for personalized 40 Hz auditory entrainment therapy in Alzheimer's disease. Current protocols deliver stimulation on fixed schedules, ignoring individual neural responses and within-session habituation. Using EEG from 35 elderly subjects (OpenNeuro ds005048), I trained a causal Temporal Convolutional Network to forecast phase-amplitude coupling (PAC) 5 seconds ahead (test R² = 0.606 ± 0.032, 5 seeds) from 12 PAC and stimulation-context features that generalize across subjects unlike the full 73-feature set. The predictive controller directed stimulation to 82.6% of low-coupling windows versus 51.7% for reactive control (p &lt; 0.001, g = 4.47). Overall PAC alignment rose from 64.5% to 72.1% (g = 1.31), reaching 91% of the oracle’s targeting gap. All 35 subjects benefited in silico. These results demonstrate that PAC forecasting enables personalized 40 Hz therapy that outperforms fixed and reactive protocols, advancing treatment for Alzheimer's disease.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548640"/>
            <a:ext cx="8686800" cy="384048"/>
          </a:xfrm>
          <a:prstGeom prst="rect">
            <a:avLst/>
          </a:prstGeom>
          <a:noFill/>
        </p:spPr>
        <p:txBody>
          <a:bodyPr wrap="square">
            <a:spAutoFit/>
          </a:bodyPr>
          <a:lstStyle/>
          <a:p>
            <a:pPr algn="l">
              <a:spcBef>
                <a:spcPts val="0"/>
              </a:spcBef>
              <a:spcAft>
                <a:spcPts val="0"/>
              </a:spcAft>
            </a:pPr>
            <a:r>
              <a:rPr sz="2200" b="1" i="0">
                <a:solidFill>
                  <a:srgbClr val="000000"/>
                </a:solidFill>
                <a:latin typeface="Times New Roman"/>
              </a:rPr>
              <a:t>Introduction</a:t>
            </a:r>
          </a:p>
        </p:txBody>
      </p:sp>
      <p:cxnSp>
        <p:nvCxnSpPr>
          <p:cNvPr id="3" name="Connector 2"/>
          <p:cNvCxnSpPr/>
          <p:nvPr/>
        </p:nvCxnSpPr>
        <p:spPr>
          <a:xfrm>
            <a:off x="685800" y="932688"/>
            <a:ext cx="8686800" cy="0"/>
          </a:xfrm>
          <a:prstGeom prst="line">
            <a:avLst/>
          </a:prstGeom>
          <a:ln w="12700">
            <a:solidFill>
              <a:srgbClr val="3C3C3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060704"/>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Research Question</a:t>
            </a:r>
          </a:p>
        </p:txBody>
      </p:sp>
      <p:sp>
        <p:nvSpPr>
          <p:cNvPr id="5" name="TextBox 4"/>
          <p:cNvSpPr txBox="1"/>
          <p:nvPr/>
        </p:nvSpPr>
        <p:spPr>
          <a:xfrm>
            <a:off x="685800" y="1371600"/>
            <a:ext cx="8686800" cy="784830"/>
          </a:xfrm>
          <a:prstGeom prst="rect">
            <a:avLst/>
          </a:prstGeom>
          <a:noFill/>
        </p:spPr>
        <p:txBody>
          <a:bodyPr wrap="square">
            <a:spAutoFit/>
          </a:bodyPr>
          <a:lstStyle/>
          <a:p>
            <a:pPr algn="l">
              <a:spcBef>
                <a:spcPts val="0"/>
              </a:spcBef>
              <a:spcAft>
                <a:spcPts val="200"/>
              </a:spcAft>
            </a:pPr>
            <a:r>
              <a:rPr sz="1500" b="0" i="0" dirty="0">
                <a:solidFill>
                  <a:srgbClr val="000000"/>
                </a:solidFill>
                <a:latin typeface="Times New Roman"/>
              </a:rPr>
              <a:t>Can deep learning models trained on EEG-derived features forecast theta–gamma phase-amplitude coupling (PAC) dynamics 5</a:t>
            </a:r>
            <a:r>
              <a:rPr lang="en-US" sz="1500" b="0" i="0" dirty="0">
                <a:solidFill>
                  <a:srgbClr val="000000"/>
                </a:solidFill>
                <a:latin typeface="Times New Roman"/>
              </a:rPr>
              <a:t>-</a:t>
            </a:r>
            <a:r>
              <a:rPr sz="1500" b="0" i="0" dirty="0">
                <a:solidFill>
                  <a:srgbClr val="000000"/>
                </a:solidFill>
                <a:latin typeface="Times New Roman"/>
              </a:rPr>
              <a:t>10 seconds into the future, and does integrating such forecasts into a closed-loop controller produce measurable improvements in personalized 40 Hz entrainment therapy for Alzheimer’s disease?</a:t>
            </a:r>
          </a:p>
        </p:txBody>
      </p:sp>
      <p:sp>
        <p:nvSpPr>
          <p:cNvPr id="6" name="TextBox 5"/>
          <p:cNvSpPr txBox="1"/>
          <p:nvPr/>
        </p:nvSpPr>
        <p:spPr>
          <a:xfrm>
            <a:off x="685800" y="2346676"/>
            <a:ext cx="8686800" cy="1072088"/>
          </a:xfrm>
          <a:prstGeom prst="rect">
            <a:avLst/>
          </a:prstGeom>
          <a:noFill/>
        </p:spPr>
        <p:txBody>
          <a:bodyPr wrap="square">
            <a:spAutoFit/>
          </a:bodyPr>
          <a:lstStyle/>
          <a:p>
            <a:pPr algn="l">
              <a:spcAft>
                <a:spcPts val="200"/>
              </a:spcAft>
            </a:pPr>
            <a:r>
              <a:rPr sz="1700" b="1" i="0" dirty="0">
                <a:solidFill>
                  <a:srgbClr val="000000"/>
                </a:solidFill>
                <a:latin typeface="Times New Roman"/>
              </a:rPr>
              <a:t>Hypothesis</a:t>
            </a:r>
            <a:endParaRPr lang="en-US" sz="1700" b="1" dirty="0">
              <a:solidFill>
                <a:srgbClr val="000000"/>
              </a:solidFill>
              <a:latin typeface="Times New Roman"/>
            </a:endParaRPr>
          </a:p>
          <a:p>
            <a:pPr algn="l">
              <a:spcAft>
                <a:spcPts val="200"/>
              </a:spcAft>
            </a:pPr>
            <a:r>
              <a:rPr lang="en-US" sz="1500" b="0" i="0" dirty="0">
                <a:solidFill>
                  <a:srgbClr val="000000"/>
                </a:solidFill>
                <a:latin typeface="Times New Roman"/>
              </a:rPr>
              <a:t>A causal </a:t>
            </a:r>
            <a:r>
              <a:rPr sz="1500" b="0" i="0" dirty="0">
                <a:solidFill>
                  <a:srgbClr val="000000"/>
                </a:solidFill>
                <a:latin typeface="Times New Roman"/>
              </a:rPr>
              <a:t>Temporal Convolutional Network </a:t>
            </a:r>
            <a:r>
              <a:rPr lang="en-US" sz="1500" b="0" i="0" dirty="0">
                <a:solidFill>
                  <a:srgbClr val="000000"/>
                </a:solidFill>
                <a:latin typeface="Times New Roman"/>
              </a:rPr>
              <a:t>can forecast PAC (phase-amplitude coupling) at horizons beyond 3 seconds where simpler baselines fail, and integrating these </a:t>
            </a:r>
            <a:r>
              <a:rPr lang="en-US" sz="1500" dirty="0">
                <a:solidFill>
                  <a:srgbClr val="000000"/>
                </a:solidFill>
                <a:latin typeface="Times New Roman"/>
              </a:rPr>
              <a:t>f</a:t>
            </a:r>
            <a:r>
              <a:rPr lang="en-US" sz="1500" b="0" i="0" dirty="0">
                <a:solidFill>
                  <a:srgbClr val="000000"/>
                </a:solidFill>
                <a:latin typeface="Times New Roman"/>
              </a:rPr>
              <a:t>orecasts into a closed-loop controller will outperform reactive threshold control.</a:t>
            </a:r>
            <a:endParaRPr sz="1500" b="0" i="0" dirty="0">
              <a:solidFill>
                <a:srgbClr val="000000"/>
              </a:solidFill>
              <a:latin typeface="Times New Roman"/>
            </a:endParaRPr>
          </a:p>
        </p:txBody>
      </p:sp>
      <p:sp>
        <p:nvSpPr>
          <p:cNvPr id="7" name="TextBox 6"/>
          <p:cNvSpPr txBox="1"/>
          <p:nvPr/>
        </p:nvSpPr>
        <p:spPr>
          <a:xfrm>
            <a:off x="685800" y="3609011"/>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Project Origin</a:t>
            </a:r>
          </a:p>
        </p:txBody>
      </p:sp>
      <p:sp>
        <p:nvSpPr>
          <p:cNvPr id="8" name="TextBox 7"/>
          <p:cNvSpPr txBox="1"/>
          <p:nvPr/>
        </p:nvSpPr>
        <p:spPr>
          <a:xfrm>
            <a:off x="685800" y="3919907"/>
            <a:ext cx="8686800" cy="1384995"/>
          </a:xfrm>
          <a:prstGeom prst="rect">
            <a:avLst/>
          </a:prstGeom>
          <a:noFill/>
        </p:spPr>
        <p:txBody>
          <a:bodyPr wrap="square">
            <a:spAutoFit/>
          </a:bodyPr>
          <a:lstStyle/>
          <a:p>
            <a:pPr algn="l">
              <a:spcBef>
                <a:spcPts val="0"/>
              </a:spcBef>
              <a:spcAft>
                <a:spcPts val="200"/>
              </a:spcAft>
            </a:pPr>
            <a:r>
              <a:rPr sz="1400" b="0" i="0" dirty="0">
                <a:solidFill>
                  <a:srgbClr val="000000"/>
                </a:solidFill>
                <a:latin typeface="Times New Roman"/>
              </a:rPr>
              <a:t>I became interested in computational approaches to Alzheimer’s therapy after reading about the landmark Iaccarino et al. (2016) Nature study showing that 40 Hz sensory stimulation reduced amyloid-beta plaques in AD mouse models by up to 50%. Looking into human clinical translation, I noticed a </a:t>
            </a:r>
            <a:r>
              <a:rPr lang="en-US" sz="1400" dirty="0">
                <a:solidFill>
                  <a:srgbClr val="000000"/>
                </a:solidFill>
                <a:latin typeface="Times New Roman"/>
              </a:rPr>
              <a:t>gap of how </a:t>
            </a:r>
            <a:r>
              <a:rPr sz="1400" b="0" i="0" dirty="0">
                <a:solidFill>
                  <a:srgbClr val="000000"/>
                </a:solidFill>
                <a:latin typeface="Times New Roman"/>
              </a:rPr>
              <a:t>all existing protocols deliver stimulation on rigid fixed schedules that ignore individual neural responses</a:t>
            </a:r>
            <a:r>
              <a:rPr lang="en-US" sz="1400" dirty="0">
                <a:solidFill>
                  <a:srgbClr val="000000"/>
                </a:solidFill>
                <a:latin typeface="Times New Roman"/>
              </a:rPr>
              <a:t>, causing habituation and fatigue</a:t>
            </a:r>
            <a:r>
              <a:rPr sz="1400" b="0" i="0" dirty="0">
                <a:solidFill>
                  <a:srgbClr val="000000"/>
                </a:solidFill>
                <a:latin typeface="Times New Roman"/>
              </a:rPr>
              <a:t>. Approximately 30% of patients are non-responders (Fortunato et al., 2023), and habituation degrades entrainment within sessions</a:t>
            </a:r>
            <a:r>
              <a:rPr lang="en-US" sz="1400" b="0" i="0" dirty="0">
                <a:solidFill>
                  <a:srgbClr val="000000"/>
                </a:solidFill>
                <a:latin typeface="Times New Roman"/>
              </a:rPr>
              <a:t>,</a:t>
            </a:r>
            <a:r>
              <a:rPr sz="1400" b="0" i="0" dirty="0">
                <a:solidFill>
                  <a:srgbClr val="000000"/>
                </a:solidFill>
                <a:latin typeface="Times New Roman"/>
              </a:rPr>
              <a:t> yet fixed protocols cannot detect or adapt to these dynamics.</a:t>
            </a:r>
          </a:p>
        </p:txBody>
      </p:sp>
      <p:sp>
        <p:nvSpPr>
          <p:cNvPr id="9" name="TextBox 8"/>
          <p:cNvSpPr txBox="1"/>
          <p:nvPr/>
        </p:nvSpPr>
        <p:spPr>
          <a:xfrm>
            <a:off x="685800" y="5509152"/>
            <a:ext cx="8686800" cy="954107"/>
          </a:xfrm>
          <a:prstGeom prst="rect">
            <a:avLst/>
          </a:prstGeom>
          <a:noFill/>
        </p:spPr>
        <p:txBody>
          <a:bodyPr wrap="square">
            <a:spAutoFit/>
          </a:bodyPr>
          <a:lstStyle/>
          <a:p>
            <a:pPr algn="l">
              <a:spcBef>
                <a:spcPts val="0"/>
              </a:spcBef>
              <a:spcAft>
                <a:spcPts val="200"/>
              </a:spcAft>
            </a:pPr>
            <a:r>
              <a:rPr sz="1400" b="0" i="0" dirty="0">
                <a:solidFill>
                  <a:srgbClr val="000000"/>
                </a:solidFill>
                <a:latin typeface="Times New Roman"/>
              </a:rPr>
              <a:t>This observation led to my central question</a:t>
            </a:r>
            <a:r>
              <a:rPr lang="en-US" sz="1400" b="0" i="0" dirty="0">
                <a:solidFill>
                  <a:srgbClr val="000000"/>
                </a:solidFill>
                <a:latin typeface="Times New Roman"/>
              </a:rPr>
              <a:t> investigating how a</a:t>
            </a:r>
            <a:r>
              <a:rPr sz="1400" b="0" i="0" dirty="0">
                <a:solidFill>
                  <a:srgbClr val="000000"/>
                </a:solidFill>
                <a:latin typeface="Times New Roman"/>
              </a:rPr>
              <a:t> machine learning </a:t>
            </a:r>
            <a:r>
              <a:rPr lang="en-US" sz="1400" b="0" i="0" dirty="0">
                <a:solidFill>
                  <a:srgbClr val="000000"/>
                </a:solidFill>
                <a:latin typeface="Times New Roman"/>
              </a:rPr>
              <a:t>could </a:t>
            </a:r>
            <a:r>
              <a:rPr sz="1400" b="0" i="0" dirty="0">
                <a:solidFill>
                  <a:srgbClr val="000000"/>
                </a:solidFill>
                <a:latin typeface="Times New Roman"/>
              </a:rPr>
              <a:t>predict when a patient’s brain will lose entrainment, enabling proactive intervention</a:t>
            </a:r>
            <a:r>
              <a:rPr lang="en-US" sz="1400" b="0" i="0" dirty="0">
                <a:solidFill>
                  <a:srgbClr val="000000"/>
                </a:solidFill>
                <a:latin typeface="Times New Roman"/>
              </a:rPr>
              <a:t>.</a:t>
            </a:r>
            <a:r>
              <a:rPr sz="1400" b="0" i="0" dirty="0">
                <a:solidFill>
                  <a:srgbClr val="000000"/>
                </a:solidFill>
                <a:latin typeface="Times New Roman"/>
              </a:rPr>
              <a:t> I began this project in early 2026 using the publicly available OpenNeuro ds005048 EEG dataset. The project concept originated from my independent literature review and was not assigned as part of any class or institutional program.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548640"/>
            <a:ext cx="8686800" cy="310896"/>
          </a:xfrm>
          <a:prstGeom prst="rect">
            <a:avLst/>
          </a:prstGeom>
          <a:noFill/>
        </p:spPr>
        <p:txBody>
          <a:bodyPr wrap="square">
            <a:spAutoFit/>
          </a:bodyPr>
          <a:lstStyle/>
          <a:p>
            <a:pPr algn="l">
              <a:spcBef>
                <a:spcPts val="0"/>
              </a:spcBef>
              <a:spcAft>
                <a:spcPts val="0"/>
              </a:spcAft>
            </a:pPr>
            <a:r>
              <a:rPr sz="1700" b="1" i="0">
                <a:solidFill>
                  <a:srgbClr val="000000"/>
                </a:solidFill>
                <a:latin typeface="Times New Roman"/>
              </a:rPr>
              <a:t>Continuation</a:t>
            </a:r>
          </a:p>
        </p:txBody>
      </p:sp>
      <p:sp>
        <p:nvSpPr>
          <p:cNvPr id="3" name="TextBox 2"/>
          <p:cNvSpPr txBox="1"/>
          <p:nvPr/>
        </p:nvSpPr>
        <p:spPr>
          <a:xfrm>
            <a:off x="685800" y="859536"/>
            <a:ext cx="8686800" cy="328676"/>
          </a:xfrm>
          <a:prstGeom prst="rect">
            <a:avLst/>
          </a:prstGeom>
          <a:noFill/>
        </p:spPr>
        <p:txBody>
          <a:bodyPr wrap="square">
            <a:spAutoFit/>
          </a:bodyPr>
          <a:lstStyle/>
          <a:p>
            <a:pPr algn="l">
              <a:spcBef>
                <a:spcPts val="0"/>
              </a:spcBef>
              <a:spcAft>
                <a:spcPts val="200"/>
              </a:spcAft>
            </a:pPr>
            <a:r>
              <a:rPr sz="1400" b="0" i="0" dirty="0">
                <a:solidFill>
                  <a:srgbClr val="000000"/>
                </a:solidFill>
                <a:latin typeface="Times New Roman"/>
              </a:rPr>
              <a:t>None. This is not a continuation of any previous science fair project.</a:t>
            </a:r>
          </a:p>
        </p:txBody>
      </p:sp>
      <p:sp>
        <p:nvSpPr>
          <p:cNvPr id="4" name="TextBox 3"/>
          <p:cNvSpPr txBox="1"/>
          <p:nvPr/>
        </p:nvSpPr>
        <p:spPr>
          <a:xfrm>
            <a:off x="685800" y="1243076"/>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Work by Others</a:t>
            </a:r>
          </a:p>
        </p:txBody>
      </p:sp>
      <p:sp>
        <p:nvSpPr>
          <p:cNvPr id="5" name="TextBox 4"/>
          <p:cNvSpPr txBox="1"/>
          <p:nvPr/>
        </p:nvSpPr>
        <p:spPr>
          <a:xfrm>
            <a:off x="685800" y="1553972"/>
            <a:ext cx="8686800" cy="328676"/>
          </a:xfrm>
          <a:prstGeom prst="rect">
            <a:avLst/>
          </a:prstGeom>
          <a:noFill/>
        </p:spPr>
        <p:txBody>
          <a:bodyPr wrap="square">
            <a:spAutoFit/>
          </a:bodyPr>
          <a:lstStyle/>
          <a:p>
            <a:pPr algn="l">
              <a:spcBef>
                <a:spcPts val="0"/>
              </a:spcBef>
              <a:spcAft>
                <a:spcPts val="200"/>
              </a:spcAft>
            </a:pPr>
            <a:r>
              <a:rPr sz="1400" b="0" i="0">
                <a:solidFill>
                  <a:srgbClr val="000000"/>
                </a:solidFill>
                <a:latin typeface="Times New Roman"/>
              </a:rPr>
              <a:t>Key prior work relevant to this project:</a:t>
            </a:r>
          </a:p>
        </p:txBody>
      </p:sp>
      <p:sp>
        <p:nvSpPr>
          <p:cNvPr id="6" name="TextBox 5"/>
          <p:cNvSpPr txBox="1"/>
          <p:nvPr/>
        </p:nvSpPr>
        <p:spPr>
          <a:xfrm>
            <a:off x="960120" y="1846072"/>
            <a:ext cx="8412480" cy="4860305"/>
          </a:xfrm>
          <a:prstGeom prst="rect">
            <a:avLst/>
          </a:prstGeom>
          <a:noFill/>
        </p:spPr>
        <p:txBody>
          <a:bodyPr wrap="square">
            <a:spAutoFit/>
          </a:bodyPr>
          <a:lstStyle/>
          <a:p>
            <a:pPr marL="468630" indent="-285750" algn="l">
              <a:spcAft>
                <a:spcPts val="100"/>
              </a:spcAft>
              <a:buFont typeface="Arial" panose="020B0604020202020204" pitchFamily="34" charset="0"/>
              <a:buChar char="•"/>
            </a:pPr>
            <a:r>
              <a:rPr sz="1600" b="1" i="0" dirty="0">
                <a:solidFill>
                  <a:srgbClr val="000000"/>
                </a:solidFill>
                <a:latin typeface="Times New Roman"/>
              </a:rPr>
              <a:t>Iaccarino et al. (2016, Nature):</a:t>
            </a:r>
            <a:r>
              <a:rPr sz="1600" b="0" i="0" dirty="0">
                <a:solidFill>
                  <a:srgbClr val="000000"/>
                </a:solidFill>
                <a:latin typeface="Times New Roman"/>
              </a:rPr>
              <a:t> </a:t>
            </a:r>
            <a:r>
              <a:rPr lang="en-US" sz="1600" b="0" i="0" dirty="0">
                <a:solidFill>
                  <a:srgbClr val="000000"/>
                </a:solidFill>
                <a:latin typeface="Times New Roman"/>
              </a:rPr>
              <a:t>Foundational study discovering </a:t>
            </a:r>
            <a:r>
              <a:rPr sz="1600" b="0" i="0" dirty="0">
                <a:solidFill>
                  <a:srgbClr val="000000"/>
                </a:solidFill>
                <a:latin typeface="Times New Roman"/>
              </a:rPr>
              <a:t>40 Hz optogenetic and sensory stimulation reduced amyloid-beta by ~50% in AD mouse models through microglial activation</a:t>
            </a:r>
            <a:r>
              <a:rPr lang="en-US" sz="1600" b="0" i="0" dirty="0">
                <a:solidFill>
                  <a:srgbClr val="000000"/>
                </a:solidFill>
                <a:latin typeface="Times New Roman"/>
              </a:rPr>
              <a:t>.</a:t>
            </a:r>
          </a:p>
          <a:p>
            <a:pPr marL="468630" indent="-285750" algn="l">
              <a:spcAft>
                <a:spcPts val="100"/>
              </a:spcAft>
              <a:buFont typeface="Arial" panose="020B0604020202020204" pitchFamily="34" charset="0"/>
              <a:buChar char="•"/>
            </a:pPr>
            <a:r>
              <a:rPr lang="en-US" sz="1600" b="1" dirty="0">
                <a:solidFill>
                  <a:srgbClr val="000000"/>
                </a:solidFill>
                <a:latin typeface="Times New Roman"/>
              </a:rPr>
              <a:t>Murdock et al. (2024, Nature):</a:t>
            </a:r>
            <a:r>
              <a:rPr lang="en-US" sz="1600" dirty="0">
                <a:solidFill>
                  <a:srgbClr val="000000"/>
                </a:solidFill>
                <a:latin typeface="Times New Roman"/>
              </a:rPr>
              <a:t> Identified glymphatic clearance as a key mechanism; multisensory 40 Hz stimulation reduced neocortical plaque volume by 37% in 5XFAD mice.</a:t>
            </a:r>
            <a:endParaRPr lang="en-US" sz="1600" b="1" dirty="0">
              <a:solidFill>
                <a:srgbClr val="000000"/>
              </a:solidFill>
              <a:latin typeface="Times New Roman"/>
            </a:endParaRPr>
          </a:p>
          <a:p>
            <a:pPr marL="468630" indent="-285750">
              <a:spcAft>
                <a:spcPts val="100"/>
              </a:spcAft>
              <a:buFont typeface="Arial" panose="020B0604020202020204" pitchFamily="34" charset="0"/>
              <a:buChar char="•"/>
            </a:pPr>
            <a:r>
              <a:rPr lang="en-US" sz="1600" b="1" dirty="0">
                <a:solidFill>
                  <a:srgbClr val="000000"/>
                </a:solidFill>
                <a:latin typeface="Times New Roman"/>
              </a:rPr>
              <a:t>Chan et al. (2025, Alzheimer’s &amp; Dementia):</a:t>
            </a:r>
            <a:r>
              <a:rPr lang="en-US" sz="1600" dirty="0">
                <a:solidFill>
                  <a:srgbClr val="000000"/>
                </a:solidFill>
                <a:latin typeface="Times New Roman"/>
              </a:rPr>
              <a:t> Open-label extension study showing sustained EEG entrainment and reduced brain atrophy in mild AD patients with 40 Hz multisensory stimulation, first </a:t>
            </a:r>
            <a:r>
              <a:rPr lang="en-US" sz="1600" i="1" dirty="0">
                <a:solidFill>
                  <a:srgbClr val="000000"/>
                </a:solidFill>
                <a:latin typeface="Times New Roman"/>
              </a:rPr>
              <a:t>human evidence </a:t>
            </a:r>
            <a:r>
              <a:rPr lang="en-US" sz="1600" dirty="0">
                <a:solidFill>
                  <a:srgbClr val="000000"/>
                </a:solidFill>
                <a:latin typeface="Times New Roman"/>
              </a:rPr>
              <a:t>of target engagement at this scale.</a:t>
            </a:r>
            <a:endParaRPr lang="en-US" sz="1600" b="1" dirty="0">
              <a:solidFill>
                <a:srgbClr val="000000"/>
              </a:solidFill>
              <a:latin typeface="Times New Roman"/>
            </a:endParaRPr>
          </a:p>
          <a:p>
            <a:pPr marL="468630" indent="-285750">
              <a:spcAft>
                <a:spcPts val="100"/>
              </a:spcAft>
              <a:buFont typeface="Arial" panose="020B0604020202020204" pitchFamily="34" charset="0"/>
              <a:buChar char="•"/>
            </a:pPr>
            <a:r>
              <a:rPr lang="en-US" sz="1600" b="1" dirty="0">
                <a:solidFill>
                  <a:srgbClr val="000000"/>
                </a:solidFill>
                <a:latin typeface="Times New Roman"/>
              </a:rPr>
              <a:t>Fortunato et al. (2023, Frontiers in Neuroscience):</a:t>
            </a:r>
            <a:r>
              <a:rPr lang="en-US" sz="1600" dirty="0">
                <a:solidFill>
                  <a:srgbClr val="000000"/>
                </a:solidFill>
                <a:latin typeface="Times New Roman"/>
              </a:rPr>
              <a:t> Found ~30% non-responder rate in 40 Hz entrainment studies, motivating personalized/adaptive approach.</a:t>
            </a:r>
            <a:endParaRPr lang="en-US" sz="1600" b="1" dirty="0">
              <a:solidFill>
                <a:srgbClr val="000000"/>
              </a:solidFill>
              <a:latin typeface="Times New Roman"/>
            </a:endParaRPr>
          </a:p>
          <a:p>
            <a:pPr marL="468630" indent="-285750">
              <a:spcAft>
                <a:spcPts val="100"/>
              </a:spcAft>
              <a:buFont typeface="Arial" panose="020B0604020202020204" pitchFamily="34" charset="0"/>
              <a:buChar char="•"/>
            </a:pPr>
            <a:r>
              <a:rPr lang="en-US" sz="1600" b="1" dirty="0">
                <a:solidFill>
                  <a:srgbClr val="000000"/>
                </a:solidFill>
                <a:latin typeface="Times New Roman"/>
              </a:rPr>
              <a:t>Lahijanian et al. (2024, Scientific Reports):</a:t>
            </a:r>
            <a:r>
              <a:rPr lang="en-US" sz="1600" dirty="0">
                <a:solidFill>
                  <a:srgbClr val="000000"/>
                </a:solidFill>
                <a:latin typeface="Times New Roman"/>
              </a:rPr>
              <a:t> Created the OpenNeuro ds005048 dataset (35 elderly subjects, 40 Hz auditory entrainment), using theta-gamma PAC as the primary coupling measure, and showed enhanced default mode network connectivity.</a:t>
            </a:r>
            <a:endParaRPr lang="en-US" sz="1600" b="1" dirty="0">
              <a:solidFill>
                <a:srgbClr val="000000"/>
              </a:solidFill>
              <a:latin typeface="Times New Roman"/>
            </a:endParaRPr>
          </a:p>
          <a:p>
            <a:pPr marL="468630" indent="-285750">
              <a:spcAft>
                <a:spcPts val="100"/>
              </a:spcAft>
              <a:buFont typeface="Arial" panose="020B0604020202020204" pitchFamily="34" charset="0"/>
              <a:buChar char="•"/>
            </a:pPr>
            <a:r>
              <a:rPr lang="en-US" sz="1600" b="1" dirty="0">
                <a:solidFill>
                  <a:srgbClr val="000000"/>
                </a:solidFill>
                <a:latin typeface="Times New Roman"/>
              </a:rPr>
              <a:t>Lawhern et al. (2018, J Neural Engineering):</a:t>
            </a:r>
            <a:r>
              <a:rPr lang="en-US" sz="1600" dirty="0">
                <a:solidFill>
                  <a:srgbClr val="000000"/>
                </a:solidFill>
                <a:latin typeface="Times New Roman"/>
              </a:rPr>
              <a:t> Developed EEGNet, a compact CNN for brain-computer interfaces, which I adapted as the static PAC estimator.</a:t>
            </a:r>
            <a:endParaRPr lang="en-US" sz="1600" b="1" dirty="0">
              <a:solidFill>
                <a:srgbClr val="000000"/>
              </a:solidFill>
              <a:latin typeface="Times New Roman"/>
            </a:endParaRPr>
          </a:p>
          <a:p>
            <a:pPr marL="468630" indent="-285750">
              <a:spcAft>
                <a:spcPts val="100"/>
              </a:spcAft>
              <a:buFont typeface="Arial" panose="020B0604020202020204" pitchFamily="34" charset="0"/>
              <a:buChar char="•"/>
            </a:pPr>
            <a:r>
              <a:rPr lang="en-US" sz="1600" b="1" dirty="0">
                <a:solidFill>
                  <a:srgbClr val="000000"/>
                </a:solidFill>
                <a:latin typeface="Times New Roman"/>
              </a:rPr>
              <a:t>Tort et al. (2010, J Neurophysiology):</a:t>
            </a:r>
            <a:r>
              <a:rPr lang="en-US" sz="1600" dirty="0">
                <a:solidFill>
                  <a:srgbClr val="000000"/>
                </a:solidFill>
                <a:latin typeface="Times New Roman"/>
              </a:rPr>
              <a:t> Introduced the Modulation Index for calculating phase-amplitude coupling, used as the entrainment biomarker throughout this work.</a:t>
            </a:r>
            <a:endParaRPr lang="en-US" sz="1600" b="1" dirty="0">
              <a:solidFill>
                <a:srgbClr val="000000"/>
              </a:solidFill>
              <a:latin typeface="Times New Roman"/>
            </a:endParaRPr>
          </a:p>
          <a:p>
            <a:pPr marL="468630" indent="-285750">
              <a:spcAft>
                <a:spcPts val="100"/>
              </a:spcAft>
              <a:buFont typeface="Arial" panose="020B0604020202020204" pitchFamily="34" charset="0"/>
              <a:buChar char="•"/>
            </a:pPr>
            <a:r>
              <a:rPr lang="en-US" sz="1600" b="1" dirty="0">
                <a:solidFill>
                  <a:srgbClr val="000000"/>
                </a:solidFill>
                <a:latin typeface="Times New Roman"/>
              </a:rPr>
              <a:t>Jiao (2025, Frontiers in Digital Health):</a:t>
            </a:r>
            <a:r>
              <a:rPr lang="en-US" sz="1600" dirty="0">
                <a:solidFill>
                  <a:srgbClr val="000000"/>
                </a:solidFill>
                <a:latin typeface="Times New Roman"/>
              </a:rPr>
              <a:t> Advocated for AI-driven biofeedback for personalized digital therapeutics in gamma entrainment.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548640"/>
            <a:ext cx="8686800" cy="384048"/>
          </a:xfrm>
          <a:prstGeom prst="rect">
            <a:avLst/>
          </a:prstGeom>
          <a:noFill/>
        </p:spPr>
        <p:txBody>
          <a:bodyPr wrap="square">
            <a:spAutoFit/>
          </a:bodyPr>
          <a:lstStyle/>
          <a:p>
            <a:pPr algn="l">
              <a:spcBef>
                <a:spcPts val="0"/>
              </a:spcBef>
              <a:spcAft>
                <a:spcPts val="0"/>
              </a:spcAft>
            </a:pPr>
            <a:r>
              <a:rPr sz="2200" b="1" i="0">
                <a:solidFill>
                  <a:srgbClr val="000000"/>
                </a:solidFill>
                <a:latin typeface="Times New Roman"/>
              </a:rPr>
              <a:t>Methods</a:t>
            </a:r>
          </a:p>
        </p:txBody>
      </p:sp>
      <p:cxnSp>
        <p:nvCxnSpPr>
          <p:cNvPr id="3" name="Connector 2"/>
          <p:cNvCxnSpPr/>
          <p:nvPr/>
        </p:nvCxnSpPr>
        <p:spPr>
          <a:xfrm>
            <a:off x="685800" y="932688"/>
            <a:ext cx="8686800" cy="0"/>
          </a:xfrm>
          <a:prstGeom prst="line">
            <a:avLst/>
          </a:prstGeom>
          <a:ln w="12700">
            <a:solidFill>
              <a:srgbClr val="3C3C3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060704"/>
            <a:ext cx="8686800" cy="283464"/>
          </a:xfrm>
          <a:prstGeom prst="rect">
            <a:avLst/>
          </a:prstGeom>
          <a:noFill/>
        </p:spPr>
        <p:txBody>
          <a:bodyPr wrap="square">
            <a:spAutoFit/>
          </a:bodyPr>
          <a:lstStyle/>
          <a:p>
            <a:pPr algn="l">
              <a:spcBef>
                <a:spcPts val="0"/>
              </a:spcBef>
              <a:spcAft>
                <a:spcPts val="0"/>
              </a:spcAft>
            </a:pPr>
            <a:r>
              <a:rPr sz="1500" b="1" i="0">
                <a:solidFill>
                  <a:srgbClr val="000000"/>
                </a:solidFill>
                <a:latin typeface="Times New Roman"/>
              </a:rPr>
              <a:t>Dataset</a:t>
            </a:r>
          </a:p>
        </p:txBody>
      </p:sp>
      <p:sp>
        <p:nvSpPr>
          <p:cNvPr id="5" name="TextBox 4"/>
          <p:cNvSpPr txBox="1"/>
          <p:nvPr/>
        </p:nvSpPr>
        <p:spPr>
          <a:xfrm>
            <a:off x="960120" y="1344168"/>
            <a:ext cx="8412480" cy="992579"/>
          </a:xfrm>
          <a:prstGeom prst="rect">
            <a:avLst/>
          </a:prstGeom>
          <a:noFill/>
        </p:spPr>
        <p:txBody>
          <a:bodyPr wrap="square">
            <a:spAutoFit/>
          </a:bodyPr>
          <a:lstStyle/>
          <a:p>
            <a:pPr marL="468630" indent="-285750" algn="l">
              <a:spcAft>
                <a:spcPts val="100"/>
              </a:spcAft>
              <a:buFont typeface="Arial" panose="020B0604020202020204" pitchFamily="34" charset="0"/>
              <a:buChar char="•"/>
            </a:pPr>
            <a:r>
              <a:rPr sz="1400" b="0" i="0" dirty="0">
                <a:solidFill>
                  <a:srgbClr val="000000"/>
                </a:solidFill>
                <a:latin typeface="Times New Roman"/>
              </a:rPr>
              <a:t>OpenNeuro ds005048 (Lahijanian et al., 2024)</a:t>
            </a:r>
            <a:endParaRPr lang="en-US" sz="1400" dirty="0">
              <a:solidFill>
                <a:srgbClr val="000000"/>
              </a:solidFill>
              <a:latin typeface="Times New Roman"/>
            </a:endParaRPr>
          </a:p>
          <a:p>
            <a:pPr marL="468630" indent="-285750" algn="l">
              <a:spcAft>
                <a:spcPts val="100"/>
              </a:spcAft>
              <a:buFont typeface="Arial" panose="020B0604020202020204" pitchFamily="34" charset="0"/>
              <a:buChar char="•"/>
            </a:pPr>
            <a:r>
              <a:rPr lang="en-US" sz="1400" dirty="0">
                <a:solidFill>
                  <a:srgbClr val="000000"/>
                </a:solidFill>
                <a:latin typeface="Times New Roman"/>
              </a:rPr>
              <a:t>35 elderly subjects: Alzheimer’s disease (n = 17), MCI (n = 6), healthy controls (n = 10), unspecified (n = 2)</a:t>
            </a:r>
          </a:p>
          <a:p>
            <a:pPr marL="468630" indent="-285750">
              <a:spcAft>
                <a:spcPts val="100"/>
              </a:spcAft>
              <a:buFont typeface="Arial" panose="020B0604020202020204" pitchFamily="34" charset="0"/>
              <a:buChar char="•"/>
            </a:pPr>
            <a:r>
              <a:rPr lang="en-US" sz="1400" dirty="0">
                <a:solidFill>
                  <a:srgbClr val="000000"/>
                </a:solidFill>
                <a:latin typeface="Times New Roman"/>
              </a:rPr>
              <a:t>7 frontal EEG channels (Fp1, Fp2, F7, F3, Fz, F4, F8), sampled at 250 Hz</a:t>
            </a:r>
          </a:p>
          <a:p>
            <a:pPr marL="468630" indent="-285750">
              <a:spcAft>
                <a:spcPts val="100"/>
              </a:spcAft>
              <a:buFont typeface="Arial" panose="020B0604020202020204" pitchFamily="34" charset="0"/>
              <a:buChar char="•"/>
            </a:pPr>
            <a:r>
              <a:rPr lang="en-US" sz="1400" dirty="0">
                <a:solidFill>
                  <a:srgbClr val="000000"/>
                </a:solidFill>
                <a:latin typeface="Times New Roman"/>
              </a:rPr>
              <a:t>Protocol: 40 Hz auditory stimulation (40 s ON / 20 s OFF cycles)</a:t>
            </a:r>
          </a:p>
        </p:txBody>
      </p:sp>
      <p:sp>
        <p:nvSpPr>
          <p:cNvPr id="9" name="TextBox 8"/>
          <p:cNvSpPr txBox="1"/>
          <p:nvPr/>
        </p:nvSpPr>
        <p:spPr>
          <a:xfrm>
            <a:off x="685800" y="2353204"/>
            <a:ext cx="8686800" cy="283464"/>
          </a:xfrm>
          <a:prstGeom prst="rect">
            <a:avLst/>
          </a:prstGeom>
          <a:noFill/>
        </p:spPr>
        <p:txBody>
          <a:bodyPr wrap="square">
            <a:spAutoFit/>
          </a:bodyPr>
          <a:lstStyle/>
          <a:p>
            <a:pPr algn="l">
              <a:spcBef>
                <a:spcPts val="0"/>
              </a:spcBef>
              <a:spcAft>
                <a:spcPts val="0"/>
              </a:spcAft>
            </a:pPr>
            <a:r>
              <a:rPr sz="1500" b="1" i="0" dirty="0">
                <a:solidFill>
                  <a:srgbClr val="000000"/>
                </a:solidFill>
                <a:latin typeface="Times New Roman"/>
              </a:rPr>
              <a:t>Preprocessing</a:t>
            </a:r>
          </a:p>
        </p:txBody>
      </p:sp>
      <p:sp>
        <p:nvSpPr>
          <p:cNvPr id="10" name="TextBox 9"/>
          <p:cNvSpPr txBox="1"/>
          <p:nvPr/>
        </p:nvSpPr>
        <p:spPr>
          <a:xfrm>
            <a:off x="960120" y="2673121"/>
            <a:ext cx="8412480" cy="1220847"/>
          </a:xfrm>
          <a:prstGeom prst="rect">
            <a:avLst/>
          </a:prstGeom>
          <a:noFill/>
        </p:spPr>
        <p:txBody>
          <a:bodyPr wrap="square">
            <a:spAutoFit/>
          </a:bodyPr>
          <a:lstStyle/>
          <a:p>
            <a:pPr marL="468630" indent="-285750" algn="l">
              <a:spcAft>
                <a:spcPts val="100"/>
              </a:spcAft>
              <a:buFont typeface="Arial" panose="020B0604020202020204" pitchFamily="34" charset="0"/>
              <a:buChar char="•"/>
            </a:pPr>
            <a:r>
              <a:rPr sz="1400" b="0" i="0" dirty="0">
                <a:solidFill>
                  <a:srgbClr val="000000"/>
                </a:solidFill>
                <a:latin typeface="Times New Roman"/>
              </a:rPr>
              <a:t>Bandpass filter: 0.5–80 Hz (4th-order Butterworth, zero-phase)</a:t>
            </a:r>
            <a:endParaRPr lang="en-US" sz="1400" dirty="0">
              <a:solidFill>
                <a:srgbClr val="000000"/>
              </a:solidFill>
              <a:latin typeface="Times New Roman"/>
            </a:endParaRPr>
          </a:p>
          <a:p>
            <a:pPr marL="468630" indent="-285750" algn="l">
              <a:spcAft>
                <a:spcPts val="100"/>
              </a:spcAft>
              <a:buFont typeface="Arial" panose="020B0604020202020204" pitchFamily="34" charset="0"/>
              <a:buChar char="•"/>
            </a:pPr>
            <a:r>
              <a:rPr lang="en-US" sz="1400" dirty="0">
                <a:solidFill>
                  <a:srgbClr val="000000"/>
                </a:solidFill>
                <a:latin typeface="Times New Roman"/>
              </a:rPr>
              <a:t>Notch filter: 50 Hz (Q = 30) for power-line removal</a:t>
            </a:r>
          </a:p>
          <a:p>
            <a:pPr marL="468630" indent="-285750">
              <a:spcAft>
                <a:spcPts val="100"/>
              </a:spcAft>
              <a:buFont typeface="Arial" panose="020B0604020202020204" pitchFamily="34" charset="0"/>
              <a:buChar char="•"/>
            </a:pPr>
            <a:r>
              <a:rPr lang="en-US" sz="1400" dirty="0">
                <a:solidFill>
                  <a:srgbClr val="000000"/>
                </a:solidFill>
                <a:latin typeface="Times New Roman"/>
              </a:rPr>
              <a:t>Artifact rejection: ±100 µV threshold (applied before CAR)</a:t>
            </a:r>
          </a:p>
          <a:p>
            <a:pPr marL="468630" indent="-285750">
              <a:spcAft>
                <a:spcPts val="100"/>
              </a:spcAft>
              <a:buFont typeface="Arial" panose="020B0604020202020204" pitchFamily="34" charset="0"/>
              <a:buChar char="•"/>
            </a:pPr>
            <a:r>
              <a:rPr lang="en-US" sz="1400" dirty="0">
                <a:solidFill>
                  <a:srgbClr val="000000"/>
                </a:solidFill>
                <a:latin typeface="Times New Roman"/>
              </a:rPr>
              <a:t>Common average reference (after artifact rejection)</a:t>
            </a:r>
          </a:p>
          <a:p>
            <a:pPr marL="468630" indent="-285750">
              <a:spcAft>
                <a:spcPts val="100"/>
              </a:spcAft>
              <a:buFont typeface="Arial" panose="020B0604020202020204" pitchFamily="34" charset="0"/>
              <a:buChar char="•"/>
            </a:pPr>
            <a:r>
              <a:rPr lang="en-US" sz="1400" dirty="0">
                <a:solidFill>
                  <a:srgbClr val="000000"/>
                </a:solidFill>
                <a:latin typeface="Times New Roman"/>
              </a:rPr>
              <a:t>Windowing: 2-second windows (500 samples), 1-second hop</a:t>
            </a:r>
          </a:p>
        </p:txBody>
      </p:sp>
      <p:sp>
        <p:nvSpPr>
          <p:cNvPr id="15" name="TextBox 14"/>
          <p:cNvSpPr txBox="1"/>
          <p:nvPr/>
        </p:nvSpPr>
        <p:spPr>
          <a:xfrm>
            <a:off x="685800" y="3930421"/>
            <a:ext cx="8686800" cy="283464"/>
          </a:xfrm>
          <a:prstGeom prst="rect">
            <a:avLst/>
          </a:prstGeom>
          <a:noFill/>
        </p:spPr>
        <p:txBody>
          <a:bodyPr wrap="square">
            <a:spAutoFit/>
          </a:bodyPr>
          <a:lstStyle/>
          <a:p>
            <a:pPr algn="l">
              <a:spcBef>
                <a:spcPts val="0"/>
              </a:spcBef>
              <a:spcAft>
                <a:spcPts val="0"/>
              </a:spcAft>
            </a:pPr>
            <a:r>
              <a:rPr sz="1500" b="1" i="0" dirty="0">
                <a:solidFill>
                  <a:srgbClr val="000000"/>
                </a:solidFill>
                <a:latin typeface="Times New Roman"/>
              </a:rPr>
              <a:t>Subject-Level Data Splits (No Within-Subject Leakage)</a:t>
            </a:r>
          </a:p>
        </p:txBody>
      </p:sp>
      <p:sp>
        <p:nvSpPr>
          <p:cNvPr id="16" name="TextBox 15"/>
          <p:cNvSpPr txBox="1"/>
          <p:nvPr/>
        </p:nvSpPr>
        <p:spPr>
          <a:xfrm>
            <a:off x="960120" y="4257852"/>
            <a:ext cx="8412480" cy="992579"/>
          </a:xfrm>
          <a:prstGeom prst="rect">
            <a:avLst/>
          </a:prstGeom>
          <a:noFill/>
        </p:spPr>
        <p:txBody>
          <a:bodyPr wrap="square">
            <a:spAutoFit/>
          </a:bodyPr>
          <a:lstStyle/>
          <a:p>
            <a:pPr marL="468630" indent="-285750" algn="l">
              <a:spcAft>
                <a:spcPts val="100"/>
              </a:spcAft>
              <a:buFont typeface="Arial" panose="020B0604020202020204" pitchFamily="34" charset="0"/>
              <a:buChar char="•"/>
            </a:pPr>
            <a:r>
              <a:rPr sz="1400" b="0" i="0" dirty="0">
                <a:solidFill>
                  <a:srgbClr val="000000"/>
                </a:solidFill>
                <a:latin typeface="Times New Roman"/>
              </a:rPr>
              <a:t>Training: 24 subjects (11,736 windows)</a:t>
            </a:r>
            <a:endParaRPr lang="en-US" sz="1400" b="0" i="0" dirty="0">
              <a:solidFill>
                <a:srgbClr val="000000"/>
              </a:solidFill>
              <a:latin typeface="Times New Roman"/>
            </a:endParaRPr>
          </a:p>
          <a:p>
            <a:pPr marL="468630" indent="-285750">
              <a:spcAft>
                <a:spcPts val="100"/>
              </a:spcAft>
              <a:buFont typeface="Arial" panose="020B0604020202020204" pitchFamily="34" charset="0"/>
              <a:buChar char="•"/>
            </a:pPr>
            <a:r>
              <a:rPr lang="en-US" sz="1400" dirty="0">
                <a:solidFill>
                  <a:srgbClr val="000000"/>
                </a:solidFill>
                <a:latin typeface="Times New Roman"/>
              </a:rPr>
              <a:t>Validation: 5 subjects (2,725 windows)</a:t>
            </a:r>
          </a:p>
          <a:p>
            <a:pPr marL="468630" indent="-285750">
              <a:spcAft>
                <a:spcPts val="100"/>
              </a:spcAft>
              <a:buFont typeface="Arial" panose="020B0604020202020204" pitchFamily="34" charset="0"/>
              <a:buChar char="•"/>
            </a:pPr>
            <a:r>
              <a:rPr lang="en-US" sz="1400" dirty="0">
                <a:solidFill>
                  <a:srgbClr val="000000"/>
                </a:solidFill>
                <a:latin typeface="Times New Roman"/>
              </a:rPr>
              <a:t>Test: 6 subjects (2,822 windows), never seen during training or hyperparameter selection</a:t>
            </a:r>
          </a:p>
          <a:p>
            <a:pPr marL="468630" indent="-285750" algn="l">
              <a:spcAft>
                <a:spcPts val="100"/>
              </a:spcAft>
              <a:buFont typeface="Arial" panose="020B0604020202020204" pitchFamily="34" charset="0"/>
              <a:buChar char="•"/>
            </a:pPr>
            <a:endParaRPr sz="1400" b="0" i="0" dirty="0">
              <a:solidFill>
                <a:srgbClr val="000000"/>
              </a:solidFill>
              <a:latin typeface="Times New Roman"/>
            </a:endParaRPr>
          </a:p>
        </p:txBody>
      </p:sp>
      <p:sp>
        <p:nvSpPr>
          <p:cNvPr id="19" name="TextBox 18"/>
          <p:cNvSpPr txBox="1"/>
          <p:nvPr/>
        </p:nvSpPr>
        <p:spPr>
          <a:xfrm>
            <a:off x="685800" y="5149597"/>
            <a:ext cx="8686800" cy="283464"/>
          </a:xfrm>
          <a:prstGeom prst="rect">
            <a:avLst/>
          </a:prstGeom>
          <a:noFill/>
        </p:spPr>
        <p:txBody>
          <a:bodyPr wrap="square">
            <a:spAutoFit/>
          </a:bodyPr>
          <a:lstStyle/>
          <a:p>
            <a:pPr algn="l">
              <a:spcBef>
                <a:spcPts val="0"/>
              </a:spcBef>
              <a:spcAft>
                <a:spcPts val="0"/>
              </a:spcAft>
            </a:pPr>
            <a:r>
              <a:rPr sz="1500" b="1" i="0">
                <a:solidFill>
                  <a:srgbClr val="000000"/>
                </a:solidFill>
                <a:latin typeface="Times New Roman"/>
              </a:rPr>
              <a:t>Phase-Amplitude Coupling (PAC) Computation</a:t>
            </a:r>
          </a:p>
        </p:txBody>
      </p:sp>
      <p:sp>
        <p:nvSpPr>
          <p:cNvPr id="20" name="TextBox 19"/>
          <p:cNvSpPr txBox="1"/>
          <p:nvPr/>
        </p:nvSpPr>
        <p:spPr>
          <a:xfrm>
            <a:off x="960120" y="5503673"/>
            <a:ext cx="8412480" cy="1208023"/>
          </a:xfrm>
          <a:prstGeom prst="rect">
            <a:avLst/>
          </a:prstGeom>
          <a:noFill/>
        </p:spPr>
        <p:txBody>
          <a:bodyPr wrap="square">
            <a:spAutoFit/>
          </a:bodyPr>
          <a:lstStyle/>
          <a:p>
            <a:pPr marL="468630" indent="-285750" algn="l">
              <a:spcAft>
                <a:spcPts val="100"/>
              </a:spcAft>
              <a:buFont typeface="Arial" panose="020B0604020202020204" pitchFamily="34" charset="0"/>
              <a:buChar char="•"/>
            </a:pPr>
            <a:r>
              <a:rPr sz="1400" b="0" i="0" dirty="0">
                <a:solidFill>
                  <a:srgbClr val="000000"/>
                </a:solidFill>
                <a:latin typeface="Times New Roman"/>
              </a:rPr>
              <a:t>Modulation Index (Tort et al., 2010): measures coordination between theta phase (4</a:t>
            </a:r>
            <a:r>
              <a:rPr lang="en-US" sz="1400" b="0" i="0" dirty="0">
                <a:solidFill>
                  <a:srgbClr val="000000"/>
                </a:solidFill>
                <a:latin typeface="Times New Roman"/>
              </a:rPr>
              <a:t>-</a:t>
            </a:r>
            <a:r>
              <a:rPr sz="1400" b="0" i="0" dirty="0">
                <a:solidFill>
                  <a:srgbClr val="000000"/>
                </a:solidFill>
                <a:latin typeface="Times New Roman"/>
              </a:rPr>
              <a:t>8 Hz) and gamma amplitude (38</a:t>
            </a:r>
            <a:r>
              <a:rPr lang="en-US" sz="1400" b="0" i="0" dirty="0">
                <a:solidFill>
                  <a:srgbClr val="000000"/>
                </a:solidFill>
                <a:latin typeface="Times New Roman"/>
              </a:rPr>
              <a:t>-</a:t>
            </a:r>
            <a:r>
              <a:rPr sz="1400" b="0" i="0" dirty="0">
                <a:solidFill>
                  <a:srgbClr val="000000"/>
                </a:solidFill>
                <a:latin typeface="Times New Roman"/>
              </a:rPr>
              <a:t>42 Hz)</a:t>
            </a:r>
            <a:endParaRPr lang="en-US" sz="1400" dirty="0">
              <a:solidFill>
                <a:srgbClr val="000000"/>
              </a:solidFill>
              <a:latin typeface="Times New Roman"/>
            </a:endParaRPr>
          </a:p>
          <a:p>
            <a:pPr marL="468630" indent="-285750" algn="l">
              <a:spcAft>
                <a:spcPts val="100"/>
              </a:spcAft>
              <a:buFont typeface="Arial" panose="020B0604020202020204" pitchFamily="34" charset="0"/>
              <a:buChar char="•"/>
            </a:pPr>
            <a:r>
              <a:rPr lang="en-US" sz="1400" dirty="0">
                <a:solidFill>
                  <a:srgbClr val="000000"/>
                </a:solidFill>
                <a:latin typeface="Times New Roman"/>
              </a:rPr>
              <a:t>KL divergence from uniform distribution over 18 phase bins (20°)</a:t>
            </a:r>
          </a:p>
          <a:p>
            <a:pPr marL="468630" indent="-285750" algn="l">
              <a:spcAft>
                <a:spcPts val="100"/>
              </a:spcAft>
              <a:buFont typeface="Arial" panose="020B0604020202020204" pitchFamily="34" charset="0"/>
              <a:buChar char="•"/>
            </a:pPr>
            <a:r>
              <a:rPr lang="en-US" sz="1400" dirty="0">
                <a:solidFill>
                  <a:srgbClr val="000000"/>
                </a:solidFill>
                <a:latin typeface="Times New Roman"/>
              </a:rPr>
              <a:t>Computed at epoch level (20–40s); assigned to all constituent 2-second windows within each epoch</a:t>
            </a:r>
          </a:p>
          <a:p>
            <a:pPr marL="468630" indent="-285750" algn="l">
              <a:spcAft>
                <a:spcPts val="100"/>
              </a:spcAft>
              <a:buFont typeface="Arial" panose="020B0604020202020204" pitchFamily="34" charset="0"/>
              <a:buChar char="•"/>
            </a:pPr>
            <a:r>
              <a:rPr lang="en-US" sz="1400" dirty="0">
                <a:solidFill>
                  <a:srgbClr val="000000"/>
                </a:solidFill>
                <a:latin typeface="Times New Roman"/>
              </a:rPr>
              <a:t>Range: 6e-6 to 7e-4 (dimensionless MI units); mean approx. 4.4e-5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83958"/>
            <a:ext cx="8686800" cy="283464"/>
          </a:xfrm>
          <a:prstGeom prst="rect">
            <a:avLst/>
          </a:prstGeom>
          <a:noFill/>
        </p:spPr>
        <p:txBody>
          <a:bodyPr wrap="square">
            <a:spAutoFit/>
          </a:bodyPr>
          <a:lstStyle/>
          <a:p>
            <a:pPr algn="l">
              <a:spcBef>
                <a:spcPts val="0"/>
              </a:spcBef>
              <a:spcAft>
                <a:spcPts val="0"/>
              </a:spcAft>
            </a:pPr>
            <a:r>
              <a:rPr sz="1500" b="1" i="0" dirty="0">
                <a:solidFill>
                  <a:srgbClr val="000000"/>
                </a:solidFill>
                <a:latin typeface="Times New Roman"/>
              </a:rPr>
              <a:t>Feature Engineering: PAC + Stimulation Context (12 Features)</a:t>
            </a:r>
          </a:p>
        </p:txBody>
      </p:sp>
      <p:sp>
        <p:nvSpPr>
          <p:cNvPr id="3" name="TextBox 2"/>
          <p:cNvSpPr txBox="1"/>
          <p:nvPr/>
        </p:nvSpPr>
        <p:spPr>
          <a:xfrm>
            <a:off x="685800" y="683169"/>
            <a:ext cx="8686800" cy="1277620"/>
          </a:xfrm>
          <a:prstGeom prst="rect">
            <a:avLst/>
          </a:prstGeom>
          <a:noFill/>
        </p:spPr>
        <p:txBody>
          <a:bodyPr wrap="square">
            <a:spAutoFit/>
          </a:bodyPr>
          <a:lstStyle/>
          <a:p>
            <a:pPr algn="l">
              <a:spcBef>
                <a:spcPts val="0"/>
              </a:spcBef>
              <a:spcAft>
                <a:spcPts val="200"/>
              </a:spcAft>
            </a:pPr>
            <a:r>
              <a:rPr sz="1400" b="0" i="0" dirty="0">
                <a:solidFill>
                  <a:srgbClr val="000000"/>
                </a:solidFill>
                <a:latin typeface="Times New Roman"/>
              </a:rPr>
              <a:t>A feature ablation study revealed that 61 spectral features encode subject-specific EEG characteristics (likely reflecting individual anatomy and recording conditions) that do not generalize across subjects.  Dropping all spectral features and using only 12 PAC-derived and stimulation context features raised test R² from −0.025 (73 features) to 0.558 (12 features, single seed).  The 5-seed mean is R² = 0.606 ± 0.032, a 5× improvement over the prior TCN best of 0.121.</a:t>
            </a:r>
          </a:p>
        </p:txBody>
      </p:sp>
      <p:graphicFrame>
        <p:nvGraphicFramePr>
          <p:cNvPr id="4" name="Table 3"/>
          <p:cNvGraphicFramePr>
            <a:graphicFrameLocks noGrp="1"/>
          </p:cNvGraphicFramePr>
          <p:nvPr>
            <p:extLst>
              <p:ext uri="{D42A27DB-BD31-4B8C-83A1-F6EECF244321}">
                <p14:modId xmlns:p14="http://schemas.microsoft.com/office/powerpoint/2010/main" val="373833852"/>
              </p:ext>
            </p:extLst>
          </p:nvPr>
        </p:nvGraphicFramePr>
        <p:xfrm>
          <a:off x="1574799" y="1700186"/>
          <a:ext cx="7294879" cy="1524000"/>
        </p:xfrm>
        <a:graphic>
          <a:graphicData uri="http://schemas.openxmlformats.org/drawingml/2006/table">
            <a:tbl>
              <a:tblPr>
                <a:tableStyleId>{5C22544A-7EE6-4342-B048-85BDC9FD1C3A}</a:tableStyleId>
              </a:tblPr>
              <a:tblGrid>
                <a:gridCol w="3907971">
                  <a:extLst>
                    <a:ext uri="{9D8B030D-6E8A-4147-A177-3AD203B41FA5}">
                      <a16:colId xmlns:a16="http://schemas.microsoft.com/office/drawing/2014/main" val="20000"/>
                    </a:ext>
                  </a:extLst>
                </a:gridCol>
                <a:gridCol w="1563188">
                  <a:extLst>
                    <a:ext uri="{9D8B030D-6E8A-4147-A177-3AD203B41FA5}">
                      <a16:colId xmlns:a16="http://schemas.microsoft.com/office/drawing/2014/main" val="20001"/>
                    </a:ext>
                  </a:extLst>
                </a:gridCol>
                <a:gridCol w="1823720">
                  <a:extLst>
                    <a:ext uri="{9D8B030D-6E8A-4147-A177-3AD203B41FA5}">
                      <a16:colId xmlns:a16="http://schemas.microsoft.com/office/drawing/2014/main" val="20002"/>
                    </a:ext>
                  </a:extLst>
                </a:gridCol>
              </a:tblGrid>
              <a:tr h="248884">
                <a:tc>
                  <a:txBody>
                    <a:bodyPr/>
                    <a:lstStyle/>
                    <a:p>
                      <a:pPr algn="ctr"/>
                      <a:r>
                        <a:rPr sz="1400" b="1" i="0">
                          <a:solidFill>
                            <a:srgbClr val="FFFFFF"/>
                          </a:solidFill>
                          <a:latin typeface="Times New Roman"/>
                        </a:rPr>
                        <a:t>Feature Subset</a:t>
                      </a:r>
                    </a:p>
                  </a:txBody>
                  <a:tcPr anchor="ctr">
                    <a:solidFill>
                      <a:srgbClr val="282828"/>
                    </a:solidFill>
                  </a:tcPr>
                </a:tc>
                <a:tc>
                  <a:txBody>
                    <a:bodyPr/>
                    <a:lstStyle/>
                    <a:p>
                      <a:pPr algn="ctr"/>
                      <a:r>
                        <a:rPr sz="1400" b="1" i="0">
                          <a:solidFill>
                            <a:srgbClr val="FFFFFF"/>
                          </a:solidFill>
                          <a:latin typeface="Times New Roman"/>
                        </a:rPr>
                        <a:t># Features</a:t>
                      </a:r>
                    </a:p>
                  </a:txBody>
                  <a:tcPr anchor="ctr">
                    <a:solidFill>
                      <a:srgbClr val="282828"/>
                    </a:solidFill>
                  </a:tcPr>
                </a:tc>
                <a:tc>
                  <a:txBody>
                    <a:bodyPr/>
                    <a:lstStyle/>
                    <a:p>
                      <a:pPr algn="ctr"/>
                      <a:r>
                        <a:rPr sz="1400" b="1" i="0">
                          <a:solidFill>
                            <a:srgbClr val="FFFFFF"/>
                          </a:solidFill>
                          <a:latin typeface="Times New Roman"/>
                        </a:rPr>
                        <a:t>Test R²</a:t>
                      </a:r>
                    </a:p>
                  </a:txBody>
                  <a:tcPr anchor="ctr">
                    <a:solidFill>
                      <a:srgbClr val="282828"/>
                    </a:solidFill>
                  </a:tcPr>
                </a:tc>
                <a:extLst>
                  <a:ext uri="{0D108BD9-81ED-4DB2-BD59-A6C34878D82A}">
                    <a16:rowId xmlns:a16="http://schemas.microsoft.com/office/drawing/2014/main" val="10000"/>
                  </a:ext>
                </a:extLst>
              </a:tr>
              <a:tr h="248884">
                <a:tc>
                  <a:txBody>
                    <a:bodyPr/>
                    <a:lstStyle/>
                    <a:p>
                      <a:pPr algn="l"/>
                      <a:r>
                        <a:rPr sz="1400" b="0" i="0" dirty="0">
                          <a:solidFill>
                            <a:srgbClr val="000000"/>
                          </a:solidFill>
                          <a:latin typeface="Times New Roman"/>
                        </a:rPr>
                        <a:t>All (spectral + PAC + stim)</a:t>
                      </a:r>
                    </a:p>
                  </a:txBody>
                  <a:tcPr anchor="ctr">
                    <a:solidFill>
                      <a:srgbClr val="FFFFFF"/>
                    </a:solidFill>
                  </a:tcPr>
                </a:tc>
                <a:tc>
                  <a:txBody>
                    <a:bodyPr/>
                    <a:lstStyle/>
                    <a:p>
                      <a:pPr algn="ctr"/>
                      <a:r>
                        <a:rPr sz="1400" b="0" i="0">
                          <a:solidFill>
                            <a:srgbClr val="000000"/>
                          </a:solidFill>
                          <a:latin typeface="Times New Roman"/>
                        </a:rPr>
                        <a:t>73</a:t>
                      </a:r>
                    </a:p>
                  </a:txBody>
                  <a:tcPr anchor="ctr">
                    <a:solidFill>
                      <a:srgbClr val="FFFFFF"/>
                    </a:solidFill>
                  </a:tcPr>
                </a:tc>
                <a:tc>
                  <a:txBody>
                    <a:bodyPr/>
                    <a:lstStyle/>
                    <a:p>
                      <a:pPr algn="ctr"/>
                      <a:r>
                        <a:rPr sz="1400" b="0" i="0">
                          <a:solidFill>
                            <a:srgbClr val="000000"/>
                          </a:solidFill>
                          <a:latin typeface="Times New Roman"/>
                        </a:rPr>
                        <a:t>−0.025</a:t>
                      </a:r>
                    </a:p>
                  </a:txBody>
                  <a:tcPr anchor="ctr">
                    <a:solidFill>
                      <a:srgbClr val="FFFFFF"/>
                    </a:solidFill>
                  </a:tcPr>
                </a:tc>
                <a:extLst>
                  <a:ext uri="{0D108BD9-81ED-4DB2-BD59-A6C34878D82A}">
                    <a16:rowId xmlns:a16="http://schemas.microsoft.com/office/drawing/2014/main" val="10001"/>
                  </a:ext>
                </a:extLst>
              </a:tr>
              <a:tr h="248884">
                <a:tc>
                  <a:txBody>
                    <a:bodyPr/>
                    <a:lstStyle/>
                    <a:p>
                      <a:pPr algn="l"/>
                      <a:r>
                        <a:rPr sz="1400" b="0" i="0">
                          <a:solidFill>
                            <a:srgbClr val="000000"/>
                          </a:solidFill>
                          <a:latin typeface="Times New Roman"/>
                        </a:rPr>
                        <a:t>PAC only</a:t>
                      </a:r>
                    </a:p>
                  </a:txBody>
                  <a:tcPr anchor="ctr">
                    <a:solidFill>
                      <a:srgbClr val="F2F2F2"/>
                    </a:solidFill>
                  </a:tcPr>
                </a:tc>
                <a:tc>
                  <a:txBody>
                    <a:bodyPr/>
                    <a:lstStyle/>
                    <a:p>
                      <a:pPr algn="ctr"/>
                      <a:r>
                        <a:rPr sz="1400" b="0" i="0">
                          <a:solidFill>
                            <a:srgbClr val="000000"/>
                          </a:solidFill>
                          <a:latin typeface="Times New Roman"/>
                        </a:rPr>
                        <a:t>7</a:t>
                      </a:r>
                    </a:p>
                  </a:txBody>
                  <a:tcPr anchor="ctr">
                    <a:solidFill>
                      <a:srgbClr val="F2F2F2"/>
                    </a:solidFill>
                  </a:tcPr>
                </a:tc>
                <a:tc>
                  <a:txBody>
                    <a:bodyPr/>
                    <a:lstStyle/>
                    <a:p>
                      <a:pPr algn="ctr"/>
                      <a:r>
                        <a:rPr sz="1400" b="0" i="0">
                          <a:solidFill>
                            <a:srgbClr val="000000"/>
                          </a:solidFill>
                          <a:latin typeface="Times New Roman"/>
                        </a:rPr>
                        <a:t>0.344</a:t>
                      </a:r>
                    </a:p>
                  </a:txBody>
                  <a:tcPr anchor="ctr">
                    <a:solidFill>
                      <a:srgbClr val="F2F2F2"/>
                    </a:solidFill>
                  </a:tcPr>
                </a:tc>
                <a:extLst>
                  <a:ext uri="{0D108BD9-81ED-4DB2-BD59-A6C34878D82A}">
                    <a16:rowId xmlns:a16="http://schemas.microsoft.com/office/drawing/2014/main" val="10002"/>
                  </a:ext>
                </a:extLst>
              </a:tr>
              <a:tr h="248884">
                <a:tc>
                  <a:txBody>
                    <a:bodyPr/>
                    <a:lstStyle/>
                    <a:p>
                      <a:pPr algn="l"/>
                      <a:r>
                        <a:rPr sz="1400" b="1" i="0">
                          <a:solidFill>
                            <a:srgbClr val="000000"/>
                          </a:solidFill>
                          <a:latin typeface="Times New Roman"/>
                        </a:rPr>
                        <a:t>PAC + Stim context (final)</a:t>
                      </a:r>
                    </a:p>
                  </a:txBody>
                  <a:tcPr anchor="ctr">
                    <a:solidFill>
                      <a:srgbClr val="FFFFFF"/>
                    </a:solidFill>
                  </a:tcPr>
                </a:tc>
                <a:tc>
                  <a:txBody>
                    <a:bodyPr/>
                    <a:lstStyle/>
                    <a:p>
                      <a:pPr algn="ctr"/>
                      <a:r>
                        <a:rPr sz="1400" b="1" i="0">
                          <a:solidFill>
                            <a:srgbClr val="000000"/>
                          </a:solidFill>
                          <a:latin typeface="Times New Roman"/>
                        </a:rPr>
                        <a:t>12</a:t>
                      </a:r>
                    </a:p>
                  </a:txBody>
                  <a:tcPr anchor="ctr">
                    <a:solidFill>
                      <a:srgbClr val="FFFFFF"/>
                    </a:solidFill>
                  </a:tcPr>
                </a:tc>
                <a:tc>
                  <a:txBody>
                    <a:bodyPr/>
                    <a:lstStyle/>
                    <a:p>
                      <a:pPr algn="ctr"/>
                      <a:r>
                        <a:rPr sz="1400" b="1" i="0">
                          <a:solidFill>
                            <a:srgbClr val="000000"/>
                          </a:solidFill>
                          <a:latin typeface="Times New Roman"/>
                        </a:rPr>
                        <a:t>0.558*</a:t>
                      </a:r>
                    </a:p>
                  </a:txBody>
                  <a:tcPr anchor="ctr">
                    <a:solidFill>
                      <a:srgbClr val="FFFFFF"/>
                    </a:solidFill>
                  </a:tcPr>
                </a:tc>
                <a:extLst>
                  <a:ext uri="{0D108BD9-81ED-4DB2-BD59-A6C34878D82A}">
                    <a16:rowId xmlns:a16="http://schemas.microsoft.com/office/drawing/2014/main" val="10003"/>
                  </a:ext>
                </a:extLst>
              </a:tr>
              <a:tr h="248884">
                <a:tc>
                  <a:txBody>
                    <a:bodyPr/>
                    <a:lstStyle/>
                    <a:p>
                      <a:pPr algn="l"/>
                      <a:r>
                        <a:rPr sz="1400" b="0" i="0" dirty="0">
                          <a:solidFill>
                            <a:srgbClr val="000000"/>
                          </a:solidFill>
                          <a:latin typeface="Times New Roman"/>
                        </a:rPr>
                        <a:t>Spectral only</a:t>
                      </a:r>
                    </a:p>
                  </a:txBody>
                  <a:tcPr anchor="ctr">
                    <a:solidFill>
                      <a:srgbClr val="F2F2F2"/>
                    </a:solidFill>
                  </a:tcPr>
                </a:tc>
                <a:tc>
                  <a:txBody>
                    <a:bodyPr/>
                    <a:lstStyle/>
                    <a:p>
                      <a:pPr algn="ctr"/>
                      <a:r>
                        <a:rPr sz="1400" b="0" i="0">
                          <a:solidFill>
                            <a:srgbClr val="000000"/>
                          </a:solidFill>
                          <a:latin typeface="Times New Roman"/>
                        </a:rPr>
                        <a:t>61</a:t>
                      </a:r>
                    </a:p>
                  </a:txBody>
                  <a:tcPr anchor="ctr">
                    <a:solidFill>
                      <a:srgbClr val="F2F2F2"/>
                    </a:solidFill>
                  </a:tcPr>
                </a:tc>
                <a:tc>
                  <a:txBody>
                    <a:bodyPr/>
                    <a:lstStyle/>
                    <a:p>
                      <a:pPr algn="ctr"/>
                      <a:r>
                        <a:rPr sz="1400" b="0" i="0" dirty="0">
                          <a:solidFill>
                            <a:srgbClr val="000000"/>
                          </a:solidFill>
                          <a:latin typeface="Times New Roman"/>
                        </a:rPr>
                        <a:t>−0.420</a:t>
                      </a:r>
                    </a:p>
                  </a:txBody>
                  <a:tcPr anchor="ctr">
                    <a:solidFill>
                      <a:srgbClr val="F2F2F2"/>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85800" y="3314208"/>
            <a:ext cx="8686800" cy="256032"/>
          </a:xfrm>
          <a:prstGeom prst="rect">
            <a:avLst/>
          </a:prstGeom>
          <a:noFill/>
        </p:spPr>
        <p:txBody>
          <a:bodyPr wrap="square">
            <a:spAutoFit/>
          </a:bodyPr>
          <a:lstStyle/>
          <a:p>
            <a:pPr algn="l">
              <a:spcBef>
                <a:spcPts val="0"/>
              </a:spcBef>
              <a:spcAft>
                <a:spcPts val="200"/>
              </a:spcAft>
            </a:pPr>
            <a:r>
              <a:rPr sz="1100" b="0" i="1" dirty="0">
                <a:solidFill>
                  <a:srgbClr val="646464"/>
                </a:solidFill>
                <a:latin typeface="Times New Roman"/>
              </a:rPr>
              <a:t>*Single-seed ablation result.  5-seed mean: R² = 0.606 ± 0.032 (see Results, Table 3).</a:t>
            </a:r>
          </a:p>
        </p:txBody>
      </p:sp>
      <p:sp>
        <p:nvSpPr>
          <p:cNvPr id="6" name="TextBox 5"/>
          <p:cNvSpPr txBox="1"/>
          <p:nvPr/>
        </p:nvSpPr>
        <p:spPr>
          <a:xfrm>
            <a:off x="685800" y="3570240"/>
            <a:ext cx="8686800" cy="738664"/>
          </a:xfrm>
          <a:prstGeom prst="rect">
            <a:avLst/>
          </a:prstGeom>
          <a:noFill/>
        </p:spPr>
        <p:txBody>
          <a:bodyPr wrap="square">
            <a:spAutoFit/>
          </a:bodyPr>
          <a:lstStyle/>
          <a:p>
            <a:pPr algn="l">
              <a:spcBef>
                <a:spcPts val="0"/>
              </a:spcBef>
              <a:spcAft>
                <a:spcPts val="200"/>
              </a:spcAft>
            </a:pPr>
            <a:r>
              <a:rPr sz="1400" b="0" i="0" dirty="0">
                <a:solidFill>
                  <a:srgbClr val="000000"/>
                </a:solidFill>
                <a:latin typeface="Times New Roman"/>
              </a:rPr>
              <a:t>The 12 </a:t>
            </a:r>
            <a:r>
              <a:rPr sz="1400" b="0" i="0" dirty="0" err="1">
                <a:solidFill>
                  <a:srgbClr val="000000"/>
                </a:solidFill>
                <a:latin typeface="Times New Roman"/>
              </a:rPr>
              <a:t>PAC+Stim</a:t>
            </a:r>
            <a:r>
              <a:rPr sz="1400" b="0" i="0" dirty="0">
                <a:solidFill>
                  <a:srgbClr val="000000"/>
                </a:solidFill>
                <a:latin typeface="Times New Roman"/>
              </a:rPr>
              <a:t> features: PAC current value, causal moving averages (2, 4, 8, 16 windows), first-order and 4-step differences, stim state (binary), time since switch, stim fraction over 20s, cycle phase (sin + cos encoding).  All strictly causal.  Z-score normalized on training set only.</a:t>
            </a:r>
          </a:p>
        </p:txBody>
      </p:sp>
      <p:sp>
        <p:nvSpPr>
          <p:cNvPr id="7" name="TextBox 6"/>
          <p:cNvSpPr txBox="1"/>
          <p:nvPr/>
        </p:nvSpPr>
        <p:spPr>
          <a:xfrm>
            <a:off x="685800" y="4308904"/>
            <a:ext cx="8686800" cy="323165"/>
          </a:xfrm>
          <a:prstGeom prst="rect">
            <a:avLst/>
          </a:prstGeom>
          <a:noFill/>
        </p:spPr>
        <p:txBody>
          <a:bodyPr wrap="square">
            <a:spAutoFit/>
          </a:bodyPr>
          <a:lstStyle/>
          <a:p>
            <a:pPr algn="l">
              <a:spcBef>
                <a:spcPts val="0"/>
              </a:spcBef>
              <a:spcAft>
                <a:spcPts val="0"/>
              </a:spcAft>
            </a:pPr>
            <a:r>
              <a:rPr sz="1500" b="1" i="0" dirty="0">
                <a:solidFill>
                  <a:srgbClr val="000000"/>
                </a:solidFill>
                <a:latin typeface="Times New Roman"/>
              </a:rPr>
              <a:t>EEGNet </a:t>
            </a:r>
            <a:r>
              <a:rPr lang="en-US" sz="1500" b="1" i="0" dirty="0">
                <a:solidFill>
                  <a:srgbClr val="000000"/>
                </a:solidFill>
                <a:latin typeface="Times New Roman"/>
              </a:rPr>
              <a:t>(</a:t>
            </a:r>
            <a:r>
              <a:rPr sz="1500" b="1" i="0" dirty="0">
                <a:solidFill>
                  <a:srgbClr val="000000"/>
                </a:solidFill>
                <a:latin typeface="Times New Roman"/>
              </a:rPr>
              <a:t>Static PAC Estimator</a:t>
            </a:r>
            <a:r>
              <a:rPr lang="en-US" sz="1500" b="1" i="0" dirty="0">
                <a:solidFill>
                  <a:srgbClr val="000000"/>
                </a:solidFill>
                <a:latin typeface="Times New Roman"/>
              </a:rPr>
              <a:t>)</a:t>
            </a:r>
            <a:endParaRPr sz="1500" b="1" i="0" dirty="0">
              <a:solidFill>
                <a:srgbClr val="000000"/>
              </a:solidFill>
              <a:latin typeface="Times New Roman"/>
            </a:endParaRPr>
          </a:p>
        </p:txBody>
      </p:sp>
      <p:sp>
        <p:nvSpPr>
          <p:cNvPr id="8" name="TextBox 7"/>
          <p:cNvSpPr txBox="1"/>
          <p:nvPr/>
        </p:nvSpPr>
        <p:spPr>
          <a:xfrm>
            <a:off x="604520" y="4615372"/>
            <a:ext cx="8412480" cy="992579"/>
          </a:xfrm>
          <a:prstGeom prst="rect">
            <a:avLst/>
          </a:prstGeom>
          <a:noFill/>
        </p:spPr>
        <p:txBody>
          <a:bodyPr wrap="square">
            <a:spAutoFit/>
          </a:bodyPr>
          <a:lstStyle/>
          <a:p>
            <a:pPr marL="468630" indent="-285750" algn="l">
              <a:spcAft>
                <a:spcPts val="100"/>
              </a:spcAft>
              <a:buFont typeface="Arial" panose="020B0604020202020204" pitchFamily="34" charset="0"/>
              <a:buChar char="•"/>
            </a:pPr>
            <a:r>
              <a:rPr sz="1400" b="0" i="0" dirty="0">
                <a:solidFill>
                  <a:srgbClr val="000000"/>
                </a:solidFill>
                <a:latin typeface="Times New Roman"/>
              </a:rPr>
              <a:t>Input: (batch, 1, 7, 500)</a:t>
            </a:r>
            <a:r>
              <a:rPr lang="en-US" sz="1400" b="0" i="0" dirty="0">
                <a:solidFill>
                  <a:srgbClr val="000000"/>
                </a:solidFill>
                <a:latin typeface="Times New Roman"/>
              </a:rPr>
              <a:t>.</a:t>
            </a:r>
            <a:r>
              <a:rPr sz="1400" b="0" i="0" dirty="0">
                <a:solidFill>
                  <a:srgbClr val="000000"/>
                </a:solidFill>
                <a:latin typeface="Times New Roman"/>
              </a:rPr>
              <a:t> 7 channels, 2</a:t>
            </a:r>
            <a:r>
              <a:rPr lang="en-US" sz="1400" b="0" i="0" dirty="0">
                <a:solidFill>
                  <a:srgbClr val="000000"/>
                </a:solidFill>
                <a:latin typeface="Times New Roman"/>
              </a:rPr>
              <a:t>s </a:t>
            </a:r>
            <a:r>
              <a:rPr sz="1400" b="0" i="0" dirty="0">
                <a:solidFill>
                  <a:srgbClr val="000000"/>
                </a:solidFill>
                <a:latin typeface="Times New Roman"/>
              </a:rPr>
              <a:t>at 250 Hz</a:t>
            </a:r>
            <a:endParaRPr lang="en-US" sz="1400" dirty="0">
              <a:solidFill>
                <a:srgbClr val="000000"/>
              </a:solidFill>
              <a:latin typeface="Times New Roman"/>
            </a:endParaRPr>
          </a:p>
          <a:p>
            <a:pPr marL="468630" indent="-285750">
              <a:spcAft>
                <a:spcPts val="100"/>
              </a:spcAft>
              <a:buFont typeface="Arial" panose="020B0604020202020204" pitchFamily="34" charset="0"/>
              <a:buChar char="•"/>
            </a:pPr>
            <a:r>
              <a:rPr lang="en-US" sz="1400" dirty="0">
                <a:solidFill>
                  <a:srgbClr val="000000"/>
                </a:solidFill>
                <a:latin typeface="Times New Roman"/>
              </a:rPr>
              <a:t>Block 1: temporal convolution (8 filters, 256 ms kernel) + </a:t>
            </a:r>
            <a:r>
              <a:rPr lang="en-US" sz="1400" dirty="0" err="1">
                <a:solidFill>
                  <a:srgbClr val="000000"/>
                </a:solidFill>
                <a:latin typeface="Times New Roman"/>
              </a:rPr>
              <a:t>depthwise</a:t>
            </a:r>
            <a:r>
              <a:rPr lang="en-US" sz="1400" dirty="0">
                <a:solidFill>
                  <a:srgbClr val="000000"/>
                </a:solidFill>
                <a:latin typeface="Times New Roman"/>
              </a:rPr>
              <a:t> spatial convolution across 7 channels</a:t>
            </a:r>
          </a:p>
          <a:p>
            <a:pPr marL="468630" indent="-285750">
              <a:spcAft>
                <a:spcPts val="100"/>
              </a:spcAft>
              <a:buFont typeface="Arial" panose="020B0604020202020204" pitchFamily="34" charset="0"/>
              <a:buChar char="•"/>
            </a:pPr>
            <a:r>
              <a:rPr lang="en-US" sz="1400" dirty="0">
                <a:solidFill>
                  <a:srgbClr val="000000"/>
                </a:solidFill>
                <a:latin typeface="Times New Roman"/>
              </a:rPr>
              <a:t>Block 2: separable convolution (16 filters); fully connected regression head outputting scalar PAC prediction</a:t>
            </a:r>
          </a:p>
          <a:p>
            <a:pPr marL="468630" indent="-285750">
              <a:spcAft>
                <a:spcPts val="100"/>
              </a:spcAft>
              <a:buFont typeface="Arial" panose="020B0604020202020204" pitchFamily="34" charset="0"/>
              <a:buChar char="•"/>
            </a:pPr>
            <a:r>
              <a:rPr lang="en-US" sz="1400" dirty="0">
                <a:solidFill>
                  <a:srgbClr val="000000"/>
                </a:solidFill>
                <a:latin typeface="Times New Roman"/>
              </a:rPr>
              <a:t>1,457 parameters; MSE loss; Adam optimizer; test R² = 0.287 (data-imposed ceiling; best epoch 53)</a:t>
            </a:r>
          </a:p>
        </p:txBody>
      </p:sp>
      <p:sp>
        <p:nvSpPr>
          <p:cNvPr id="12" name="TextBox 11"/>
          <p:cNvSpPr txBox="1"/>
          <p:nvPr/>
        </p:nvSpPr>
        <p:spPr>
          <a:xfrm>
            <a:off x="685800" y="5677201"/>
            <a:ext cx="8686800" cy="323165"/>
          </a:xfrm>
          <a:prstGeom prst="rect">
            <a:avLst/>
          </a:prstGeom>
          <a:noFill/>
        </p:spPr>
        <p:txBody>
          <a:bodyPr wrap="square">
            <a:spAutoFit/>
          </a:bodyPr>
          <a:lstStyle/>
          <a:p>
            <a:pPr algn="l">
              <a:spcBef>
                <a:spcPts val="0"/>
              </a:spcBef>
              <a:spcAft>
                <a:spcPts val="0"/>
              </a:spcAft>
            </a:pPr>
            <a:r>
              <a:rPr sz="1500" b="1" i="0" dirty="0">
                <a:solidFill>
                  <a:srgbClr val="000000"/>
                </a:solidFill>
                <a:latin typeface="Times New Roman"/>
              </a:rPr>
              <a:t>MultiscaleCausalTCN</a:t>
            </a:r>
            <a:r>
              <a:rPr lang="en-US" sz="1500" b="1" i="0" dirty="0">
                <a:solidFill>
                  <a:srgbClr val="000000"/>
                </a:solidFill>
                <a:latin typeface="Times New Roman"/>
              </a:rPr>
              <a:t> (Temporal Forecaster)</a:t>
            </a:r>
            <a:endParaRPr sz="1500" b="1" i="0" dirty="0">
              <a:solidFill>
                <a:srgbClr val="000000"/>
              </a:solidFill>
              <a:latin typeface="Times New Roman"/>
            </a:endParaRPr>
          </a:p>
        </p:txBody>
      </p:sp>
      <p:sp>
        <p:nvSpPr>
          <p:cNvPr id="13" name="TextBox 12"/>
          <p:cNvSpPr txBox="1"/>
          <p:nvPr/>
        </p:nvSpPr>
        <p:spPr>
          <a:xfrm>
            <a:off x="604520" y="5987463"/>
            <a:ext cx="8412480" cy="1436291"/>
          </a:xfrm>
          <a:prstGeom prst="rect">
            <a:avLst/>
          </a:prstGeom>
          <a:noFill/>
        </p:spPr>
        <p:txBody>
          <a:bodyPr wrap="square">
            <a:spAutoFit/>
          </a:bodyPr>
          <a:lstStyle/>
          <a:p>
            <a:pPr marL="468630" indent="-285750" algn="l">
              <a:spcAft>
                <a:spcPts val="100"/>
              </a:spcAft>
              <a:buFont typeface="Arial" panose="020B0604020202020204" pitchFamily="34" charset="0"/>
              <a:buChar char="•"/>
            </a:pPr>
            <a:r>
              <a:rPr sz="1400" b="0" i="0" dirty="0">
                <a:solidFill>
                  <a:srgbClr val="000000"/>
                </a:solidFill>
                <a:latin typeface="Times New Roman"/>
              </a:rPr>
              <a:t>Input: (batch, 20, 12) — 20-step lookback (20 seconds) × 12 </a:t>
            </a:r>
            <a:r>
              <a:rPr sz="1400" b="0" i="0" dirty="0" err="1">
                <a:solidFill>
                  <a:srgbClr val="000000"/>
                </a:solidFill>
                <a:latin typeface="Times New Roman"/>
              </a:rPr>
              <a:t>PAC+Stim</a:t>
            </a:r>
            <a:r>
              <a:rPr sz="1400" b="0" i="0" dirty="0">
                <a:solidFill>
                  <a:srgbClr val="000000"/>
                </a:solidFill>
                <a:latin typeface="Times New Roman"/>
              </a:rPr>
              <a:t> features</a:t>
            </a:r>
            <a:endParaRPr lang="en-US" sz="1400" b="0" i="0" dirty="0">
              <a:solidFill>
                <a:srgbClr val="000000"/>
              </a:solidFill>
              <a:latin typeface="Times New Roman"/>
            </a:endParaRPr>
          </a:p>
          <a:p>
            <a:pPr marL="468630" indent="-285750">
              <a:spcAft>
                <a:spcPts val="100"/>
              </a:spcAft>
              <a:buFont typeface="Arial" panose="020B0604020202020204" pitchFamily="34" charset="0"/>
              <a:buChar char="•"/>
            </a:pPr>
            <a:r>
              <a:rPr lang="en-US" sz="1400" dirty="0">
                <a:solidFill>
                  <a:srgbClr val="000000"/>
                </a:solidFill>
                <a:latin typeface="Times New Roman"/>
              </a:rPr>
              <a:t>4 causal </a:t>
            </a:r>
            <a:r>
              <a:rPr lang="en-US" sz="1400" dirty="0" err="1">
                <a:solidFill>
                  <a:srgbClr val="000000"/>
                </a:solidFill>
                <a:latin typeface="Times New Roman"/>
              </a:rPr>
              <a:t>depthwise</a:t>
            </a:r>
            <a:r>
              <a:rPr lang="en-US" sz="1400" dirty="0">
                <a:solidFill>
                  <a:srgbClr val="000000"/>
                </a:solidFill>
                <a:latin typeface="Times New Roman"/>
              </a:rPr>
              <a:t>-separable conv blocks with dilations [1, 2, 4, 8]; effective receptive field = 31 time steps</a:t>
            </a:r>
          </a:p>
          <a:p>
            <a:pPr marL="468630" indent="-285750">
              <a:spcAft>
                <a:spcPts val="100"/>
              </a:spcAft>
              <a:buFont typeface="Arial" panose="020B0604020202020204" pitchFamily="34" charset="0"/>
              <a:buChar char="•"/>
            </a:pPr>
            <a:r>
              <a:rPr lang="en-US" sz="1400" dirty="0" err="1">
                <a:solidFill>
                  <a:srgbClr val="000000"/>
                </a:solidFill>
                <a:latin typeface="Times New Roman"/>
              </a:rPr>
              <a:t>GroupNorm</a:t>
            </a:r>
            <a:r>
              <a:rPr lang="en-US" sz="1400" dirty="0">
                <a:solidFill>
                  <a:srgbClr val="000000"/>
                </a:solidFill>
                <a:latin typeface="Times New Roman"/>
              </a:rPr>
              <a:t> + </a:t>
            </a:r>
            <a:r>
              <a:rPr lang="en-US" sz="1400" dirty="0" err="1">
                <a:solidFill>
                  <a:srgbClr val="000000"/>
                </a:solidFill>
                <a:latin typeface="Times New Roman"/>
              </a:rPr>
              <a:t>SiLU</a:t>
            </a:r>
            <a:r>
              <a:rPr lang="en-US" sz="1400" dirty="0">
                <a:solidFill>
                  <a:srgbClr val="000000"/>
                </a:solidFill>
                <a:latin typeface="Times New Roman"/>
              </a:rPr>
              <a:t> activation; attention pooling; dual-head output (future PAC + delta-PAC)</a:t>
            </a:r>
          </a:p>
          <a:p>
            <a:pPr marL="468630" indent="-285750">
              <a:spcAft>
                <a:spcPts val="100"/>
              </a:spcAft>
              <a:buFont typeface="Arial" panose="020B0604020202020204" pitchFamily="34" charset="0"/>
              <a:buChar char="•"/>
            </a:pPr>
            <a:r>
              <a:rPr lang="en-US" sz="1400" dirty="0">
                <a:solidFill>
                  <a:srgbClr val="000000"/>
                </a:solidFill>
                <a:latin typeface="Times New Roman"/>
              </a:rPr>
              <a:t>22,914 parameters (h = 64); Huber loss; </a:t>
            </a:r>
            <a:r>
              <a:rPr lang="en-US" sz="1400" dirty="0" err="1">
                <a:solidFill>
                  <a:srgbClr val="000000"/>
                </a:solidFill>
                <a:latin typeface="Times New Roman"/>
              </a:rPr>
              <a:t>AdamW</a:t>
            </a:r>
            <a:r>
              <a:rPr lang="en-US" sz="1400" dirty="0">
                <a:solidFill>
                  <a:srgbClr val="000000"/>
                </a:solidFill>
                <a:latin typeface="Times New Roman"/>
              </a:rPr>
              <a:t>; early stopping (patience = 20 epochs)</a:t>
            </a:r>
          </a:p>
          <a:p>
            <a:pPr marL="468630" indent="-285750">
              <a:spcAft>
                <a:spcPts val="100"/>
              </a:spcAft>
              <a:buFont typeface="Arial" panose="020B0604020202020204" pitchFamily="34" charset="0"/>
              <a:buChar char="•"/>
            </a:pPr>
            <a:r>
              <a:rPr lang="en-US" sz="1400" dirty="0">
                <a:solidFill>
                  <a:srgbClr val="000000"/>
                </a:solidFill>
                <a:latin typeface="Times New Roman"/>
              </a:rPr>
              <a:t>5-second prediction horizon; test R² = 0.606 (7ch, 5-seed mean 0.606 ± 0.032, range 0.558-0.647); 4ch test R² = 0.430 (h = 32, 5,154 params)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99898"/>
            <a:ext cx="8686800" cy="283464"/>
          </a:xfrm>
          <a:prstGeom prst="rect">
            <a:avLst/>
          </a:prstGeom>
          <a:noFill/>
        </p:spPr>
        <p:txBody>
          <a:bodyPr wrap="square">
            <a:spAutoFit/>
          </a:bodyPr>
          <a:lstStyle/>
          <a:p>
            <a:pPr algn="l">
              <a:spcBef>
                <a:spcPts val="0"/>
              </a:spcBef>
              <a:spcAft>
                <a:spcPts val="0"/>
              </a:spcAft>
            </a:pPr>
            <a:r>
              <a:rPr sz="1500" b="1" i="0" dirty="0">
                <a:solidFill>
                  <a:srgbClr val="000000"/>
                </a:solidFill>
                <a:latin typeface="Times New Roman"/>
              </a:rPr>
              <a:t>Closed-Loop Controller Design</a:t>
            </a:r>
          </a:p>
        </p:txBody>
      </p:sp>
      <p:sp>
        <p:nvSpPr>
          <p:cNvPr id="3" name="TextBox 2"/>
          <p:cNvSpPr txBox="1"/>
          <p:nvPr/>
        </p:nvSpPr>
        <p:spPr>
          <a:xfrm>
            <a:off x="822960" y="683361"/>
            <a:ext cx="8412480" cy="1436291"/>
          </a:xfrm>
          <a:prstGeom prst="rect">
            <a:avLst/>
          </a:prstGeom>
          <a:noFill/>
        </p:spPr>
        <p:txBody>
          <a:bodyPr wrap="square">
            <a:spAutoFit/>
          </a:bodyPr>
          <a:lstStyle/>
          <a:p>
            <a:pPr marL="468630" indent="-285750" algn="l">
              <a:spcAft>
                <a:spcPts val="100"/>
              </a:spcAft>
              <a:buFont typeface="Arial" panose="020B0604020202020204" pitchFamily="34" charset="0"/>
              <a:buChar char="•"/>
            </a:pPr>
            <a:r>
              <a:rPr sz="1400" b="1" i="0" dirty="0">
                <a:solidFill>
                  <a:srgbClr val="000000"/>
                </a:solidFill>
                <a:latin typeface="Times New Roman"/>
              </a:rPr>
              <a:t>Personalization:</a:t>
            </a:r>
            <a:r>
              <a:rPr sz="1400" b="0" i="0" dirty="0">
                <a:solidFill>
                  <a:srgbClr val="000000"/>
                </a:solidFill>
                <a:latin typeface="Times New Roman"/>
              </a:rPr>
              <a:t> 30-second rolling baseline per subject; z-score = (PAC − </a:t>
            </a:r>
            <a:r>
              <a:rPr sz="1400" b="0" i="0" dirty="0" err="1">
                <a:solidFill>
                  <a:srgbClr val="000000"/>
                </a:solidFill>
                <a:latin typeface="Times New Roman"/>
              </a:rPr>
              <a:t>μ</a:t>
            </a:r>
            <a:r>
              <a:rPr sz="1400" b="0" i="0" dirty="0">
                <a:solidFill>
                  <a:srgbClr val="000000"/>
                </a:solidFill>
                <a:latin typeface="Times New Roman"/>
              </a:rPr>
              <a:t>) / </a:t>
            </a:r>
            <a:r>
              <a:rPr lang="el-GR" sz="1400" b="0" i="0" dirty="0">
                <a:solidFill>
                  <a:srgbClr val="000000"/>
                </a:solidFill>
                <a:latin typeface="Times New Roman"/>
              </a:rPr>
              <a:t>σ</a:t>
            </a:r>
            <a:endParaRPr lang="en-US" sz="1400" dirty="0">
              <a:solidFill>
                <a:srgbClr val="000000"/>
              </a:solidFill>
              <a:latin typeface="Times New Roman"/>
            </a:endParaRPr>
          </a:p>
          <a:p>
            <a:pPr marL="468630" indent="-285750" algn="l">
              <a:spcAft>
                <a:spcPts val="100"/>
              </a:spcAft>
              <a:buFont typeface="Arial" panose="020B0604020202020204" pitchFamily="34" charset="0"/>
              <a:buChar char="•"/>
            </a:pPr>
            <a:r>
              <a:rPr lang="en-US" sz="1400" b="1" dirty="0">
                <a:solidFill>
                  <a:srgbClr val="000000"/>
                </a:solidFill>
                <a:latin typeface="Times New Roman"/>
              </a:rPr>
              <a:t>Decision:</a:t>
            </a:r>
            <a:r>
              <a:rPr lang="en-US" sz="1400" dirty="0">
                <a:solidFill>
                  <a:srgbClr val="000000"/>
                </a:solidFill>
                <a:latin typeface="Times New Roman"/>
              </a:rPr>
              <a:t> z &lt; −0.5 → STIMULATE; z &gt; +0.5 → REST; else MAINTAIN current state</a:t>
            </a:r>
          </a:p>
          <a:p>
            <a:pPr marL="468630" indent="-285750">
              <a:spcAft>
                <a:spcPts val="100"/>
              </a:spcAft>
              <a:buFont typeface="Arial" panose="020B0604020202020204" pitchFamily="34" charset="0"/>
              <a:buChar char="•"/>
            </a:pPr>
            <a:r>
              <a:rPr lang="en-US" sz="1400" dirty="0">
                <a:solidFill>
                  <a:srgbClr val="000000"/>
                </a:solidFill>
                <a:latin typeface="Times New Roman"/>
              </a:rPr>
              <a:t>5-second hysteresis to prevent rapid state oscillation</a:t>
            </a:r>
          </a:p>
          <a:p>
            <a:pPr marL="468630" indent="-285750">
              <a:spcAft>
                <a:spcPts val="100"/>
              </a:spcAft>
              <a:buFont typeface="Arial" panose="020B0604020202020204" pitchFamily="34" charset="0"/>
              <a:buChar char="•"/>
            </a:pPr>
            <a:r>
              <a:rPr lang="en-US" sz="1400" b="1" dirty="0">
                <a:solidFill>
                  <a:srgbClr val="000000"/>
                </a:solidFill>
                <a:latin typeface="Times New Roman"/>
              </a:rPr>
              <a:t>Variants compared:</a:t>
            </a:r>
            <a:r>
              <a:rPr lang="en-US" sz="1400" dirty="0">
                <a:solidFill>
                  <a:srgbClr val="000000"/>
                </a:solidFill>
                <a:latin typeface="Times New Roman"/>
              </a:rPr>
              <a:t> Fixed Schedule (40 s ON / 20 s OFF), Reactive Threshold, TCN Predictive, Hybrid, PI Controller, Alignment Oracle (perfect hindsight upper bound)</a:t>
            </a:r>
          </a:p>
          <a:p>
            <a:pPr marL="468630" indent="-285750" algn="l">
              <a:spcAft>
                <a:spcPts val="100"/>
              </a:spcAft>
              <a:buFont typeface="Arial" panose="020B0604020202020204" pitchFamily="34" charset="0"/>
              <a:buChar char="•"/>
            </a:pPr>
            <a:endParaRPr lang="en-US" sz="1400" dirty="0">
              <a:solidFill>
                <a:srgbClr val="000000"/>
              </a:solidFill>
              <a:latin typeface="Times New Roman"/>
            </a:endParaRPr>
          </a:p>
        </p:txBody>
      </p:sp>
      <p:sp>
        <p:nvSpPr>
          <p:cNvPr id="7" name="TextBox 6"/>
          <p:cNvSpPr txBox="1"/>
          <p:nvPr/>
        </p:nvSpPr>
        <p:spPr>
          <a:xfrm>
            <a:off x="548640" y="2007728"/>
            <a:ext cx="8686800" cy="283464"/>
          </a:xfrm>
          <a:prstGeom prst="rect">
            <a:avLst/>
          </a:prstGeom>
          <a:noFill/>
        </p:spPr>
        <p:txBody>
          <a:bodyPr wrap="square">
            <a:spAutoFit/>
          </a:bodyPr>
          <a:lstStyle/>
          <a:p>
            <a:pPr algn="l">
              <a:spcBef>
                <a:spcPts val="0"/>
              </a:spcBef>
              <a:spcAft>
                <a:spcPts val="0"/>
              </a:spcAft>
            </a:pPr>
            <a:r>
              <a:rPr sz="1500" b="1" i="0" dirty="0">
                <a:solidFill>
                  <a:srgbClr val="000000"/>
                </a:solidFill>
                <a:latin typeface="Times New Roman"/>
              </a:rPr>
              <a:t>Validation Protocol</a:t>
            </a:r>
          </a:p>
        </p:txBody>
      </p:sp>
      <p:sp>
        <p:nvSpPr>
          <p:cNvPr id="8" name="TextBox 7"/>
          <p:cNvSpPr txBox="1"/>
          <p:nvPr/>
        </p:nvSpPr>
        <p:spPr>
          <a:xfrm>
            <a:off x="822960" y="2291192"/>
            <a:ext cx="8412480" cy="1423467"/>
          </a:xfrm>
          <a:prstGeom prst="rect">
            <a:avLst/>
          </a:prstGeom>
          <a:noFill/>
        </p:spPr>
        <p:txBody>
          <a:bodyPr wrap="square">
            <a:spAutoFit/>
          </a:bodyPr>
          <a:lstStyle/>
          <a:p>
            <a:pPr marL="468630" indent="-285750" algn="l">
              <a:spcAft>
                <a:spcPts val="100"/>
              </a:spcAft>
              <a:buFont typeface="Arial" panose="020B0604020202020204" pitchFamily="34" charset="0"/>
              <a:buChar char="•"/>
            </a:pPr>
            <a:r>
              <a:rPr sz="1400" b="1" i="0" dirty="0">
                <a:solidFill>
                  <a:srgbClr val="000000"/>
                </a:solidFill>
                <a:latin typeface="Times New Roman"/>
              </a:rPr>
              <a:t>Offline counterfactual replay</a:t>
            </a:r>
            <a:r>
              <a:rPr sz="1400" b="0" i="0" dirty="0">
                <a:solidFill>
                  <a:srgbClr val="000000"/>
                </a:solidFill>
                <a:latin typeface="Times New Roman"/>
              </a:rPr>
              <a:t> on all 35 </a:t>
            </a:r>
            <a:r>
              <a:rPr lang="en-US" sz="1400" b="0" i="0" dirty="0">
                <a:solidFill>
                  <a:srgbClr val="000000"/>
                </a:solidFill>
                <a:latin typeface="Times New Roman"/>
              </a:rPr>
              <a:t>subjects’</a:t>
            </a:r>
            <a:r>
              <a:rPr sz="1400" b="0" i="0" dirty="0">
                <a:solidFill>
                  <a:srgbClr val="000000"/>
                </a:solidFill>
                <a:latin typeface="Times New Roman"/>
              </a:rPr>
              <a:t> recorded EE</a:t>
            </a:r>
            <a:r>
              <a:rPr lang="en-US" sz="1400" b="0" i="0" dirty="0">
                <a:solidFill>
                  <a:srgbClr val="000000"/>
                </a:solidFill>
                <a:latin typeface="Times New Roman"/>
              </a:rPr>
              <a:t>G from OpenNeuro dataset</a:t>
            </a:r>
            <a:endParaRPr lang="en-US" sz="1400" dirty="0">
              <a:solidFill>
                <a:srgbClr val="000000"/>
              </a:solidFill>
              <a:latin typeface="Times New Roman"/>
            </a:endParaRPr>
          </a:p>
          <a:p>
            <a:pPr marL="468630" indent="-285750">
              <a:spcAft>
                <a:spcPts val="100"/>
              </a:spcAft>
              <a:buFont typeface="Arial" panose="020B0604020202020204" pitchFamily="34" charset="0"/>
              <a:buChar char="•"/>
            </a:pPr>
            <a:r>
              <a:rPr lang="en-US" sz="1400" dirty="0">
                <a:solidFill>
                  <a:srgbClr val="000000"/>
                </a:solidFill>
                <a:latin typeface="Times New Roman"/>
              </a:rPr>
              <a:t>Ground-truth PAC labels used as TCN input to isolate the forecaster’s contribution from EEGNet error</a:t>
            </a:r>
          </a:p>
          <a:p>
            <a:pPr marL="468630" indent="-285750">
              <a:spcAft>
                <a:spcPts val="100"/>
              </a:spcAft>
              <a:buFont typeface="Arial" panose="020B0604020202020204" pitchFamily="34" charset="0"/>
              <a:buChar char="•"/>
            </a:pPr>
            <a:r>
              <a:rPr lang="en-US" sz="1400" b="1" dirty="0">
                <a:solidFill>
                  <a:srgbClr val="000000"/>
                </a:solidFill>
                <a:latin typeface="Times New Roman"/>
              </a:rPr>
              <a:t>Validation metrics:</a:t>
            </a:r>
            <a:r>
              <a:rPr lang="en-US" sz="1400" dirty="0">
                <a:solidFill>
                  <a:srgbClr val="000000"/>
                </a:solidFill>
                <a:latin typeface="Times New Roman"/>
              </a:rPr>
              <a:t> Alignment = mean of Low-PAC Stim Rate and High-PAC Rest Rate; PAC Targeting Gap (mean PAC during rest minus mean PAC during stimulation)</a:t>
            </a:r>
          </a:p>
          <a:p>
            <a:pPr marL="468630" indent="-285750">
              <a:spcAft>
                <a:spcPts val="100"/>
              </a:spcAft>
              <a:buFont typeface="Arial" panose="020B0604020202020204" pitchFamily="34" charset="0"/>
              <a:buChar char="•"/>
            </a:pPr>
            <a:r>
              <a:rPr lang="en-US" sz="1400" b="1" dirty="0">
                <a:solidFill>
                  <a:srgbClr val="000000"/>
                </a:solidFill>
                <a:latin typeface="Times New Roman"/>
              </a:rPr>
              <a:t>Statistics:</a:t>
            </a:r>
            <a:r>
              <a:rPr lang="en-US" sz="1400" dirty="0">
                <a:solidFill>
                  <a:srgbClr val="000000"/>
                </a:solidFill>
                <a:latin typeface="Times New Roman"/>
              </a:rPr>
              <a:t> Wilcoxon signed-rank (paired, N = 35); Hedges’ g with 95% </a:t>
            </a:r>
            <a:r>
              <a:rPr lang="en-US" sz="1400" dirty="0" err="1">
                <a:solidFill>
                  <a:srgbClr val="000000"/>
                </a:solidFill>
                <a:latin typeface="Times New Roman"/>
              </a:rPr>
              <a:t>BCa</a:t>
            </a:r>
            <a:r>
              <a:rPr lang="en-US" sz="1400" dirty="0">
                <a:solidFill>
                  <a:srgbClr val="000000"/>
                </a:solidFill>
                <a:latin typeface="Times New Roman"/>
              </a:rPr>
              <a:t> bootstrap confidence intervals (10,000 iterations)</a:t>
            </a:r>
          </a:p>
        </p:txBody>
      </p:sp>
      <p:sp>
        <p:nvSpPr>
          <p:cNvPr id="13" name="TextBox 12"/>
          <p:cNvSpPr txBox="1"/>
          <p:nvPr/>
        </p:nvSpPr>
        <p:spPr>
          <a:xfrm>
            <a:off x="7069943" y="4294215"/>
            <a:ext cx="2407921" cy="2492990"/>
          </a:xfrm>
          <a:prstGeom prst="rect">
            <a:avLst/>
          </a:prstGeom>
          <a:noFill/>
        </p:spPr>
        <p:txBody>
          <a:bodyPr wrap="square">
            <a:spAutoFit/>
          </a:bodyPr>
          <a:lstStyle/>
          <a:p>
            <a:pPr algn="l">
              <a:spcBef>
                <a:spcPts val="0"/>
              </a:spcBef>
              <a:spcAft>
                <a:spcPts val="200"/>
              </a:spcAft>
            </a:pPr>
            <a:r>
              <a:rPr sz="1200" b="0" i="1" dirty="0">
                <a:solidFill>
                  <a:srgbClr val="646464"/>
                </a:solidFill>
                <a:latin typeface="Times New Roman"/>
              </a:rPr>
              <a:t>Figure 1.  System architecture of the closed-loop 40 Hz entrainment system.  Raw EEG from 7 frontal channels flows through signal processing, EEGNet PAC estimation, 12-feature </a:t>
            </a:r>
            <a:r>
              <a:rPr sz="1200" b="0" i="1" dirty="0" err="1">
                <a:solidFill>
                  <a:srgbClr val="646464"/>
                </a:solidFill>
                <a:latin typeface="Times New Roman"/>
              </a:rPr>
              <a:t>PAC+Stim</a:t>
            </a:r>
            <a:r>
              <a:rPr sz="1200" b="0" i="1" dirty="0">
                <a:solidFill>
                  <a:srgbClr val="646464"/>
                </a:solidFill>
                <a:latin typeface="Times New Roman"/>
              </a:rPr>
              <a:t> engineering, causal TCN forecasting (5 s horizon), and an adaptive controller that drives personalized 40 Hz auditory stimulation.  Dashed arrow indicates closed-loop feedback.  (Diagram created by the author.)</a:t>
            </a:r>
          </a:p>
        </p:txBody>
      </p:sp>
      <p:pic>
        <p:nvPicPr>
          <p:cNvPr id="11" name="Picture 10" descr="A diagram of a closed-loop pipeline&#10;&#10;AI-generated content may be incorrect.">
            <a:extLst>
              <a:ext uri="{FF2B5EF4-FFF2-40B4-BE49-F238E27FC236}">
                <a16:creationId xmlns:a16="http://schemas.microsoft.com/office/drawing/2014/main" id="{3D050EB4-9D49-FD82-72C0-38830726C68F}"/>
              </a:ext>
            </a:extLst>
          </p:cNvPr>
          <p:cNvPicPr>
            <a:picLocks noChangeAspect="1"/>
          </p:cNvPicPr>
          <p:nvPr/>
        </p:nvPicPr>
        <p:blipFill>
          <a:blip r:embed="rId2"/>
          <a:stretch>
            <a:fillRect/>
          </a:stretch>
        </p:blipFill>
        <p:spPr>
          <a:xfrm>
            <a:off x="1076960" y="3886200"/>
            <a:ext cx="5760720" cy="3698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548640"/>
            <a:ext cx="8686800" cy="384048"/>
          </a:xfrm>
          <a:prstGeom prst="rect">
            <a:avLst/>
          </a:prstGeom>
          <a:noFill/>
        </p:spPr>
        <p:txBody>
          <a:bodyPr wrap="square">
            <a:spAutoFit/>
          </a:bodyPr>
          <a:lstStyle/>
          <a:p>
            <a:pPr algn="l">
              <a:spcBef>
                <a:spcPts val="0"/>
              </a:spcBef>
              <a:spcAft>
                <a:spcPts val="0"/>
              </a:spcAft>
            </a:pPr>
            <a:r>
              <a:rPr sz="2200" b="1" i="0" dirty="0">
                <a:solidFill>
                  <a:srgbClr val="000000"/>
                </a:solidFill>
                <a:latin typeface="Times New Roman"/>
              </a:rPr>
              <a:t>Results</a:t>
            </a:r>
          </a:p>
        </p:txBody>
      </p:sp>
      <p:cxnSp>
        <p:nvCxnSpPr>
          <p:cNvPr id="3" name="Connector 2"/>
          <p:cNvCxnSpPr/>
          <p:nvPr/>
        </p:nvCxnSpPr>
        <p:spPr>
          <a:xfrm>
            <a:off x="685800" y="932688"/>
            <a:ext cx="8686800" cy="0"/>
          </a:xfrm>
          <a:prstGeom prst="line">
            <a:avLst/>
          </a:prstGeom>
          <a:ln w="12700">
            <a:solidFill>
              <a:srgbClr val="3C3C3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060704"/>
            <a:ext cx="8686800" cy="353943"/>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Architecture Search: R² = 0.287 Static </a:t>
            </a:r>
            <a:r>
              <a:rPr lang="en-US" sz="1700" b="1" i="0" dirty="0">
                <a:solidFill>
                  <a:srgbClr val="000000"/>
                </a:solidFill>
                <a:latin typeface="Times New Roman"/>
              </a:rPr>
              <a:t>PAC Prediction </a:t>
            </a:r>
            <a:r>
              <a:rPr sz="1700" b="1" i="0" dirty="0">
                <a:solidFill>
                  <a:srgbClr val="000000"/>
                </a:solidFill>
                <a:latin typeface="Times New Roman"/>
              </a:rPr>
              <a:t>Ceiling</a:t>
            </a:r>
          </a:p>
        </p:txBody>
      </p:sp>
      <p:sp>
        <p:nvSpPr>
          <p:cNvPr id="5" name="TextBox 4"/>
          <p:cNvSpPr txBox="1"/>
          <p:nvPr/>
        </p:nvSpPr>
        <p:spPr>
          <a:xfrm>
            <a:off x="685800" y="1439164"/>
            <a:ext cx="8686800" cy="954107"/>
          </a:xfrm>
          <a:prstGeom prst="rect">
            <a:avLst/>
          </a:prstGeom>
          <a:noFill/>
        </p:spPr>
        <p:txBody>
          <a:bodyPr wrap="square">
            <a:spAutoFit/>
          </a:bodyPr>
          <a:lstStyle/>
          <a:p>
            <a:pPr algn="l">
              <a:spcBef>
                <a:spcPts val="0"/>
              </a:spcBef>
              <a:spcAft>
                <a:spcPts val="200"/>
              </a:spcAft>
            </a:pPr>
            <a:r>
              <a:rPr sz="1400" b="0" i="0" dirty="0">
                <a:solidFill>
                  <a:srgbClr val="000000"/>
                </a:solidFill>
                <a:latin typeface="Times New Roman"/>
              </a:rPr>
              <a:t>Eight neural network architectures (1,457 to 1.1 M parameters) were tested for static PAC prediction from 2-second EEG snapshots.  All converged to R² ≈ 0.287</a:t>
            </a:r>
            <a:r>
              <a:rPr lang="en-US" sz="1400" b="0" i="0" dirty="0">
                <a:solidFill>
                  <a:srgbClr val="000000"/>
                </a:solidFill>
                <a:latin typeface="Times New Roman"/>
              </a:rPr>
              <a:t>, suggesting</a:t>
            </a:r>
            <a:r>
              <a:rPr sz="1400" b="0" i="0" dirty="0">
                <a:solidFill>
                  <a:srgbClr val="000000"/>
                </a:solidFill>
                <a:latin typeface="Times New Roman"/>
              </a:rPr>
              <a:t> a data-imposed ceiling showing that epoch-level PAC cannot be recovered from instantaneous windows.  This finding redirected the project toward temporal forecasting.  </a:t>
            </a:r>
            <a:r>
              <a:rPr lang="en-US" sz="1400" b="0" i="0" dirty="0">
                <a:solidFill>
                  <a:srgbClr val="000000"/>
                </a:solidFill>
                <a:latin typeface="Times New Roman"/>
              </a:rPr>
              <a:t>The bottleneck was the features available.</a:t>
            </a:r>
            <a:endParaRPr sz="1400" b="0" i="0" dirty="0">
              <a:solidFill>
                <a:srgbClr val="000000"/>
              </a:solidFill>
              <a:latin typeface="Times New Roman"/>
            </a:endParaRPr>
          </a:p>
        </p:txBody>
      </p:sp>
      <p:sp>
        <p:nvSpPr>
          <p:cNvPr id="6" name="TextBox 5"/>
          <p:cNvSpPr txBox="1"/>
          <p:nvPr/>
        </p:nvSpPr>
        <p:spPr>
          <a:xfrm>
            <a:off x="685800" y="2480544"/>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Horizon Sweep: </a:t>
            </a:r>
            <a:r>
              <a:rPr sz="1700" b="1" i="0" dirty="0" err="1">
                <a:solidFill>
                  <a:srgbClr val="000000"/>
                </a:solidFill>
                <a:latin typeface="Times New Roman"/>
              </a:rPr>
              <a:t>PAC+Stim</a:t>
            </a:r>
            <a:r>
              <a:rPr sz="1700" b="1" i="0" dirty="0">
                <a:solidFill>
                  <a:srgbClr val="000000"/>
                </a:solidFill>
                <a:latin typeface="Times New Roman"/>
              </a:rPr>
              <a:t> TCN vs. Baselines</a:t>
            </a:r>
          </a:p>
        </p:txBody>
      </p:sp>
      <p:sp>
        <p:nvSpPr>
          <p:cNvPr id="7" name="TextBox 6"/>
          <p:cNvSpPr txBox="1"/>
          <p:nvPr/>
        </p:nvSpPr>
        <p:spPr>
          <a:xfrm>
            <a:off x="685800" y="2791440"/>
            <a:ext cx="8686800" cy="523220"/>
          </a:xfrm>
          <a:prstGeom prst="rect">
            <a:avLst/>
          </a:prstGeom>
          <a:noFill/>
        </p:spPr>
        <p:txBody>
          <a:bodyPr wrap="square">
            <a:spAutoFit/>
          </a:bodyPr>
          <a:lstStyle/>
          <a:p>
            <a:pPr algn="l">
              <a:spcBef>
                <a:spcPts val="0"/>
              </a:spcBef>
              <a:spcAft>
                <a:spcPts val="200"/>
              </a:spcAft>
            </a:pPr>
            <a:r>
              <a:rPr sz="1400" b="0" i="0" dirty="0">
                <a:solidFill>
                  <a:srgbClr val="000000"/>
                </a:solidFill>
                <a:latin typeface="Times New Roman"/>
              </a:rPr>
              <a:t>TCN models trained on 12 </a:t>
            </a:r>
            <a:r>
              <a:rPr sz="1400" b="0" i="0" dirty="0" err="1">
                <a:solidFill>
                  <a:srgbClr val="000000"/>
                </a:solidFill>
                <a:latin typeface="Times New Roman"/>
              </a:rPr>
              <a:t>PAC+Stim</a:t>
            </a:r>
            <a:r>
              <a:rPr sz="1400" b="0" i="0" dirty="0">
                <a:solidFill>
                  <a:srgbClr val="000000"/>
                </a:solidFill>
                <a:latin typeface="Times New Roman"/>
              </a:rPr>
              <a:t> features at horizons 1</a:t>
            </a:r>
            <a:r>
              <a:rPr lang="en-US" sz="1400" b="0" i="0" dirty="0">
                <a:solidFill>
                  <a:srgbClr val="000000"/>
                </a:solidFill>
                <a:latin typeface="Times New Roman"/>
              </a:rPr>
              <a:t>-</a:t>
            </a:r>
            <a:r>
              <a:rPr sz="1400" b="0" i="0" dirty="0">
                <a:solidFill>
                  <a:srgbClr val="000000"/>
                </a:solidFill>
                <a:latin typeface="Times New Roman"/>
              </a:rPr>
              <a:t>10 s (</a:t>
            </a:r>
            <a:r>
              <a:rPr sz="1400" b="0" i="0" dirty="0" err="1">
                <a:solidFill>
                  <a:srgbClr val="000000"/>
                </a:solidFill>
                <a:latin typeface="Times New Roman"/>
              </a:rPr>
              <a:t>PAC+Stim</a:t>
            </a:r>
            <a:r>
              <a:rPr sz="1400" b="0" i="0" dirty="0">
                <a:solidFill>
                  <a:srgbClr val="000000"/>
                </a:solidFill>
                <a:latin typeface="Times New Roman"/>
              </a:rPr>
              <a:t> features only).  An inflection point emerges at ≈3 s where persistence collapses but the TCN maintains strong R²:</a:t>
            </a:r>
          </a:p>
        </p:txBody>
      </p:sp>
      <p:graphicFrame>
        <p:nvGraphicFramePr>
          <p:cNvPr id="8" name="Table 7"/>
          <p:cNvGraphicFramePr>
            <a:graphicFrameLocks noGrp="1"/>
          </p:cNvGraphicFramePr>
          <p:nvPr>
            <p:extLst>
              <p:ext uri="{D42A27DB-BD31-4B8C-83A1-F6EECF244321}">
                <p14:modId xmlns:p14="http://schemas.microsoft.com/office/powerpoint/2010/main" val="3918640217"/>
              </p:ext>
            </p:extLst>
          </p:nvPr>
        </p:nvGraphicFramePr>
        <p:xfrm>
          <a:off x="612648" y="3738477"/>
          <a:ext cx="4133088" cy="2042160"/>
        </p:xfrm>
        <a:graphic>
          <a:graphicData uri="http://schemas.openxmlformats.org/drawingml/2006/table">
            <a:tbl>
              <a:tblPr>
                <a:tableStyleId>{5C22544A-7EE6-4342-B048-85BDC9FD1C3A}</a:tableStyleId>
              </a:tblPr>
              <a:tblGrid>
                <a:gridCol w="626872">
                  <a:extLst>
                    <a:ext uri="{9D8B030D-6E8A-4147-A177-3AD203B41FA5}">
                      <a16:colId xmlns:a16="http://schemas.microsoft.com/office/drawing/2014/main" val="20000"/>
                    </a:ext>
                  </a:extLst>
                </a:gridCol>
                <a:gridCol w="824106">
                  <a:extLst>
                    <a:ext uri="{9D8B030D-6E8A-4147-A177-3AD203B41FA5}">
                      <a16:colId xmlns:a16="http://schemas.microsoft.com/office/drawing/2014/main" val="20001"/>
                    </a:ext>
                  </a:extLst>
                </a:gridCol>
                <a:gridCol w="923349">
                  <a:extLst>
                    <a:ext uri="{9D8B030D-6E8A-4147-A177-3AD203B41FA5}">
                      <a16:colId xmlns:a16="http://schemas.microsoft.com/office/drawing/2014/main" val="20002"/>
                    </a:ext>
                  </a:extLst>
                </a:gridCol>
                <a:gridCol w="923349">
                  <a:extLst>
                    <a:ext uri="{9D8B030D-6E8A-4147-A177-3AD203B41FA5}">
                      <a16:colId xmlns:a16="http://schemas.microsoft.com/office/drawing/2014/main" val="20003"/>
                    </a:ext>
                  </a:extLst>
                </a:gridCol>
                <a:gridCol w="835412">
                  <a:extLst>
                    <a:ext uri="{9D8B030D-6E8A-4147-A177-3AD203B41FA5}">
                      <a16:colId xmlns:a16="http://schemas.microsoft.com/office/drawing/2014/main" val="20004"/>
                    </a:ext>
                  </a:extLst>
                </a:gridCol>
              </a:tblGrid>
              <a:tr h="193379">
                <a:tc>
                  <a:txBody>
                    <a:bodyPr/>
                    <a:lstStyle/>
                    <a:p>
                      <a:pPr algn="ctr"/>
                      <a:r>
                        <a:rPr sz="1400" b="1" i="0" dirty="0">
                          <a:solidFill>
                            <a:srgbClr val="FFFFFF"/>
                          </a:solidFill>
                          <a:latin typeface="Times New Roman"/>
                        </a:rPr>
                        <a:t>Horizon</a:t>
                      </a:r>
                    </a:p>
                  </a:txBody>
                  <a:tcPr anchor="ctr">
                    <a:solidFill>
                      <a:srgbClr val="282828"/>
                    </a:solidFill>
                  </a:tcPr>
                </a:tc>
                <a:tc>
                  <a:txBody>
                    <a:bodyPr/>
                    <a:lstStyle/>
                    <a:p>
                      <a:pPr algn="ctr"/>
                      <a:r>
                        <a:rPr sz="1400" b="1" i="0" dirty="0">
                          <a:solidFill>
                            <a:srgbClr val="FFFFFF"/>
                          </a:solidFill>
                          <a:latin typeface="Times New Roman"/>
                        </a:rPr>
                        <a:t>Persistence R²</a:t>
                      </a:r>
                    </a:p>
                  </a:txBody>
                  <a:tcPr anchor="ctr">
                    <a:solidFill>
                      <a:srgbClr val="282828"/>
                    </a:solidFill>
                  </a:tcPr>
                </a:tc>
                <a:tc>
                  <a:txBody>
                    <a:bodyPr/>
                    <a:lstStyle/>
                    <a:p>
                      <a:pPr algn="ctr"/>
                      <a:r>
                        <a:rPr sz="1400" b="1" i="0" dirty="0">
                          <a:solidFill>
                            <a:srgbClr val="FFFFFF"/>
                          </a:solidFill>
                          <a:latin typeface="Times New Roman"/>
                        </a:rPr>
                        <a:t>TCN R² (7ch)</a:t>
                      </a:r>
                    </a:p>
                  </a:txBody>
                  <a:tcPr anchor="ctr">
                    <a:solidFill>
                      <a:srgbClr val="282828"/>
                    </a:solidFill>
                  </a:tcPr>
                </a:tc>
                <a:tc>
                  <a:txBody>
                    <a:bodyPr/>
                    <a:lstStyle/>
                    <a:p>
                      <a:pPr algn="ctr"/>
                      <a:r>
                        <a:rPr sz="1400" b="1" i="0">
                          <a:solidFill>
                            <a:srgbClr val="FFFFFF"/>
                          </a:solidFill>
                          <a:latin typeface="Times New Roman"/>
                        </a:rPr>
                        <a:t>TCN R² (4ch)</a:t>
                      </a:r>
                    </a:p>
                  </a:txBody>
                  <a:tcPr anchor="ctr">
                    <a:solidFill>
                      <a:srgbClr val="282828"/>
                    </a:solidFill>
                  </a:tcPr>
                </a:tc>
                <a:tc>
                  <a:txBody>
                    <a:bodyPr/>
                    <a:lstStyle/>
                    <a:p>
                      <a:pPr algn="ctr"/>
                      <a:r>
                        <a:rPr sz="1400" b="1" i="0">
                          <a:solidFill>
                            <a:srgbClr val="FFFFFF"/>
                          </a:solidFill>
                          <a:latin typeface="Times New Roman"/>
                        </a:rPr>
                        <a:t>TCN Margin</a:t>
                      </a:r>
                    </a:p>
                  </a:txBody>
                  <a:tcPr anchor="ctr">
                    <a:solidFill>
                      <a:srgbClr val="282828"/>
                    </a:solidFill>
                  </a:tcPr>
                </a:tc>
                <a:extLst>
                  <a:ext uri="{0D108BD9-81ED-4DB2-BD59-A6C34878D82A}">
                    <a16:rowId xmlns:a16="http://schemas.microsoft.com/office/drawing/2014/main" val="10000"/>
                  </a:ext>
                </a:extLst>
              </a:tr>
              <a:tr h="193379">
                <a:tc>
                  <a:txBody>
                    <a:bodyPr/>
                    <a:lstStyle/>
                    <a:p>
                      <a:pPr algn="l"/>
                      <a:r>
                        <a:rPr sz="1400" b="0" i="0">
                          <a:solidFill>
                            <a:srgbClr val="000000"/>
                          </a:solidFill>
                          <a:latin typeface="Times New Roman"/>
                        </a:rPr>
                        <a:t>1 s</a:t>
                      </a:r>
                    </a:p>
                  </a:txBody>
                  <a:tcPr anchor="ctr">
                    <a:solidFill>
                      <a:srgbClr val="FFFFFF"/>
                    </a:solidFill>
                  </a:tcPr>
                </a:tc>
                <a:tc>
                  <a:txBody>
                    <a:bodyPr/>
                    <a:lstStyle/>
                    <a:p>
                      <a:pPr algn="ctr"/>
                      <a:r>
                        <a:rPr sz="1400" b="0" i="0">
                          <a:solidFill>
                            <a:srgbClr val="000000"/>
                          </a:solidFill>
                          <a:latin typeface="Times New Roman"/>
                        </a:rPr>
                        <a:t>0.726</a:t>
                      </a:r>
                    </a:p>
                  </a:txBody>
                  <a:tcPr anchor="ctr">
                    <a:solidFill>
                      <a:srgbClr val="FFFFFF"/>
                    </a:solidFill>
                  </a:tcPr>
                </a:tc>
                <a:tc>
                  <a:txBody>
                    <a:bodyPr/>
                    <a:lstStyle/>
                    <a:p>
                      <a:pPr algn="ctr"/>
                      <a:r>
                        <a:rPr sz="1400" b="0" i="0">
                          <a:solidFill>
                            <a:srgbClr val="000000"/>
                          </a:solidFill>
                          <a:latin typeface="Times New Roman"/>
                        </a:rPr>
                        <a:t>0.725</a:t>
                      </a:r>
                    </a:p>
                  </a:txBody>
                  <a:tcPr anchor="ctr">
                    <a:solidFill>
                      <a:srgbClr val="FFFFFF"/>
                    </a:solidFill>
                  </a:tcPr>
                </a:tc>
                <a:tc>
                  <a:txBody>
                    <a:bodyPr/>
                    <a:lstStyle/>
                    <a:p>
                      <a:pPr algn="ctr"/>
                      <a:r>
                        <a:rPr sz="1400" b="0" i="0" dirty="0">
                          <a:solidFill>
                            <a:srgbClr val="000000"/>
                          </a:solidFill>
                          <a:latin typeface="Times New Roman"/>
                        </a:rPr>
                        <a:t>0.642</a:t>
                      </a:r>
                    </a:p>
                  </a:txBody>
                  <a:tcPr anchor="ctr">
                    <a:solidFill>
                      <a:srgbClr val="FFFFFF"/>
                    </a:solidFill>
                  </a:tcPr>
                </a:tc>
                <a:tc>
                  <a:txBody>
                    <a:bodyPr/>
                    <a:lstStyle/>
                    <a:p>
                      <a:pPr algn="ctr"/>
                      <a:r>
                        <a:rPr sz="1400" b="0" i="0">
                          <a:solidFill>
                            <a:srgbClr val="000000"/>
                          </a:solidFill>
                          <a:latin typeface="Times New Roman"/>
                        </a:rPr>
                        <a:t>−0.001</a:t>
                      </a:r>
                    </a:p>
                  </a:txBody>
                  <a:tcPr anchor="ctr">
                    <a:solidFill>
                      <a:srgbClr val="FFFFFF"/>
                    </a:solidFill>
                  </a:tcPr>
                </a:tc>
                <a:extLst>
                  <a:ext uri="{0D108BD9-81ED-4DB2-BD59-A6C34878D82A}">
                    <a16:rowId xmlns:a16="http://schemas.microsoft.com/office/drawing/2014/main" val="10001"/>
                  </a:ext>
                </a:extLst>
              </a:tr>
              <a:tr h="193379">
                <a:tc>
                  <a:txBody>
                    <a:bodyPr/>
                    <a:lstStyle/>
                    <a:p>
                      <a:pPr algn="l"/>
                      <a:r>
                        <a:rPr sz="1400" b="0" i="0">
                          <a:solidFill>
                            <a:srgbClr val="000000"/>
                          </a:solidFill>
                          <a:latin typeface="Times New Roman"/>
                        </a:rPr>
                        <a:t>3 s</a:t>
                      </a:r>
                    </a:p>
                  </a:txBody>
                  <a:tcPr anchor="ctr">
                    <a:solidFill>
                      <a:srgbClr val="F2F2F2"/>
                    </a:solidFill>
                  </a:tcPr>
                </a:tc>
                <a:tc>
                  <a:txBody>
                    <a:bodyPr/>
                    <a:lstStyle/>
                    <a:p>
                      <a:pPr algn="ctr"/>
                      <a:r>
                        <a:rPr sz="1400" b="0" i="0">
                          <a:solidFill>
                            <a:srgbClr val="000000"/>
                          </a:solidFill>
                          <a:latin typeface="Times New Roman"/>
                        </a:rPr>
                        <a:t>0.178</a:t>
                      </a:r>
                    </a:p>
                  </a:txBody>
                  <a:tcPr anchor="ctr">
                    <a:solidFill>
                      <a:srgbClr val="F2F2F2"/>
                    </a:solidFill>
                  </a:tcPr>
                </a:tc>
                <a:tc>
                  <a:txBody>
                    <a:bodyPr/>
                    <a:lstStyle/>
                    <a:p>
                      <a:pPr algn="ctr"/>
                      <a:r>
                        <a:rPr sz="1400" b="0" i="0">
                          <a:solidFill>
                            <a:srgbClr val="000000"/>
                          </a:solidFill>
                          <a:latin typeface="Times New Roman"/>
                        </a:rPr>
                        <a:t>0.607</a:t>
                      </a:r>
                    </a:p>
                  </a:txBody>
                  <a:tcPr anchor="ctr">
                    <a:solidFill>
                      <a:srgbClr val="F2F2F2"/>
                    </a:solidFill>
                  </a:tcPr>
                </a:tc>
                <a:tc>
                  <a:txBody>
                    <a:bodyPr/>
                    <a:lstStyle/>
                    <a:p>
                      <a:pPr algn="ctr"/>
                      <a:r>
                        <a:rPr sz="1400" b="0" i="0">
                          <a:solidFill>
                            <a:srgbClr val="000000"/>
                          </a:solidFill>
                          <a:latin typeface="Times New Roman"/>
                        </a:rPr>
                        <a:t>0.391</a:t>
                      </a:r>
                    </a:p>
                  </a:txBody>
                  <a:tcPr anchor="ctr">
                    <a:solidFill>
                      <a:srgbClr val="F2F2F2"/>
                    </a:solidFill>
                  </a:tcPr>
                </a:tc>
                <a:tc>
                  <a:txBody>
                    <a:bodyPr/>
                    <a:lstStyle/>
                    <a:p>
                      <a:pPr algn="ctr"/>
                      <a:r>
                        <a:rPr sz="1400" b="0" i="0">
                          <a:solidFill>
                            <a:srgbClr val="000000"/>
                          </a:solidFill>
                          <a:latin typeface="Times New Roman"/>
                        </a:rPr>
                        <a:t>+0.429</a:t>
                      </a:r>
                    </a:p>
                  </a:txBody>
                  <a:tcPr anchor="ctr">
                    <a:solidFill>
                      <a:srgbClr val="F2F2F2"/>
                    </a:solidFill>
                  </a:tcPr>
                </a:tc>
                <a:extLst>
                  <a:ext uri="{0D108BD9-81ED-4DB2-BD59-A6C34878D82A}">
                    <a16:rowId xmlns:a16="http://schemas.microsoft.com/office/drawing/2014/main" val="10002"/>
                  </a:ext>
                </a:extLst>
              </a:tr>
              <a:tr h="193379">
                <a:tc>
                  <a:txBody>
                    <a:bodyPr/>
                    <a:lstStyle/>
                    <a:p>
                      <a:pPr algn="l"/>
                      <a:r>
                        <a:rPr sz="1400" b="0" i="0">
                          <a:solidFill>
                            <a:srgbClr val="000000"/>
                          </a:solidFill>
                          <a:latin typeface="Times New Roman"/>
                        </a:rPr>
                        <a:t>5 s</a:t>
                      </a:r>
                    </a:p>
                  </a:txBody>
                  <a:tcPr anchor="ctr">
                    <a:solidFill>
                      <a:srgbClr val="FFFFFF"/>
                    </a:solidFill>
                  </a:tcPr>
                </a:tc>
                <a:tc>
                  <a:txBody>
                    <a:bodyPr/>
                    <a:lstStyle/>
                    <a:p>
                      <a:pPr algn="ctr"/>
                      <a:r>
                        <a:rPr sz="1400" b="0" i="0">
                          <a:solidFill>
                            <a:srgbClr val="000000"/>
                          </a:solidFill>
                          <a:latin typeface="Times New Roman"/>
                        </a:rPr>
                        <a:t>0.104</a:t>
                      </a:r>
                    </a:p>
                  </a:txBody>
                  <a:tcPr anchor="ctr">
                    <a:solidFill>
                      <a:srgbClr val="FFFFFF"/>
                    </a:solidFill>
                  </a:tcPr>
                </a:tc>
                <a:tc>
                  <a:txBody>
                    <a:bodyPr/>
                    <a:lstStyle/>
                    <a:p>
                      <a:pPr algn="ctr"/>
                      <a:r>
                        <a:rPr sz="1400" b="0" i="0">
                          <a:solidFill>
                            <a:srgbClr val="000000"/>
                          </a:solidFill>
                          <a:latin typeface="Times New Roman"/>
                        </a:rPr>
                        <a:t>0.577</a:t>
                      </a:r>
                    </a:p>
                  </a:txBody>
                  <a:tcPr anchor="ctr">
                    <a:solidFill>
                      <a:srgbClr val="FFFFFF"/>
                    </a:solidFill>
                  </a:tcPr>
                </a:tc>
                <a:tc>
                  <a:txBody>
                    <a:bodyPr/>
                    <a:lstStyle/>
                    <a:p>
                      <a:pPr algn="ctr"/>
                      <a:r>
                        <a:rPr sz="1400" b="0" i="0">
                          <a:solidFill>
                            <a:srgbClr val="000000"/>
                          </a:solidFill>
                          <a:latin typeface="Times New Roman"/>
                        </a:rPr>
                        <a:t>0.398</a:t>
                      </a:r>
                    </a:p>
                  </a:txBody>
                  <a:tcPr anchor="ctr">
                    <a:solidFill>
                      <a:srgbClr val="FFFFFF"/>
                    </a:solidFill>
                  </a:tcPr>
                </a:tc>
                <a:tc>
                  <a:txBody>
                    <a:bodyPr/>
                    <a:lstStyle/>
                    <a:p>
                      <a:pPr algn="ctr"/>
                      <a:r>
                        <a:rPr sz="1400" b="0" i="0" dirty="0">
                          <a:solidFill>
                            <a:srgbClr val="000000"/>
                          </a:solidFill>
                          <a:latin typeface="Times New Roman"/>
                        </a:rPr>
                        <a:t>+0.473</a:t>
                      </a:r>
                    </a:p>
                  </a:txBody>
                  <a:tcPr anchor="ctr">
                    <a:solidFill>
                      <a:srgbClr val="FFFFFF"/>
                    </a:solidFill>
                  </a:tcPr>
                </a:tc>
                <a:extLst>
                  <a:ext uri="{0D108BD9-81ED-4DB2-BD59-A6C34878D82A}">
                    <a16:rowId xmlns:a16="http://schemas.microsoft.com/office/drawing/2014/main" val="10003"/>
                  </a:ext>
                </a:extLst>
              </a:tr>
              <a:tr h="193379">
                <a:tc>
                  <a:txBody>
                    <a:bodyPr/>
                    <a:lstStyle/>
                    <a:p>
                      <a:pPr algn="l"/>
                      <a:r>
                        <a:rPr sz="1400" b="0" i="0">
                          <a:solidFill>
                            <a:srgbClr val="000000"/>
                          </a:solidFill>
                          <a:latin typeface="Times New Roman"/>
                        </a:rPr>
                        <a:t>8 s</a:t>
                      </a:r>
                    </a:p>
                  </a:txBody>
                  <a:tcPr anchor="ctr">
                    <a:solidFill>
                      <a:srgbClr val="F2F2F2"/>
                    </a:solidFill>
                  </a:tcPr>
                </a:tc>
                <a:tc>
                  <a:txBody>
                    <a:bodyPr/>
                    <a:lstStyle/>
                    <a:p>
                      <a:pPr algn="ctr"/>
                      <a:r>
                        <a:rPr sz="1400" b="0" i="0">
                          <a:solidFill>
                            <a:srgbClr val="000000"/>
                          </a:solidFill>
                          <a:latin typeface="Times New Roman"/>
                        </a:rPr>
                        <a:t>−0.007</a:t>
                      </a:r>
                    </a:p>
                  </a:txBody>
                  <a:tcPr anchor="ctr">
                    <a:solidFill>
                      <a:srgbClr val="F2F2F2"/>
                    </a:solidFill>
                  </a:tcPr>
                </a:tc>
                <a:tc>
                  <a:txBody>
                    <a:bodyPr/>
                    <a:lstStyle/>
                    <a:p>
                      <a:pPr algn="ctr"/>
                      <a:r>
                        <a:rPr sz="1400" b="0" i="0">
                          <a:solidFill>
                            <a:srgbClr val="000000"/>
                          </a:solidFill>
                          <a:latin typeface="Times New Roman"/>
                        </a:rPr>
                        <a:t>0.370</a:t>
                      </a:r>
                    </a:p>
                  </a:txBody>
                  <a:tcPr anchor="ctr">
                    <a:solidFill>
                      <a:srgbClr val="F2F2F2"/>
                    </a:solidFill>
                  </a:tcPr>
                </a:tc>
                <a:tc>
                  <a:txBody>
                    <a:bodyPr/>
                    <a:lstStyle/>
                    <a:p>
                      <a:pPr algn="ctr"/>
                      <a:r>
                        <a:rPr sz="1400" b="0" i="0">
                          <a:solidFill>
                            <a:srgbClr val="000000"/>
                          </a:solidFill>
                          <a:latin typeface="Times New Roman"/>
                        </a:rPr>
                        <a:t>0.419</a:t>
                      </a:r>
                    </a:p>
                  </a:txBody>
                  <a:tcPr anchor="ctr">
                    <a:solidFill>
                      <a:srgbClr val="F2F2F2"/>
                    </a:solidFill>
                  </a:tcPr>
                </a:tc>
                <a:tc>
                  <a:txBody>
                    <a:bodyPr/>
                    <a:lstStyle/>
                    <a:p>
                      <a:pPr algn="ctr"/>
                      <a:r>
                        <a:rPr sz="1400" b="0" i="0">
                          <a:solidFill>
                            <a:srgbClr val="000000"/>
                          </a:solidFill>
                          <a:latin typeface="Times New Roman"/>
                        </a:rPr>
                        <a:t>+0.377</a:t>
                      </a:r>
                    </a:p>
                  </a:txBody>
                  <a:tcPr anchor="ctr">
                    <a:solidFill>
                      <a:srgbClr val="F2F2F2"/>
                    </a:solidFill>
                  </a:tcPr>
                </a:tc>
                <a:extLst>
                  <a:ext uri="{0D108BD9-81ED-4DB2-BD59-A6C34878D82A}">
                    <a16:rowId xmlns:a16="http://schemas.microsoft.com/office/drawing/2014/main" val="10004"/>
                  </a:ext>
                </a:extLst>
              </a:tr>
              <a:tr h="193379">
                <a:tc>
                  <a:txBody>
                    <a:bodyPr/>
                    <a:lstStyle/>
                    <a:p>
                      <a:pPr algn="l"/>
                      <a:r>
                        <a:rPr sz="1400" b="0" i="0">
                          <a:solidFill>
                            <a:srgbClr val="000000"/>
                          </a:solidFill>
                          <a:latin typeface="Times New Roman"/>
                        </a:rPr>
                        <a:t>10 s</a:t>
                      </a:r>
                    </a:p>
                  </a:txBody>
                  <a:tcPr anchor="ctr">
                    <a:solidFill>
                      <a:srgbClr val="FFFFFF"/>
                    </a:solidFill>
                  </a:tcPr>
                </a:tc>
                <a:tc>
                  <a:txBody>
                    <a:bodyPr/>
                    <a:lstStyle/>
                    <a:p>
                      <a:pPr algn="ctr"/>
                      <a:r>
                        <a:rPr sz="1400" b="0" i="0" dirty="0">
                          <a:solidFill>
                            <a:srgbClr val="000000"/>
                          </a:solidFill>
                          <a:latin typeface="Times New Roman"/>
                        </a:rPr>
                        <a:t>−0.081</a:t>
                      </a:r>
                    </a:p>
                  </a:txBody>
                  <a:tcPr anchor="ctr">
                    <a:solidFill>
                      <a:srgbClr val="FFFFFF"/>
                    </a:solidFill>
                  </a:tcPr>
                </a:tc>
                <a:tc>
                  <a:txBody>
                    <a:bodyPr/>
                    <a:lstStyle/>
                    <a:p>
                      <a:pPr algn="ctr"/>
                      <a:r>
                        <a:rPr sz="1400" b="0" i="0">
                          <a:solidFill>
                            <a:srgbClr val="000000"/>
                          </a:solidFill>
                          <a:latin typeface="Times New Roman"/>
                        </a:rPr>
                        <a:t>0.669</a:t>
                      </a:r>
                    </a:p>
                  </a:txBody>
                  <a:tcPr anchor="ctr">
                    <a:solidFill>
                      <a:srgbClr val="FFFFFF"/>
                    </a:solidFill>
                  </a:tcPr>
                </a:tc>
                <a:tc>
                  <a:txBody>
                    <a:bodyPr/>
                    <a:lstStyle/>
                    <a:p>
                      <a:pPr algn="ctr"/>
                      <a:r>
                        <a:rPr sz="1400" b="0" i="0">
                          <a:solidFill>
                            <a:srgbClr val="000000"/>
                          </a:solidFill>
                          <a:latin typeface="Times New Roman"/>
                        </a:rPr>
                        <a:t>0.387</a:t>
                      </a:r>
                    </a:p>
                  </a:txBody>
                  <a:tcPr anchor="ctr">
                    <a:solidFill>
                      <a:srgbClr val="FFFFFF"/>
                    </a:solidFill>
                  </a:tcPr>
                </a:tc>
                <a:tc>
                  <a:txBody>
                    <a:bodyPr/>
                    <a:lstStyle/>
                    <a:p>
                      <a:pPr algn="ctr"/>
                      <a:r>
                        <a:rPr sz="1400" b="0" i="0" dirty="0">
                          <a:solidFill>
                            <a:srgbClr val="000000"/>
                          </a:solidFill>
                          <a:latin typeface="Times New Roman"/>
                        </a:rPr>
                        <a:t>+0.750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9" name="TextBox 8"/>
          <p:cNvSpPr txBox="1"/>
          <p:nvPr/>
        </p:nvSpPr>
        <p:spPr>
          <a:xfrm>
            <a:off x="548640" y="5900993"/>
            <a:ext cx="4059936" cy="938719"/>
          </a:xfrm>
          <a:prstGeom prst="rect">
            <a:avLst/>
          </a:prstGeom>
          <a:noFill/>
        </p:spPr>
        <p:txBody>
          <a:bodyPr wrap="square">
            <a:spAutoFit/>
          </a:bodyPr>
          <a:lstStyle/>
          <a:p>
            <a:pPr algn="l">
              <a:spcBef>
                <a:spcPts val="0"/>
              </a:spcBef>
              <a:spcAft>
                <a:spcPts val="200"/>
              </a:spcAft>
            </a:pPr>
            <a:r>
              <a:rPr sz="1100" b="0" i="1" dirty="0">
                <a:solidFill>
                  <a:srgbClr val="646464"/>
                </a:solidFill>
                <a:latin typeface="Times New Roman"/>
              </a:rPr>
              <a:t>Table 1.  </a:t>
            </a:r>
            <a:r>
              <a:rPr sz="1100" b="0" i="1" dirty="0" err="1">
                <a:solidFill>
                  <a:srgbClr val="646464"/>
                </a:solidFill>
                <a:latin typeface="Times New Roman"/>
              </a:rPr>
              <a:t>PAC+Stim</a:t>
            </a:r>
            <a:r>
              <a:rPr sz="1100" b="0" i="1" dirty="0">
                <a:solidFill>
                  <a:srgbClr val="646464"/>
                </a:solidFill>
                <a:latin typeface="Times New Roman"/>
              </a:rPr>
              <a:t> TCN horizon sweep (single seed).  At 1 s, persistence is competitive.  At 3</a:t>
            </a:r>
            <a:r>
              <a:rPr lang="en-US" sz="1100" b="0" i="1" dirty="0">
                <a:solidFill>
                  <a:srgbClr val="646464"/>
                </a:solidFill>
                <a:latin typeface="Times New Roman"/>
              </a:rPr>
              <a:t>-</a:t>
            </a:r>
            <a:r>
              <a:rPr sz="1100" b="0" i="1" dirty="0">
                <a:solidFill>
                  <a:srgbClr val="646464"/>
                </a:solidFill>
                <a:latin typeface="Times New Roman"/>
              </a:rPr>
              <a:t>10 s, persistence collapses while the TCN (7ch) maintains R² = 0.37</a:t>
            </a:r>
            <a:r>
              <a:rPr lang="en-US" sz="1100" b="0" i="1" dirty="0">
                <a:solidFill>
                  <a:srgbClr val="646464"/>
                </a:solidFill>
                <a:latin typeface="Times New Roman"/>
              </a:rPr>
              <a:t>-</a:t>
            </a:r>
            <a:r>
              <a:rPr sz="1100" b="0" i="1" dirty="0">
                <a:solidFill>
                  <a:srgbClr val="646464"/>
                </a:solidFill>
                <a:latin typeface="Times New Roman"/>
              </a:rPr>
              <a:t>0.67</a:t>
            </a:r>
            <a:r>
              <a:rPr lang="en-US" sz="1100" b="0" i="1" dirty="0">
                <a:solidFill>
                  <a:srgbClr val="646464"/>
                </a:solidFill>
                <a:latin typeface="Times New Roman"/>
              </a:rPr>
              <a:t>. This value is actionable </a:t>
            </a:r>
            <a:r>
              <a:rPr sz="1100" b="0" i="1" dirty="0">
                <a:solidFill>
                  <a:srgbClr val="646464"/>
                </a:solidFill>
                <a:latin typeface="Times New Roman"/>
              </a:rPr>
              <a:t>for proactive neuromodulation.  Multi-seed 5-seed mean at horizon 5: R² = 0.606 ± 0.032, range 0.558</a:t>
            </a:r>
            <a:r>
              <a:rPr lang="en-US" sz="1100" b="0" i="1" dirty="0">
                <a:solidFill>
                  <a:srgbClr val="646464"/>
                </a:solidFill>
                <a:latin typeface="Times New Roman"/>
              </a:rPr>
              <a:t>-</a:t>
            </a:r>
            <a:r>
              <a:rPr sz="1100" b="0" i="1" dirty="0">
                <a:solidFill>
                  <a:srgbClr val="646464"/>
                </a:solidFill>
                <a:latin typeface="Times New Roman"/>
              </a:rPr>
              <a:t>0.647.</a:t>
            </a:r>
          </a:p>
        </p:txBody>
      </p:sp>
      <p:pic>
        <p:nvPicPr>
          <p:cNvPr id="14" name="Picture 13">
            <a:extLst>
              <a:ext uri="{FF2B5EF4-FFF2-40B4-BE49-F238E27FC236}">
                <a16:creationId xmlns:a16="http://schemas.microsoft.com/office/drawing/2014/main" id="{4B164A4C-D935-6CED-3EC0-4FF1D2BD4BD5}"/>
              </a:ext>
            </a:extLst>
          </p:cNvPr>
          <p:cNvPicPr>
            <a:picLocks noChangeAspect="1"/>
          </p:cNvPicPr>
          <p:nvPr/>
        </p:nvPicPr>
        <p:blipFill>
          <a:blip r:embed="rId2"/>
          <a:stretch>
            <a:fillRect/>
          </a:stretch>
        </p:blipFill>
        <p:spPr>
          <a:xfrm>
            <a:off x="4922510" y="3845012"/>
            <a:ext cx="4701041" cy="27891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9238" y="198032"/>
            <a:ext cx="8686800" cy="310896"/>
          </a:xfrm>
          <a:prstGeom prst="rect">
            <a:avLst/>
          </a:prstGeom>
          <a:noFill/>
        </p:spPr>
        <p:txBody>
          <a:bodyPr wrap="square">
            <a:spAutoFit/>
          </a:bodyPr>
          <a:lstStyle/>
          <a:p>
            <a:pPr algn="l">
              <a:spcBef>
                <a:spcPts val="0"/>
              </a:spcBef>
              <a:spcAft>
                <a:spcPts val="0"/>
              </a:spcAft>
            </a:pPr>
            <a:r>
              <a:rPr lang="en-US" sz="1700" b="1" i="0" dirty="0">
                <a:solidFill>
                  <a:srgbClr val="000000"/>
                </a:solidFill>
                <a:latin typeface="Times New Roman"/>
              </a:rPr>
              <a:t>Controller Comparison (N = 35 Subjects, Real EEG)</a:t>
            </a:r>
          </a:p>
        </p:txBody>
      </p:sp>
      <p:graphicFrame>
        <p:nvGraphicFramePr>
          <p:cNvPr id="3" name="Table 2"/>
          <p:cNvGraphicFramePr>
            <a:graphicFrameLocks noGrp="1"/>
          </p:cNvGraphicFramePr>
          <p:nvPr>
            <p:extLst>
              <p:ext uri="{D42A27DB-BD31-4B8C-83A1-F6EECF244321}">
                <p14:modId xmlns:p14="http://schemas.microsoft.com/office/powerpoint/2010/main" val="1613159214"/>
              </p:ext>
            </p:extLst>
          </p:nvPr>
        </p:nvGraphicFramePr>
        <p:xfrm>
          <a:off x="1188719" y="560092"/>
          <a:ext cx="7386321" cy="1737360"/>
        </p:xfrm>
        <a:graphic>
          <a:graphicData uri="http://schemas.openxmlformats.org/drawingml/2006/table">
            <a:tbl>
              <a:tblPr>
                <a:tableStyleId>{5C22544A-7EE6-4342-B048-85BDC9FD1C3A}</a:tableStyleId>
              </a:tblPr>
              <a:tblGrid>
                <a:gridCol w="1790623">
                  <a:extLst>
                    <a:ext uri="{9D8B030D-6E8A-4147-A177-3AD203B41FA5}">
                      <a16:colId xmlns:a16="http://schemas.microsoft.com/office/drawing/2014/main" val="20000"/>
                    </a:ext>
                  </a:extLst>
                </a:gridCol>
                <a:gridCol w="1193749">
                  <a:extLst>
                    <a:ext uri="{9D8B030D-6E8A-4147-A177-3AD203B41FA5}">
                      <a16:colId xmlns:a16="http://schemas.microsoft.com/office/drawing/2014/main" val="20001"/>
                    </a:ext>
                  </a:extLst>
                </a:gridCol>
                <a:gridCol w="1193749">
                  <a:extLst>
                    <a:ext uri="{9D8B030D-6E8A-4147-A177-3AD203B41FA5}">
                      <a16:colId xmlns:a16="http://schemas.microsoft.com/office/drawing/2014/main" val="2065026553"/>
                    </a:ext>
                  </a:extLst>
                </a:gridCol>
                <a:gridCol w="1193749">
                  <a:extLst>
                    <a:ext uri="{9D8B030D-6E8A-4147-A177-3AD203B41FA5}">
                      <a16:colId xmlns:a16="http://schemas.microsoft.com/office/drawing/2014/main" val="42216872"/>
                    </a:ext>
                  </a:extLst>
                </a:gridCol>
                <a:gridCol w="969921">
                  <a:extLst>
                    <a:ext uri="{9D8B030D-6E8A-4147-A177-3AD203B41FA5}">
                      <a16:colId xmlns:a16="http://schemas.microsoft.com/office/drawing/2014/main" val="20003"/>
                    </a:ext>
                  </a:extLst>
                </a:gridCol>
                <a:gridCol w="1044530">
                  <a:extLst>
                    <a:ext uri="{9D8B030D-6E8A-4147-A177-3AD203B41FA5}">
                      <a16:colId xmlns:a16="http://schemas.microsoft.com/office/drawing/2014/main" val="20004"/>
                    </a:ext>
                  </a:extLst>
                </a:gridCol>
              </a:tblGrid>
              <a:tr h="464002">
                <a:tc>
                  <a:txBody>
                    <a:bodyPr/>
                    <a:lstStyle/>
                    <a:p>
                      <a:pPr algn="ctr"/>
                      <a:r>
                        <a:rPr sz="1400" b="1" i="0" dirty="0">
                          <a:solidFill>
                            <a:srgbClr val="FFFFFF"/>
                          </a:solidFill>
                          <a:latin typeface="Times New Roman"/>
                        </a:rPr>
                        <a:t>Controller</a:t>
                      </a:r>
                    </a:p>
                  </a:txBody>
                  <a:tcPr anchor="ctr">
                    <a:solidFill>
                      <a:srgbClr val="282828"/>
                    </a:solidFill>
                  </a:tcPr>
                </a:tc>
                <a:tc>
                  <a:txBody>
                    <a:bodyPr/>
                    <a:lstStyle/>
                    <a:p>
                      <a:pPr algn="ctr"/>
                      <a:r>
                        <a:rPr sz="1400" b="1" i="0" dirty="0">
                          <a:solidFill>
                            <a:srgbClr val="FFFFFF"/>
                          </a:solidFill>
                          <a:latin typeface="Times New Roman"/>
                        </a:rPr>
                        <a:t>Alignment</a:t>
                      </a:r>
                    </a:p>
                  </a:txBody>
                  <a:tcPr anchor="ctr">
                    <a:solidFill>
                      <a:srgbClr val="282828"/>
                    </a:solidFill>
                  </a:tcPr>
                </a:tc>
                <a:tc>
                  <a:txBody>
                    <a:bodyPr/>
                    <a:lstStyle/>
                    <a:p>
                      <a:pPr algn="ctr"/>
                      <a:r>
                        <a:rPr sz="1400" b="1" i="0" dirty="0">
                          <a:solidFill>
                            <a:srgbClr val="FFFFFF"/>
                          </a:solidFill>
                          <a:latin typeface="Times New Roman"/>
                        </a:rPr>
                        <a:t>Low-PAC Stim</a:t>
                      </a:r>
                    </a:p>
                  </a:txBody>
                  <a:tcPr anchor="ctr">
                    <a:solidFill>
                      <a:srgbClr val="282828"/>
                    </a:solidFill>
                  </a:tcPr>
                </a:tc>
                <a:tc>
                  <a:txBody>
                    <a:bodyPr/>
                    <a:lstStyle/>
                    <a:p>
                      <a:pPr algn="ctr"/>
                      <a:r>
                        <a:rPr lang="en-US" sz="1400" b="1" i="0" dirty="0">
                          <a:solidFill>
                            <a:srgbClr val="FFFFFF"/>
                          </a:solidFill>
                          <a:latin typeface="Times New Roman"/>
                        </a:rPr>
                        <a:t>High-PAC Rest</a:t>
                      </a:r>
                      <a:endParaRPr sz="1400" b="1" i="0" dirty="0">
                        <a:solidFill>
                          <a:srgbClr val="FFFFFF"/>
                        </a:solidFill>
                        <a:latin typeface="Times New Roman"/>
                      </a:endParaRPr>
                    </a:p>
                  </a:txBody>
                  <a:tcPr anchor="ctr">
                    <a:solidFill>
                      <a:srgbClr val="282828"/>
                    </a:solidFill>
                  </a:tcPr>
                </a:tc>
                <a:tc>
                  <a:txBody>
                    <a:bodyPr/>
                    <a:lstStyle/>
                    <a:p>
                      <a:pPr algn="ctr"/>
                      <a:r>
                        <a:rPr sz="1400" b="1" i="0">
                          <a:solidFill>
                            <a:srgbClr val="FFFFFF"/>
                          </a:solidFill>
                          <a:latin typeface="Times New Roman"/>
                        </a:rPr>
                        <a:t>Stim %</a:t>
                      </a:r>
                    </a:p>
                  </a:txBody>
                  <a:tcPr anchor="ctr">
                    <a:solidFill>
                      <a:srgbClr val="282828"/>
                    </a:solidFill>
                  </a:tcPr>
                </a:tc>
                <a:tc>
                  <a:txBody>
                    <a:bodyPr/>
                    <a:lstStyle/>
                    <a:p>
                      <a:pPr algn="ctr"/>
                      <a:r>
                        <a:rPr sz="1400" b="1" i="0">
                          <a:solidFill>
                            <a:srgbClr val="FFFFFF"/>
                          </a:solidFill>
                          <a:latin typeface="Times New Roman"/>
                        </a:rPr>
                        <a:t>PAC Gap</a:t>
                      </a:r>
                    </a:p>
                  </a:txBody>
                  <a:tcPr anchor="ctr">
                    <a:solidFill>
                      <a:srgbClr val="282828"/>
                    </a:solidFill>
                  </a:tcPr>
                </a:tc>
                <a:extLst>
                  <a:ext uri="{0D108BD9-81ED-4DB2-BD59-A6C34878D82A}">
                    <a16:rowId xmlns:a16="http://schemas.microsoft.com/office/drawing/2014/main" val="10000"/>
                  </a:ext>
                </a:extLst>
              </a:tr>
              <a:tr h="272942">
                <a:tc>
                  <a:txBody>
                    <a:bodyPr/>
                    <a:lstStyle/>
                    <a:p>
                      <a:pPr algn="l"/>
                      <a:r>
                        <a:rPr sz="1400" b="0" i="0">
                          <a:solidFill>
                            <a:srgbClr val="000000"/>
                          </a:solidFill>
                          <a:latin typeface="Times New Roman"/>
                        </a:rPr>
                        <a:t>Fixed Schedule</a:t>
                      </a:r>
                    </a:p>
                  </a:txBody>
                  <a:tcPr anchor="ctr">
                    <a:solidFill>
                      <a:srgbClr val="FFFFFF"/>
                    </a:solidFill>
                  </a:tcPr>
                </a:tc>
                <a:tc>
                  <a:txBody>
                    <a:bodyPr/>
                    <a:lstStyle/>
                    <a:p>
                      <a:pPr algn="ctr"/>
                      <a:r>
                        <a:rPr sz="1400" b="0" i="0">
                          <a:solidFill>
                            <a:srgbClr val="000000"/>
                          </a:solidFill>
                          <a:latin typeface="Times New Roman"/>
                        </a:rPr>
                        <a:t>45.0%</a:t>
                      </a:r>
                    </a:p>
                  </a:txBody>
                  <a:tcPr anchor="ctr">
                    <a:solidFill>
                      <a:srgbClr val="FFFFFF"/>
                    </a:solidFill>
                  </a:tcPr>
                </a:tc>
                <a:tc>
                  <a:txBody>
                    <a:bodyPr/>
                    <a:lstStyle/>
                    <a:p>
                      <a:pPr algn="ctr"/>
                      <a:r>
                        <a:rPr sz="1400" b="0" i="0" dirty="0">
                          <a:solidFill>
                            <a:srgbClr val="000000"/>
                          </a:solidFill>
                          <a:latin typeface="Times New Roman"/>
                        </a:rPr>
                        <a:t>61.4%</a:t>
                      </a:r>
                    </a:p>
                  </a:txBody>
                  <a:tcPr anchor="ctr">
                    <a:solidFill>
                      <a:srgbClr val="FFFFFF"/>
                    </a:solidFill>
                  </a:tcPr>
                </a:tc>
                <a:tc>
                  <a:txBody>
                    <a:bodyPr/>
                    <a:lstStyle/>
                    <a:p>
                      <a:pPr algn="ctr"/>
                      <a:r>
                        <a:rPr lang="en-US" sz="1400" b="0" i="0" dirty="0">
                          <a:solidFill>
                            <a:srgbClr val="000000"/>
                          </a:solidFill>
                          <a:latin typeface="Times New Roman"/>
                        </a:rPr>
                        <a:t>28.6%</a:t>
                      </a:r>
                      <a:endParaRPr sz="1400" b="0" i="0" dirty="0">
                        <a:solidFill>
                          <a:srgbClr val="000000"/>
                        </a:solidFill>
                        <a:latin typeface="Times New Roman"/>
                      </a:endParaRPr>
                    </a:p>
                  </a:txBody>
                  <a:tcPr anchor="ctr">
                    <a:solidFill>
                      <a:srgbClr val="FFFFFF"/>
                    </a:solidFill>
                  </a:tcPr>
                </a:tc>
                <a:tc>
                  <a:txBody>
                    <a:bodyPr/>
                    <a:lstStyle/>
                    <a:p>
                      <a:pPr algn="ctr"/>
                      <a:r>
                        <a:rPr sz="1400" b="0" i="0">
                          <a:solidFill>
                            <a:srgbClr val="000000"/>
                          </a:solidFill>
                          <a:latin typeface="Times New Roman"/>
                        </a:rPr>
                        <a:t>66.6%</a:t>
                      </a:r>
                    </a:p>
                  </a:txBody>
                  <a:tcPr anchor="ctr">
                    <a:solidFill>
                      <a:srgbClr val="FFFFFF"/>
                    </a:solidFill>
                  </a:tcPr>
                </a:tc>
                <a:tc>
                  <a:txBody>
                    <a:bodyPr/>
                    <a:lstStyle/>
                    <a:p>
                      <a:pPr algn="ctr"/>
                      <a:r>
                        <a:rPr sz="1400" b="0" i="0">
                          <a:solidFill>
                            <a:srgbClr val="000000"/>
                          </a:solidFill>
                          <a:latin typeface="Times New Roman"/>
                        </a:rPr>
                        <a:t>−6.6</a:t>
                      </a:r>
                    </a:p>
                  </a:txBody>
                  <a:tcPr anchor="ctr">
                    <a:solidFill>
                      <a:srgbClr val="FFFFFF"/>
                    </a:solidFill>
                  </a:tcPr>
                </a:tc>
                <a:extLst>
                  <a:ext uri="{0D108BD9-81ED-4DB2-BD59-A6C34878D82A}">
                    <a16:rowId xmlns:a16="http://schemas.microsoft.com/office/drawing/2014/main" val="10001"/>
                  </a:ext>
                </a:extLst>
              </a:tr>
              <a:tr h="272942">
                <a:tc>
                  <a:txBody>
                    <a:bodyPr/>
                    <a:lstStyle/>
                    <a:p>
                      <a:pPr algn="l"/>
                      <a:r>
                        <a:rPr sz="1400" b="0" i="0">
                          <a:solidFill>
                            <a:srgbClr val="000000"/>
                          </a:solidFill>
                          <a:latin typeface="Times New Roman"/>
                        </a:rPr>
                        <a:t>Reactive Threshold</a:t>
                      </a:r>
                    </a:p>
                  </a:txBody>
                  <a:tcPr anchor="ctr">
                    <a:solidFill>
                      <a:srgbClr val="F2F2F2"/>
                    </a:solidFill>
                  </a:tcPr>
                </a:tc>
                <a:tc>
                  <a:txBody>
                    <a:bodyPr/>
                    <a:lstStyle/>
                    <a:p>
                      <a:pPr algn="ctr"/>
                      <a:r>
                        <a:rPr sz="1400" b="0" i="0">
                          <a:solidFill>
                            <a:srgbClr val="000000"/>
                          </a:solidFill>
                          <a:latin typeface="Times New Roman"/>
                        </a:rPr>
                        <a:t>64.5%</a:t>
                      </a:r>
                    </a:p>
                  </a:txBody>
                  <a:tcPr anchor="ctr">
                    <a:solidFill>
                      <a:srgbClr val="F2F2F2"/>
                    </a:solidFill>
                  </a:tcPr>
                </a:tc>
                <a:tc>
                  <a:txBody>
                    <a:bodyPr/>
                    <a:lstStyle/>
                    <a:p>
                      <a:pPr algn="ctr"/>
                      <a:r>
                        <a:rPr sz="1400" b="0" i="0">
                          <a:solidFill>
                            <a:srgbClr val="000000"/>
                          </a:solidFill>
                          <a:latin typeface="Times New Roman"/>
                        </a:rPr>
                        <a:t>51.7%</a:t>
                      </a:r>
                    </a:p>
                  </a:txBody>
                  <a:tcPr anchor="ctr">
                    <a:solidFill>
                      <a:srgbClr val="F2F2F2"/>
                    </a:solidFill>
                  </a:tcPr>
                </a:tc>
                <a:tc>
                  <a:txBody>
                    <a:bodyPr/>
                    <a:lstStyle/>
                    <a:p>
                      <a:pPr algn="ctr"/>
                      <a:r>
                        <a:rPr lang="en-US" sz="1400" b="0" i="0" dirty="0">
                          <a:solidFill>
                            <a:srgbClr val="000000"/>
                          </a:solidFill>
                          <a:latin typeface="Times New Roman"/>
                        </a:rPr>
                        <a:t>77.3%</a:t>
                      </a:r>
                      <a:endParaRPr sz="1400" b="0" i="0" dirty="0">
                        <a:solidFill>
                          <a:srgbClr val="000000"/>
                        </a:solidFill>
                        <a:latin typeface="Times New Roman"/>
                      </a:endParaRPr>
                    </a:p>
                  </a:txBody>
                  <a:tcPr anchor="ctr">
                    <a:solidFill>
                      <a:srgbClr val="F2F2F2"/>
                    </a:solidFill>
                  </a:tcPr>
                </a:tc>
                <a:tc>
                  <a:txBody>
                    <a:bodyPr/>
                    <a:lstStyle/>
                    <a:p>
                      <a:pPr algn="ctr"/>
                      <a:r>
                        <a:rPr sz="1400" b="0" i="0">
                          <a:solidFill>
                            <a:srgbClr val="000000"/>
                          </a:solidFill>
                          <a:latin typeface="Times New Roman"/>
                        </a:rPr>
                        <a:t>36.7%</a:t>
                      </a:r>
                    </a:p>
                  </a:txBody>
                  <a:tcPr anchor="ctr">
                    <a:solidFill>
                      <a:srgbClr val="F2F2F2"/>
                    </a:solidFill>
                  </a:tcPr>
                </a:tc>
                <a:tc>
                  <a:txBody>
                    <a:bodyPr/>
                    <a:lstStyle/>
                    <a:p>
                      <a:pPr algn="ctr"/>
                      <a:r>
                        <a:rPr sz="1400" b="0" i="0">
                          <a:solidFill>
                            <a:srgbClr val="000000"/>
                          </a:solidFill>
                          <a:latin typeface="Times New Roman"/>
                        </a:rPr>
                        <a:t>+21.1</a:t>
                      </a:r>
                    </a:p>
                  </a:txBody>
                  <a:tcPr anchor="ctr">
                    <a:solidFill>
                      <a:srgbClr val="F2F2F2"/>
                    </a:solidFill>
                  </a:tcPr>
                </a:tc>
                <a:extLst>
                  <a:ext uri="{0D108BD9-81ED-4DB2-BD59-A6C34878D82A}">
                    <a16:rowId xmlns:a16="http://schemas.microsoft.com/office/drawing/2014/main" val="10002"/>
                  </a:ext>
                </a:extLst>
              </a:tr>
              <a:tr h="272942">
                <a:tc>
                  <a:txBody>
                    <a:bodyPr/>
                    <a:lstStyle/>
                    <a:p>
                      <a:pPr algn="l"/>
                      <a:r>
                        <a:rPr sz="1400" b="1" i="0" dirty="0">
                          <a:solidFill>
                            <a:srgbClr val="000000"/>
                          </a:solidFill>
                          <a:latin typeface="Times New Roman"/>
                        </a:rPr>
                        <a:t>TCN Predictive</a:t>
                      </a:r>
                    </a:p>
                  </a:txBody>
                  <a:tcPr anchor="ctr">
                    <a:solidFill>
                      <a:srgbClr val="FFFFFF"/>
                    </a:solidFill>
                  </a:tcPr>
                </a:tc>
                <a:tc>
                  <a:txBody>
                    <a:bodyPr/>
                    <a:lstStyle/>
                    <a:p>
                      <a:pPr algn="ctr"/>
                      <a:r>
                        <a:rPr sz="1400" b="1" i="0">
                          <a:solidFill>
                            <a:srgbClr val="000000"/>
                          </a:solidFill>
                          <a:latin typeface="Times New Roman"/>
                        </a:rPr>
                        <a:t>72.1%</a:t>
                      </a:r>
                    </a:p>
                  </a:txBody>
                  <a:tcPr anchor="ctr">
                    <a:solidFill>
                      <a:srgbClr val="FFFFFF"/>
                    </a:solidFill>
                  </a:tcPr>
                </a:tc>
                <a:tc>
                  <a:txBody>
                    <a:bodyPr/>
                    <a:lstStyle/>
                    <a:p>
                      <a:pPr algn="ctr"/>
                      <a:r>
                        <a:rPr sz="1400" b="1" i="0">
                          <a:solidFill>
                            <a:srgbClr val="000000"/>
                          </a:solidFill>
                          <a:latin typeface="Times New Roman"/>
                        </a:rPr>
                        <a:t>82.6%</a:t>
                      </a:r>
                    </a:p>
                  </a:txBody>
                  <a:tcPr anchor="ctr">
                    <a:solidFill>
                      <a:srgbClr val="FFFFFF"/>
                    </a:solidFill>
                  </a:tcPr>
                </a:tc>
                <a:tc>
                  <a:txBody>
                    <a:bodyPr/>
                    <a:lstStyle/>
                    <a:p>
                      <a:pPr algn="ctr"/>
                      <a:r>
                        <a:rPr lang="en-US" sz="1400" b="1" i="0" dirty="0">
                          <a:solidFill>
                            <a:srgbClr val="000000"/>
                          </a:solidFill>
                          <a:latin typeface="Times New Roman"/>
                        </a:rPr>
                        <a:t>61.6%</a:t>
                      </a:r>
                      <a:endParaRPr sz="1400" b="1" i="0" dirty="0">
                        <a:solidFill>
                          <a:srgbClr val="000000"/>
                        </a:solidFill>
                        <a:latin typeface="Times New Roman"/>
                      </a:endParaRPr>
                    </a:p>
                  </a:txBody>
                  <a:tcPr anchor="ctr">
                    <a:solidFill>
                      <a:srgbClr val="FFFFFF"/>
                    </a:solidFill>
                  </a:tcPr>
                </a:tc>
                <a:tc>
                  <a:txBody>
                    <a:bodyPr/>
                    <a:lstStyle/>
                    <a:p>
                      <a:pPr algn="ctr"/>
                      <a:r>
                        <a:rPr sz="1400" b="1" i="0">
                          <a:solidFill>
                            <a:srgbClr val="000000"/>
                          </a:solidFill>
                          <a:latin typeface="Times New Roman"/>
                        </a:rPr>
                        <a:t>59.7%</a:t>
                      </a:r>
                    </a:p>
                  </a:txBody>
                  <a:tcPr anchor="ctr">
                    <a:solidFill>
                      <a:srgbClr val="FFFFFF"/>
                    </a:solidFill>
                  </a:tcPr>
                </a:tc>
                <a:tc>
                  <a:txBody>
                    <a:bodyPr/>
                    <a:lstStyle/>
                    <a:p>
                      <a:pPr algn="ctr"/>
                      <a:r>
                        <a:rPr sz="1400" b="1" i="0">
                          <a:solidFill>
                            <a:srgbClr val="000000"/>
                          </a:solidFill>
                          <a:latin typeface="Times New Roman"/>
                        </a:rPr>
                        <a:t>+30.5</a:t>
                      </a:r>
                    </a:p>
                  </a:txBody>
                  <a:tcPr anchor="ctr">
                    <a:solidFill>
                      <a:srgbClr val="FFFFFF"/>
                    </a:solidFill>
                  </a:tcPr>
                </a:tc>
                <a:extLst>
                  <a:ext uri="{0D108BD9-81ED-4DB2-BD59-A6C34878D82A}">
                    <a16:rowId xmlns:a16="http://schemas.microsoft.com/office/drawing/2014/main" val="10003"/>
                  </a:ext>
                </a:extLst>
              </a:tr>
              <a:tr h="272942">
                <a:tc>
                  <a:txBody>
                    <a:bodyPr/>
                    <a:lstStyle/>
                    <a:p>
                      <a:pPr algn="l"/>
                      <a:r>
                        <a:rPr sz="1400" b="0" i="0" dirty="0">
                          <a:solidFill>
                            <a:srgbClr val="000000"/>
                          </a:solidFill>
                          <a:latin typeface="Times New Roman"/>
                        </a:rPr>
                        <a:t>Alignment Oracle</a:t>
                      </a:r>
                    </a:p>
                  </a:txBody>
                  <a:tcPr anchor="ctr">
                    <a:solidFill>
                      <a:srgbClr val="F2F2F2"/>
                    </a:solidFill>
                  </a:tcPr>
                </a:tc>
                <a:tc>
                  <a:txBody>
                    <a:bodyPr/>
                    <a:lstStyle/>
                    <a:p>
                      <a:pPr algn="ctr"/>
                      <a:r>
                        <a:rPr sz="1400" b="0" i="0">
                          <a:solidFill>
                            <a:srgbClr val="000000"/>
                          </a:solidFill>
                          <a:latin typeface="Times New Roman"/>
                        </a:rPr>
                        <a:t>100%</a:t>
                      </a:r>
                    </a:p>
                  </a:txBody>
                  <a:tcPr anchor="ctr">
                    <a:solidFill>
                      <a:srgbClr val="F2F2F2"/>
                    </a:solidFill>
                  </a:tcPr>
                </a:tc>
                <a:tc>
                  <a:txBody>
                    <a:bodyPr/>
                    <a:lstStyle/>
                    <a:p>
                      <a:pPr algn="ctr"/>
                      <a:r>
                        <a:rPr sz="1400" b="0" i="0" dirty="0">
                          <a:solidFill>
                            <a:srgbClr val="000000"/>
                          </a:solidFill>
                          <a:latin typeface="Times New Roman"/>
                        </a:rPr>
                        <a:t>100%</a:t>
                      </a:r>
                    </a:p>
                  </a:txBody>
                  <a:tcPr anchor="ctr">
                    <a:solidFill>
                      <a:srgbClr val="F2F2F2"/>
                    </a:solidFill>
                  </a:tcPr>
                </a:tc>
                <a:tc>
                  <a:txBody>
                    <a:bodyPr/>
                    <a:lstStyle/>
                    <a:p>
                      <a:pPr algn="ctr"/>
                      <a:r>
                        <a:rPr lang="en-US" sz="1400" b="0" i="0" dirty="0">
                          <a:solidFill>
                            <a:srgbClr val="000000"/>
                          </a:solidFill>
                          <a:latin typeface="Times New Roman"/>
                        </a:rPr>
                        <a:t>100%</a:t>
                      </a:r>
                      <a:endParaRPr sz="1400" b="0" i="0" dirty="0">
                        <a:solidFill>
                          <a:srgbClr val="000000"/>
                        </a:solidFill>
                        <a:latin typeface="Times New Roman"/>
                      </a:endParaRPr>
                    </a:p>
                  </a:txBody>
                  <a:tcPr anchor="ctr">
                    <a:solidFill>
                      <a:srgbClr val="F2F2F2"/>
                    </a:solidFill>
                  </a:tcPr>
                </a:tc>
                <a:tc>
                  <a:txBody>
                    <a:bodyPr/>
                    <a:lstStyle/>
                    <a:p>
                      <a:pPr algn="ctr"/>
                      <a:r>
                        <a:rPr sz="1400" b="0" i="0" dirty="0">
                          <a:solidFill>
                            <a:srgbClr val="000000"/>
                          </a:solidFill>
                          <a:latin typeface="Times New Roman"/>
                        </a:rPr>
                        <a:t>48.3%</a:t>
                      </a:r>
                    </a:p>
                  </a:txBody>
                  <a:tcPr anchor="ctr">
                    <a:solidFill>
                      <a:srgbClr val="F2F2F2"/>
                    </a:solidFill>
                  </a:tcPr>
                </a:tc>
                <a:tc>
                  <a:txBody>
                    <a:bodyPr/>
                    <a:lstStyle/>
                    <a:p>
                      <a:pPr algn="ctr"/>
                      <a:r>
                        <a:rPr sz="1400" b="0" i="0" dirty="0">
                          <a:solidFill>
                            <a:srgbClr val="000000"/>
                          </a:solidFill>
                          <a:latin typeface="Times New Roman"/>
                        </a:rPr>
                        <a:t>+33.3</a:t>
                      </a:r>
                    </a:p>
                  </a:txBody>
                  <a:tcPr anchor="ctr">
                    <a:solidFill>
                      <a:srgbClr val="F2F2F2"/>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685799" y="2384582"/>
            <a:ext cx="8686800" cy="420623"/>
          </a:xfrm>
          <a:prstGeom prst="rect">
            <a:avLst/>
          </a:prstGeom>
          <a:noFill/>
        </p:spPr>
        <p:txBody>
          <a:bodyPr wrap="square">
            <a:spAutoFit/>
          </a:bodyPr>
          <a:lstStyle/>
          <a:p>
            <a:pPr algn="l">
              <a:spcBef>
                <a:spcPts val="0"/>
              </a:spcBef>
              <a:spcAft>
                <a:spcPts val="200"/>
              </a:spcAft>
            </a:pPr>
            <a:r>
              <a:rPr lang="en-US" sz="1100" b="0" i="1" dirty="0">
                <a:solidFill>
                  <a:srgbClr val="646464"/>
                </a:solidFill>
                <a:latin typeface="Times New Roman"/>
              </a:rPr>
              <a:t>Table 2.  Controller comparison on 35 subjects’ real EEG recordings.  PAC Gap in dimensionless Modulation Index units (x10^-6 MI units).  The TCN Predictive controller reaches 91% of the theoretical oracle bound.</a:t>
            </a:r>
          </a:p>
        </p:txBody>
      </p:sp>
      <p:pic>
        <p:nvPicPr>
          <p:cNvPr id="5" name="Picture 4">
            <a:extLst>
              <a:ext uri="{FF2B5EF4-FFF2-40B4-BE49-F238E27FC236}">
                <a16:creationId xmlns:a16="http://schemas.microsoft.com/office/drawing/2014/main" id="{1410C5E8-4AEE-651F-2247-56A482311867}"/>
              </a:ext>
            </a:extLst>
          </p:cNvPr>
          <p:cNvPicPr>
            <a:picLocks noChangeAspect="1"/>
          </p:cNvPicPr>
          <p:nvPr/>
        </p:nvPicPr>
        <p:blipFill>
          <a:blip r:embed="rId2"/>
          <a:stretch>
            <a:fillRect/>
          </a:stretch>
        </p:blipFill>
        <p:spPr>
          <a:xfrm>
            <a:off x="901282" y="2892336"/>
            <a:ext cx="8255836" cy="48800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CFB74A-1888-742F-3AD8-4D384B65780E}"/>
              </a:ext>
            </a:extLst>
          </p:cNvPr>
          <p:cNvSpPr txBox="1"/>
          <p:nvPr/>
        </p:nvSpPr>
        <p:spPr>
          <a:xfrm>
            <a:off x="530352" y="368045"/>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Multi-Seed Robustness (7ch, horizon = 5 s)</a:t>
            </a:r>
          </a:p>
        </p:txBody>
      </p:sp>
      <p:sp>
        <p:nvSpPr>
          <p:cNvPr id="3" name="TextBox 2">
            <a:extLst>
              <a:ext uri="{FF2B5EF4-FFF2-40B4-BE49-F238E27FC236}">
                <a16:creationId xmlns:a16="http://schemas.microsoft.com/office/drawing/2014/main" id="{2C1BD156-BC6A-47D3-826F-5CF01431126D}"/>
              </a:ext>
            </a:extLst>
          </p:cNvPr>
          <p:cNvSpPr txBox="1"/>
          <p:nvPr/>
        </p:nvSpPr>
        <p:spPr>
          <a:xfrm>
            <a:off x="530352" y="678941"/>
            <a:ext cx="8686800" cy="328676"/>
          </a:xfrm>
          <a:prstGeom prst="rect">
            <a:avLst/>
          </a:prstGeom>
          <a:noFill/>
        </p:spPr>
        <p:txBody>
          <a:bodyPr wrap="square">
            <a:spAutoFit/>
          </a:bodyPr>
          <a:lstStyle/>
          <a:p>
            <a:pPr algn="l">
              <a:spcBef>
                <a:spcPts val="0"/>
              </a:spcBef>
              <a:spcAft>
                <a:spcPts val="200"/>
              </a:spcAft>
            </a:pPr>
            <a:r>
              <a:rPr sz="1400" b="0" i="0" dirty="0">
                <a:solidFill>
                  <a:srgbClr val="000000"/>
                </a:solidFill>
                <a:latin typeface="Times New Roman"/>
              </a:rPr>
              <a:t>Validated across 5 random seeds (h = 64 TCN, </a:t>
            </a:r>
            <a:r>
              <a:rPr sz="1400" b="0" i="0" dirty="0" err="1">
                <a:solidFill>
                  <a:srgbClr val="000000"/>
                </a:solidFill>
                <a:latin typeface="Times New Roman"/>
              </a:rPr>
              <a:t>PAC+Stim</a:t>
            </a:r>
            <a:r>
              <a:rPr sz="1400" b="0" i="0" dirty="0">
                <a:solidFill>
                  <a:srgbClr val="000000"/>
                </a:solidFill>
                <a:latin typeface="Times New Roman"/>
              </a:rPr>
              <a:t> features):</a:t>
            </a:r>
          </a:p>
        </p:txBody>
      </p:sp>
      <p:graphicFrame>
        <p:nvGraphicFramePr>
          <p:cNvPr id="4" name="Table 3">
            <a:extLst>
              <a:ext uri="{FF2B5EF4-FFF2-40B4-BE49-F238E27FC236}">
                <a16:creationId xmlns:a16="http://schemas.microsoft.com/office/drawing/2014/main" id="{E344F25B-8378-CE11-0075-9A2C99FEC894}"/>
              </a:ext>
            </a:extLst>
          </p:cNvPr>
          <p:cNvGraphicFramePr>
            <a:graphicFrameLocks noGrp="1"/>
          </p:cNvGraphicFramePr>
          <p:nvPr>
            <p:extLst>
              <p:ext uri="{D42A27DB-BD31-4B8C-83A1-F6EECF244321}">
                <p14:modId xmlns:p14="http://schemas.microsoft.com/office/powerpoint/2010/main" val="1316738105"/>
              </p:ext>
            </p:extLst>
          </p:nvPr>
        </p:nvGraphicFramePr>
        <p:xfrm>
          <a:off x="1785112" y="1016508"/>
          <a:ext cx="6289037" cy="2133600"/>
        </p:xfrm>
        <a:graphic>
          <a:graphicData uri="http://schemas.openxmlformats.org/drawingml/2006/table">
            <a:tbl>
              <a:tblPr>
                <a:tableStyleId>{5C22544A-7EE6-4342-B048-85BDC9FD1C3A}</a:tableStyleId>
              </a:tblPr>
              <a:tblGrid>
                <a:gridCol w="1976555">
                  <a:extLst>
                    <a:ext uri="{9D8B030D-6E8A-4147-A177-3AD203B41FA5}">
                      <a16:colId xmlns:a16="http://schemas.microsoft.com/office/drawing/2014/main" val="20000"/>
                    </a:ext>
                  </a:extLst>
                </a:gridCol>
                <a:gridCol w="2156241">
                  <a:extLst>
                    <a:ext uri="{9D8B030D-6E8A-4147-A177-3AD203B41FA5}">
                      <a16:colId xmlns:a16="http://schemas.microsoft.com/office/drawing/2014/main" val="20001"/>
                    </a:ext>
                  </a:extLst>
                </a:gridCol>
                <a:gridCol w="2156241">
                  <a:extLst>
                    <a:ext uri="{9D8B030D-6E8A-4147-A177-3AD203B41FA5}">
                      <a16:colId xmlns:a16="http://schemas.microsoft.com/office/drawing/2014/main" val="20002"/>
                    </a:ext>
                  </a:extLst>
                </a:gridCol>
              </a:tblGrid>
              <a:tr h="207917">
                <a:tc>
                  <a:txBody>
                    <a:bodyPr/>
                    <a:lstStyle/>
                    <a:p>
                      <a:pPr algn="ctr"/>
                      <a:r>
                        <a:rPr sz="1400" b="1" i="0">
                          <a:solidFill>
                            <a:srgbClr val="FFFFFF"/>
                          </a:solidFill>
                          <a:latin typeface="Times New Roman"/>
                        </a:rPr>
                        <a:t>Seed</a:t>
                      </a:r>
                    </a:p>
                  </a:txBody>
                  <a:tcPr anchor="ctr">
                    <a:solidFill>
                      <a:srgbClr val="282828"/>
                    </a:solidFill>
                  </a:tcPr>
                </a:tc>
                <a:tc>
                  <a:txBody>
                    <a:bodyPr/>
                    <a:lstStyle/>
                    <a:p>
                      <a:pPr algn="ctr"/>
                      <a:r>
                        <a:rPr sz="1400" b="1" i="0">
                          <a:solidFill>
                            <a:srgbClr val="FFFFFF"/>
                          </a:solidFill>
                          <a:latin typeface="Times New Roman"/>
                        </a:rPr>
                        <a:t>Val R²</a:t>
                      </a:r>
                    </a:p>
                  </a:txBody>
                  <a:tcPr anchor="ctr">
                    <a:solidFill>
                      <a:srgbClr val="282828"/>
                    </a:solidFill>
                  </a:tcPr>
                </a:tc>
                <a:tc>
                  <a:txBody>
                    <a:bodyPr/>
                    <a:lstStyle/>
                    <a:p>
                      <a:pPr algn="ctr"/>
                      <a:r>
                        <a:rPr sz="1400" b="1" i="0">
                          <a:solidFill>
                            <a:srgbClr val="FFFFFF"/>
                          </a:solidFill>
                          <a:latin typeface="Times New Roman"/>
                        </a:rPr>
                        <a:t>Test R²</a:t>
                      </a:r>
                    </a:p>
                  </a:txBody>
                  <a:tcPr anchor="ctr">
                    <a:solidFill>
                      <a:srgbClr val="282828"/>
                    </a:solidFill>
                  </a:tcPr>
                </a:tc>
                <a:extLst>
                  <a:ext uri="{0D108BD9-81ED-4DB2-BD59-A6C34878D82A}">
                    <a16:rowId xmlns:a16="http://schemas.microsoft.com/office/drawing/2014/main" val="10000"/>
                  </a:ext>
                </a:extLst>
              </a:tr>
              <a:tr h="207917">
                <a:tc>
                  <a:txBody>
                    <a:bodyPr/>
                    <a:lstStyle/>
                    <a:p>
                      <a:pPr algn="l"/>
                      <a:r>
                        <a:rPr sz="1400" b="0" i="0">
                          <a:solidFill>
                            <a:srgbClr val="000000"/>
                          </a:solidFill>
                          <a:latin typeface="Times New Roman"/>
                        </a:rPr>
                        <a:t>42</a:t>
                      </a:r>
                    </a:p>
                  </a:txBody>
                  <a:tcPr anchor="ctr">
                    <a:solidFill>
                      <a:srgbClr val="FFFFFF"/>
                    </a:solidFill>
                  </a:tcPr>
                </a:tc>
                <a:tc>
                  <a:txBody>
                    <a:bodyPr/>
                    <a:lstStyle/>
                    <a:p>
                      <a:pPr algn="ctr"/>
                      <a:r>
                        <a:rPr sz="1400" b="0" i="0">
                          <a:solidFill>
                            <a:srgbClr val="000000"/>
                          </a:solidFill>
                          <a:latin typeface="Times New Roman"/>
                        </a:rPr>
                        <a:t>0.804</a:t>
                      </a:r>
                    </a:p>
                  </a:txBody>
                  <a:tcPr anchor="ctr">
                    <a:solidFill>
                      <a:srgbClr val="FFFFFF"/>
                    </a:solidFill>
                  </a:tcPr>
                </a:tc>
                <a:tc>
                  <a:txBody>
                    <a:bodyPr/>
                    <a:lstStyle/>
                    <a:p>
                      <a:pPr algn="ctr"/>
                      <a:r>
                        <a:rPr sz="1400" b="0" i="0">
                          <a:solidFill>
                            <a:srgbClr val="000000"/>
                          </a:solidFill>
                          <a:latin typeface="Times New Roman"/>
                        </a:rPr>
                        <a:t>0.558</a:t>
                      </a:r>
                    </a:p>
                  </a:txBody>
                  <a:tcPr anchor="ctr">
                    <a:solidFill>
                      <a:srgbClr val="FFFFFF"/>
                    </a:solidFill>
                  </a:tcPr>
                </a:tc>
                <a:extLst>
                  <a:ext uri="{0D108BD9-81ED-4DB2-BD59-A6C34878D82A}">
                    <a16:rowId xmlns:a16="http://schemas.microsoft.com/office/drawing/2014/main" val="10001"/>
                  </a:ext>
                </a:extLst>
              </a:tr>
              <a:tr h="207917">
                <a:tc>
                  <a:txBody>
                    <a:bodyPr/>
                    <a:lstStyle/>
                    <a:p>
                      <a:pPr algn="l"/>
                      <a:r>
                        <a:rPr sz="1400" b="0" i="0">
                          <a:solidFill>
                            <a:srgbClr val="000000"/>
                          </a:solidFill>
                          <a:latin typeface="Times New Roman"/>
                        </a:rPr>
                        <a:t>123</a:t>
                      </a:r>
                    </a:p>
                  </a:txBody>
                  <a:tcPr anchor="ctr">
                    <a:solidFill>
                      <a:srgbClr val="F2F2F2"/>
                    </a:solidFill>
                  </a:tcPr>
                </a:tc>
                <a:tc>
                  <a:txBody>
                    <a:bodyPr/>
                    <a:lstStyle/>
                    <a:p>
                      <a:pPr algn="ctr"/>
                      <a:r>
                        <a:rPr sz="1400" b="0" i="0">
                          <a:solidFill>
                            <a:srgbClr val="000000"/>
                          </a:solidFill>
                          <a:latin typeface="Times New Roman"/>
                        </a:rPr>
                        <a:t>0.822</a:t>
                      </a:r>
                    </a:p>
                  </a:txBody>
                  <a:tcPr anchor="ctr">
                    <a:solidFill>
                      <a:srgbClr val="F2F2F2"/>
                    </a:solidFill>
                  </a:tcPr>
                </a:tc>
                <a:tc>
                  <a:txBody>
                    <a:bodyPr/>
                    <a:lstStyle/>
                    <a:p>
                      <a:pPr algn="ctr"/>
                      <a:r>
                        <a:rPr sz="1400" b="0" i="0">
                          <a:solidFill>
                            <a:srgbClr val="000000"/>
                          </a:solidFill>
                          <a:latin typeface="Times New Roman"/>
                        </a:rPr>
                        <a:t>0.620</a:t>
                      </a:r>
                    </a:p>
                  </a:txBody>
                  <a:tcPr anchor="ctr">
                    <a:solidFill>
                      <a:srgbClr val="F2F2F2"/>
                    </a:solidFill>
                  </a:tcPr>
                </a:tc>
                <a:extLst>
                  <a:ext uri="{0D108BD9-81ED-4DB2-BD59-A6C34878D82A}">
                    <a16:rowId xmlns:a16="http://schemas.microsoft.com/office/drawing/2014/main" val="10002"/>
                  </a:ext>
                </a:extLst>
              </a:tr>
              <a:tr h="207917">
                <a:tc>
                  <a:txBody>
                    <a:bodyPr/>
                    <a:lstStyle/>
                    <a:p>
                      <a:pPr algn="l"/>
                      <a:r>
                        <a:rPr sz="1400" b="0" i="0">
                          <a:solidFill>
                            <a:srgbClr val="000000"/>
                          </a:solidFill>
                          <a:latin typeface="Times New Roman"/>
                        </a:rPr>
                        <a:t>456</a:t>
                      </a:r>
                    </a:p>
                  </a:txBody>
                  <a:tcPr anchor="ctr">
                    <a:solidFill>
                      <a:srgbClr val="FFFFFF"/>
                    </a:solidFill>
                  </a:tcPr>
                </a:tc>
                <a:tc>
                  <a:txBody>
                    <a:bodyPr/>
                    <a:lstStyle/>
                    <a:p>
                      <a:pPr algn="ctr"/>
                      <a:r>
                        <a:rPr sz="1400" b="0" i="0">
                          <a:solidFill>
                            <a:srgbClr val="000000"/>
                          </a:solidFill>
                          <a:latin typeface="Times New Roman"/>
                        </a:rPr>
                        <a:t>0.799</a:t>
                      </a:r>
                    </a:p>
                  </a:txBody>
                  <a:tcPr anchor="ctr">
                    <a:solidFill>
                      <a:srgbClr val="FFFFFF"/>
                    </a:solidFill>
                  </a:tcPr>
                </a:tc>
                <a:tc>
                  <a:txBody>
                    <a:bodyPr/>
                    <a:lstStyle/>
                    <a:p>
                      <a:pPr algn="ctr"/>
                      <a:r>
                        <a:rPr sz="1400" b="0" i="0">
                          <a:solidFill>
                            <a:srgbClr val="000000"/>
                          </a:solidFill>
                          <a:latin typeface="Times New Roman"/>
                        </a:rPr>
                        <a:t>0.597</a:t>
                      </a:r>
                    </a:p>
                  </a:txBody>
                  <a:tcPr anchor="ctr">
                    <a:solidFill>
                      <a:srgbClr val="FFFFFF"/>
                    </a:solidFill>
                  </a:tcPr>
                </a:tc>
                <a:extLst>
                  <a:ext uri="{0D108BD9-81ED-4DB2-BD59-A6C34878D82A}">
                    <a16:rowId xmlns:a16="http://schemas.microsoft.com/office/drawing/2014/main" val="10003"/>
                  </a:ext>
                </a:extLst>
              </a:tr>
              <a:tr h="207917">
                <a:tc>
                  <a:txBody>
                    <a:bodyPr/>
                    <a:lstStyle/>
                    <a:p>
                      <a:pPr algn="l"/>
                      <a:r>
                        <a:rPr sz="1400" b="0" i="0">
                          <a:solidFill>
                            <a:srgbClr val="000000"/>
                          </a:solidFill>
                          <a:latin typeface="Times New Roman"/>
                        </a:rPr>
                        <a:t>789</a:t>
                      </a:r>
                    </a:p>
                  </a:txBody>
                  <a:tcPr anchor="ctr">
                    <a:solidFill>
                      <a:srgbClr val="F2F2F2"/>
                    </a:solidFill>
                  </a:tcPr>
                </a:tc>
                <a:tc>
                  <a:txBody>
                    <a:bodyPr/>
                    <a:lstStyle/>
                    <a:p>
                      <a:pPr algn="ctr"/>
                      <a:r>
                        <a:rPr sz="1400" b="0" i="0">
                          <a:solidFill>
                            <a:srgbClr val="000000"/>
                          </a:solidFill>
                          <a:latin typeface="Times New Roman"/>
                        </a:rPr>
                        <a:t>0.831</a:t>
                      </a:r>
                    </a:p>
                  </a:txBody>
                  <a:tcPr anchor="ctr">
                    <a:solidFill>
                      <a:srgbClr val="F2F2F2"/>
                    </a:solidFill>
                  </a:tcPr>
                </a:tc>
                <a:tc>
                  <a:txBody>
                    <a:bodyPr/>
                    <a:lstStyle/>
                    <a:p>
                      <a:pPr algn="ctr"/>
                      <a:r>
                        <a:rPr sz="1400" b="0" i="0">
                          <a:solidFill>
                            <a:srgbClr val="000000"/>
                          </a:solidFill>
                          <a:latin typeface="Times New Roman"/>
                        </a:rPr>
                        <a:t>0.608</a:t>
                      </a:r>
                    </a:p>
                  </a:txBody>
                  <a:tcPr anchor="ctr">
                    <a:solidFill>
                      <a:srgbClr val="F2F2F2"/>
                    </a:solidFill>
                  </a:tcPr>
                </a:tc>
                <a:extLst>
                  <a:ext uri="{0D108BD9-81ED-4DB2-BD59-A6C34878D82A}">
                    <a16:rowId xmlns:a16="http://schemas.microsoft.com/office/drawing/2014/main" val="10004"/>
                  </a:ext>
                </a:extLst>
              </a:tr>
              <a:tr h="207917">
                <a:tc>
                  <a:txBody>
                    <a:bodyPr/>
                    <a:lstStyle/>
                    <a:p>
                      <a:pPr algn="l"/>
                      <a:r>
                        <a:rPr sz="1400" b="0" i="0" dirty="0">
                          <a:solidFill>
                            <a:srgbClr val="000000"/>
                          </a:solidFill>
                          <a:latin typeface="Times New Roman"/>
                        </a:rPr>
                        <a:t>2024</a:t>
                      </a:r>
                    </a:p>
                  </a:txBody>
                  <a:tcPr anchor="ctr">
                    <a:solidFill>
                      <a:srgbClr val="FFFFFF"/>
                    </a:solidFill>
                  </a:tcPr>
                </a:tc>
                <a:tc>
                  <a:txBody>
                    <a:bodyPr/>
                    <a:lstStyle/>
                    <a:p>
                      <a:pPr algn="ctr"/>
                      <a:r>
                        <a:rPr sz="1400" b="0" i="0" dirty="0">
                          <a:solidFill>
                            <a:srgbClr val="000000"/>
                          </a:solidFill>
                          <a:latin typeface="Times New Roman"/>
                        </a:rPr>
                        <a:t>0.846</a:t>
                      </a:r>
                    </a:p>
                  </a:txBody>
                  <a:tcPr anchor="ctr">
                    <a:solidFill>
                      <a:srgbClr val="FFFFFF"/>
                    </a:solidFill>
                  </a:tcPr>
                </a:tc>
                <a:tc>
                  <a:txBody>
                    <a:bodyPr/>
                    <a:lstStyle/>
                    <a:p>
                      <a:pPr algn="ctr"/>
                      <a:r>
                        <a:rPr sz="1400" b="0" i="0">
                          <a:solidFill>
                            <a:srgbClr val="000000"/>
                          </a:solidFill>
                          <a:latin typeface="Times New Roman"/>
                        </a:rPr>
                        <a:t>0.647</a:t>
                      </a:r>
                    </a:p>
                  </a:txBody>
                  <a:tcPr anchor="ctr">
                    <a:solidFill>
                      <a:srgbClr val="FFFFFF"/>
                    </a:solidFill>
                  </a:tcPr>
                </a:tc>
                <a:extLst>
                  <a:ext uri="{0D108BD9-81ED-4DB2-BD59-A6C34878D82A}">
                    <a16:rowId xmlns:a16="http://schemas.microsoft.com/office/drawing/2014/main" val="10005"/>
                  </a:ext>
                </a:extLst>
              </a:tr>
              <a:tr h="207917">
                <a:tc>
                  <a:txBody>
                    <a:bodyPr/>
                    <a:lstStyle/>
                    <a:p>
                      <a:pPr algn="l"/>
                      <a:r>
                        <a:rPr sz="1400" b="1" i="0">
                          <a:solidFill>
                            <a:srgbClr val="000000"/>
                          </a:solidFill>
                          <a:latin typeface="Times New Roman"/>
                        </a:rPr>
                        <a:t>Mean ± Std</a:t>
                      </a:r>
                    </a:p>
                  </a:txBody>
                  <a:tcPr anchor="ctr">
                    <a:solidFill>
                      <a:srgbClr val="F2F2F2"/>
                    </a:solidFill>
                  </a:tcPr>
                </a:tc>
                <a:tc>
                  <a:txBody>
                    <a:bodyPr/>
                    <a:lstStyle/>
                    <a:p>
                      <a:pPr algn="ctr"/>
                      <a:r>
                        <a:rPr sz="1400" b="1" i="0">
                          <a:solidFill>
                            <a:srgbClr val="000000"/>
                          </a:solidFill>
                          <a:latin typeface="Times New Roman"/>
                        </a:rPr>
                        <a:t>0.820 ± 0.019</a:t>
                      </a:r>
                    </a:p>
                  </a:txBody>
                  <a:tcPr anchor="ctr">
                    <a:solidFill>
                      <a:srgbClr val="F2F2F2"/>
                    </a:solidFill>
                  </a:tcPr>
                </a:tc>
                <a:tc>
                  <a:txBody>
                    <a:bodyPr/>
                    <a:lstStyle/>
                    <a:p>
                      <a:pPr algn="ctr"/>
                      <a:r>
                        <a:rPr sz="1400" b="1" i="0" dirty="0">
                          <a:solidFill>
                            <a:srgbClr val="000000"/>
                          </a:solidFill>
                          <a:latin typeface="Times New Roman"/>
                        </a:rPr>
                        <a:t>0.606 ± 0.032</a:t>
                      </a:r>
                    </a:p>
                  </a:txBody>
                  <a:tcPr anchor="ctr">
                    <a:solidFill>
                      <a:srgbClr val="F2F2F2"/>
                    </a:solidFill>
                  </a:tcPr>
                </a:tc>
                <a:extLst>
                  <a:ext uri="{0D108BD9-81ED-4DB2-BD59-A6C34878D82A}">
                    <a16:rowId xmlns:a16="http://schemas.microsoft.com/office/drawing/2014/main" val="10006"/>
                  </a:ext>
                </a:extLst>
              </a:tr>
            </a:tbl>
          </a:graphicData>
        </a:graphic>
      </p:graphicFrame>
      <p:sp>
        <p:nvSpPr>
          <p:cNvPr id="5" name="TextBox 4">
            <a:extLst>
              <a:ext uri="{FF2B5EF4-FFF2-40B4-BE49-F238E27FC236}">
                <a16:creationId xmlns:a16="http://schemas.microsoft.com/office/drawing/2014/main" id="{78F3C85D-2FDF-1328-F97A-B2997AED0821}"/>
              </a:ext>
            </a:extLst>
          </p:cNvPr>
          <p:cNvSpPr txBox="1"/>
          <p:nvPr/>
        </p:nvSpPr>
        <p:spPr>
          <a:xfrm>
            <a:off x="428752" y="3479826"/>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Statistical Significance (TCN vs. Reactive Threshold)</a:t>
            </a:r>
          </a:p>
        </p:txBody>
      </p:sp>
      <p:sp>
        <p:nvSpPr>
          <p:cNvPr id="6" name="TextBox 5">
            <a:extLst>
              <a:ext uri="{FF2B5EF4-FFF2-40B4-BE49-F238E27FC236}">
                <a16:creationId xmlns:a16="http://schemas.microsoft.com/office/drawing/2014/main" id="{A05D86FD-557D-1997-6B0F-29F01225D068}"/>
              </a:ext>
            </a:extLst>
          </p:cNvPr>
          <p:cNvSpPr txBox="1"/>
          <p:nvPr/>
        </p:nvSpPr>
        <p:spPr>
          <a:xfrm>
            <a:off x="231648" y="3874821"/>
            <a:ext cx="5440680" cy="3218638"/>
          </a:xfrm>
          <a:prstGeom prst="rect">
            <a:avLst/>
          </a:prstGeom>
          <a:noFill/>
        </p:spPr>
        <p:txBody>
          <a:bodyPr wrap="square">
            <a:spAutoFit/>
          </a:bodyPr>
          <a:lstStyle/>
          <a:p>
            <a:pPr marL="468630" indent="-285750" algn="l">
              <a:lnSpc>
                <a:spcPts val="2180"/>
              </a:lnSpc>
              <a:spcAft>
                <a:spcPts val="100"/>
              </a:spcAft>
              <a:buFont typeface="Arial" panose="020B0604020202020204" pitchFamily="34" charset="0"/>
              <a:buChar char="•"/>
            </a:pPr>
            <a:r>
              <a:rPr sz="1400" b="1" i="0" dirty="0">
                <a:solidFill>
                  <a:srgbClr val="000000"/>
                </a:solidFill>
                <a:latin typeface="Times New Roman"/>
              </a:rPr>
              <a:t>Alignment:</a:t>
            </a:r>
            <a:r>
              <a:rPr sz="1400" b="0" i="0" dirty="0">
                <a:solidFill>
                  <a:srgbClr val="000000"/>
                </a:solidFill>
                <a:latin typeface="Times New Roman"/>
              </a:rPr>
              <a:t> 72.1% vs. 64.5%</a:t>
            </a:r>
            <a:r>
              <a:rPr lang="en-US" sz="1400" b="0" i="0" dirty="0">
                <a:solidFill>
                  <a:srgbClr val="000000"/>
                </a:solidFill>
                <a:latin typeface="Times New Roman"/>
              </a:rPr>
              <a:t>,</a:t>
            </a:r>
            <a:r>
              <a:rPr sz="1400" b="0" i="0" dirty="0">
                <a:solidFill>
                  <a:srgbClr val="000000"/>
                </a:solidFill>
                <a:latin typeface="Times New Roman"/>
              </a:rPr>
              <a:t> Hedges’ g = +1.31 [95% CI: 0.75, 1.87], p &lt; 0.001 (large effect)</a:t>
            </a:r>
            <a:endParaRPr lang="en-US" sz="1400" b="0" i="0" dirty="0">
              <a:solidFill>
                <a:srgbClr val="000000"/>
              </a:solidFill>
              <a:latin typeface="Times New Roman"/>
            </a:endParaRPr>
          </a:p>
          <a:p>
            <a:pPr marL="468630" indent="-285750">
              <a:lnSpc>
                <a:spcPts val="2180"/>
              </a:lnSpc>
              <a:spcAft>
                <a:spcPts val="100"/>
              </a:spcAft>
              <a:buFont typeface="Arial" panose="020B0604020202020204" pitchFamily="34" charset="0"/>
              <a:buChar char="•"/>
            </a:pPr>
            <a:r>
              <a:rPr lang="en-US" sz="1400" b="1" dirty="0">
                <a:solidFill>
                  <a:srgbClr val="000000"/>
                </a:solidFill>
                <a:latin typeface="Times New Roman"/>
              </a:rPr>
              <a:t>Low-PAC Stim Rate:</a:t>
            </a:r>
            <a:r>
              <a:rPr lang="en-US" sz="1400" dirty="0">
                <a:solidFill>
                  <a:srgbClr val="000000"/>
                </a:solidFill>
                <a:latin typeface="Times New Roman"/>
              </a:rPr>
              <a:t> 82.6% vs. 51.7%; Hedges’ g = +4.47 [95% CI: 3.33, 5.62], p &lt; 0.001 (very large effect)</a:t>
            </a:r>
          </a:p>
          <a:p>
            <a:pPr marL="468630" indent="-285750">
              <a:lnSpc>
                <a:spcPts val="2180"/>
              </a:lnSpc>
              <a:spcAft>
                <a:spcPts val="100"/>
              </a:spcAft>
              <a:buFont typeface="Arial" panose="020B0604020202020204" pitchFamily="34" charset="0"/>
              <a:buChar char="•"/>
            </a:pPr>
            <a:r>
              <a:rPr lang="en-US" sz="1400" b="1" dirty="0">
                <a:solidFill>
                  <a:srgbClr val="000000"/>
                </a:solidFill>
                <a:latin typeface="Times New Roman"/>
              </a:rPr>
              <a:t>PAC Targeting Gap:</a:t>
            </a:r>
            <a:r>
              <a:rPr lang="en-US" sz="1400" dirty="0">
                <a:solidFill>
                  <a:srgbClr val="000000"/>
                </a:solidFill>
                <a:latin typeface="Times New Roman"/>
              </a:rPr>
              <a:t> 30.5 vs. 21.1 (x10^-6 MI); Hedges’ g = +1.57 [95% CI: 0.98, 2.17], p &lt; 0.001 (large effect)</a:t>
            </a:r>
          </a:p>
          <a:p>
            <a:pPr marL="468630" indent="-285750">
              <a:lnSpc>
                <a:spcPts val="2180"/>
              </a:lnSpc>
              <a:spcAft>
                <a:spcPts val="100"/>
              </a:spcAft>
              <a:buFont typeface="Arial" panose="020B0604020202020204" pitchFamily="34" charset="0"/>
              <a:buChar char="•"/>
            </a:pPr>
            <a:r>
              <a:rPr lang="en-US" sz="1400" b="1" dirty="0">
                <a:solidFill>
                  <a:srgbClr val="000000"/>
                </a:solidFill>
                <a:latin typeface="Times New Roman"/>
              </a:rPr>
              <a:t>Per patient benefit:</a:t>
            </a:r>
            <a:r>
              <a:rPr lang="en-US" sz="1400" dirty="0">
                <a:solidFill>
                  <a:srgbClr val="000000"/>
                </a:solidFill>
                <a:latin typeface="Times New Roman"/>
              </a:rPr>
              <a:t> 35/35 subjects showed higher alignment with TCN control (binomial p &lt; 0.001); advantage consistent across train (24), validation (5), and held-out test (6) splits.</a:t>
            </a:r>
          </a:p>
          <a:p>
            <a:pPr marL="468630" indent="-285750">
              <a:lnSpc>
                <a:spcPts val="2180"/>
              </a:lnSpc>
              <a:spcAft>
                <a:spcPts val="100"/>
              </a:spcAft>
              <a:buFont typeface="Arial" panose="020B0604020202020204" pitchFamily="34" charset="0"/>
              <a:buChar char="•"/>
            </a:pPr>
            <a:r>
              <a:rPr lang="en-US" sz="1400" b="1" dirty="0">
                <a:solidFill>
                  <a:srgbClr val="000000"/>
                </a:solidFill>
                <a:latin typeface="Times New Roman"/>
              </a:rPr>
              <a:t>Threshold:</a:t>
            </a:r>
            <a:r>
              <a:rPr lang="en-US" sz="1400" dirty="0">
                <a:solidFill>
                  <a:srgbClr val="000000"/>
                </a:solidFill>
                <a:latin typeface="Times New Roman"/>
              </a:rPr>
              <a:t> TCN outperforms reactive at all z-score thresholds from 0.2 to 1.0; stable performance plateau at ≥ 0.3.</a:t>
            </a:r>
          </a:p>
        </p:txBody>
      </p:sp>
      <p:pic>
        <p:nvPicPr>
          <p:cNvPr id="7" name="Picture 6">
            <a:extLst>
              <a:ext uri="{FF2B5EF4-FFF2-40B4-BE49-F238E27FC236}">
                <a16:creationId xmlns:a16="http://schemas.microsoft.com/office/drawing/2014/main" id="{F179735D-FD44-53D3-2DC6-C880D0F800BC}"/>
              </a:ext>
            </a:extLst>
          </p:cNvPr>
          <p:cNvPicPr>
            <a:picLocks noChangeAspect="1"/>
          </p:cNvPicPr>
          <p:nvPr/>
        </p:nvPicPr>
        <p:blipFill>
          <a:blip r:embed="rId2"/>
          <a:stretch>
            <a:fillRect/>
          </a:stretch>
        </p:blipFill>
        <p:spPr>
          <a:xfrm>
            <a:off x="5661307" y="3563735"/>
            <a:ext cx="4165445" cy="3713089"/>
          </a:xfrm>
          <a:prstGeom prst="rect">
            <a:avLst/>
          </a:prstGeom>
        </p:spPr>
      </p:pic>
    </p:spTree>
    <p:extLst>
      <p:ext uri="{BB962C8B-B14F-4D97-AF65-F5344CB8AC3E}">
        <p14:creationId xmlns:p14="http://schemas.microsoft.com/office/powerpoint/2010/main" val="2049627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548640"/>
            <a:ext cx="8686800" cy="384048"/>
          </a:xfrm>
          <a:prstGeom prst="rect">
            <a:avLst/>
          </a:prstGeom>
          <a:noFill/>
        </p:spPr>
        <p:txBody>
          <a:bodyPr wrap="square">
            <a:spAutoFit/>
          </a:bodyPr>
          <a:lstStyle/>
          <a:p>
            <a:pPr algn="l">
              <a:spcBef>
                <a:spcPts val="0"/>
              </a:spcBef>
              <a:spcAft>
                <a:spcPts val="0"/>
              </a:spcAft>
            </a:pPr>
            <a:r>
              <a:rPr sz="2200" b="1" i="0" dirty="0">
                <a:solidFill>
                  <a:srgbClr val="000000"/>
                </a:solidFill>
                <a:latin typeface="Times New Roman"/>
              </a:rPr>
              <a:t>Discussion</a:t>
            </a:r>
          </a:p>
        </p:txBody>
      </p:sp>
      <p:cxnSp>
        <p:nvCxnSpPr>
          <p:cNvPr id="3" name="Connector 2"/>
          <p:cNvCxnSpPr/>
          <p:nvPr/>
        </p:nvCxnSpPr>
        <p:spPr>
          <a:xfrm>
            <a:off x="685800" y="932688"/>
            <a:ext cx="8686800" cy="0"/>
          </a:xfrm>
          <a:prstGeom prst="line">
            <a:avLst/>
          </a:prstGeom>
          <a:ln w="12700">
            <a:solidFill>
              <a:srgbClr val="3C3C3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060704"/>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Interpretation of Results</a:t>
            </a:r>
          </a:p>
        </p:txBody>
      </p:sp>
      <p:sp>
        <p:nvSpPr>
          <p:cNvPr id="5" name="TextBox 4"/>
          <p:cNvSpPr txBox="1"/>
          <p:nvPr/>
        </p:nvSpPr>
        <p:spPr>
          <a:xfrm>
            <a:off x="960120" y="1371600"/>
            <a:ext cx="8580120" cy="2056973"/>
          </a:xfrm>
          <a:prstGeom prst="rect">
            <a:avLst/>
          </a:prstGeom>
          <a:noFill/>
        </p:spPr>
        <p:txBody>
          <a:bodyPr wrap="square">
            <a:spAutoFit/>
          </a:bodyPr>
          <a:lstStyle/>
          <a:p>
            <a:pPr marL="468630" indent="-285750" algn="l">
              <a:spcAft>
                <a:spcPts val="100"/>
              </a:spcAft>
              <a:buFont typeface="Arial" panose="020B0604020202020204" pitchFamily="34" charset="0"/>
              <a:buChar char="•"/>
            </a:pPr>
            <a:r>
              <a:rPr sz="1400" b="1" i="0" dirty="0">
                <a:solidFill>
                  <a:srgbClr val="000000"/>
                </a:solidFill>
                <a:latin typeface="Times New Roman"/>
              </a:rPr>
              <a:t>Feature selection:</a:t>
            </a:r>
            <a:r>
              <a:rPr sz="1400" b="0" i="0" dirty="0">
                <a:solidFill>
                  <a:srgbClr val="000000"/>
                </a:solidFill>
                <a:latin typeface="Times New Roman"/>
              </a:rPr>
              <a:t> 8 static model families all converged to R² ≈ 0.287 on 73 features; switching to 12 </a:t>
            </a:r>
            <a:r>
              <a:rPr sz="1400" b="0" i="0" dirty="0" err="1">
                <a:solidFill>
                  <a:srgbClr val="000000"/>
                </a:solidFill>
                <a:latin typeface="Times New Roman"/>
              </a:rPr>
              <a:t>PAC+Stim</a:t>
            </a:r>
            <a:r>
              <a:rPr sz="1400" b="0" i="0" dirty="0">
                <a:solidFill>
                  <a:srgbClr val="000000"/>
                </a:solidFill>
                <a:latin typeface="Times New Roman"/>
              </a:rPr>
              <a:t> features raised test R² to 0.606.  A post-hoc comparison of 10 temporal architectures confirmed that all Tier 1 architectures converge to R² ≈ 0.61</a:t>
            </a:r>
            <a:r>
              <a:rPr lang="en-US" sz="1400" b="0" i="0" dirty="0">
                <a:solidFill>
                  <a:srgbClr val="000000"/>
                </a:solidFill>
                <a:latin typeface="Times New Roman"/>
              </a:rPr>
              <a:t>-</a:t>
            </a:r>
            <a:r>
              <a:rPr sz="1400" b="0" i="0" dirty="0">
                <a:solidFill>
                  <a:srgbClr val="000000"/>
                </a:solidFill>
                <a:latin typeface="Times New Roman"/>
              </a:rPr>
              <a:t>0.65 on the same 12 features, while none exceeds R² = 0.28 on 73 features. </a:t>
            </a:r>
            <a:endParaRPr lang="en-US" sz="1400" b="0" i="0" dirty="0">
              <a:solidFill>
                <a:srgbClr val="000000"/>
              </a:solidFill>
              <a:latin typeface="Times New Roman"/>
            </a:endParaRPr>
          </a:p>
          <a:p>
            <a:pPr marL="468630" indent="-285750" algn="l">
              <a:spcAft>
                <a:spcPts val="100"/>
              </a:spcAft>
              <a:buFont typeface="Arial" panose="020B0604020202020204" pitchFamily="34" charset="0"/>
              <a:buChar char="•"/>
            </a:pPr>
            <a:r>
              <a:rPr lang="en-US" sz="1400" dirty="0">
                <a:solidFill>
                  <a:srgbClr val="000000"/>
                </a:solidFill>
                <a:latin typeface="Times New Roman"/>
              </a:rPr>
              <a:t>The ≈3-second inflection point reflects PAC autocorrelation timescale: below 3s, persistence suffices; above 3s, state transitions require temporal context that only the TCN captures from the 20-step PAC trajectory.</a:t>
            </a:r>
          </a:p>
          <a:p>
            <a:pPr marL="468630" indent="-285750" algn="l">
              <a:spcAft>
                <a:spcPts val="100"/>
              </a:spcAft>
              <a:buFont typeface="Arial" panose="020B0604020202020204" pitchFamily="34" charset="0"/>
              <a:buChar char="•"/>
            </a:pPr>
            <a:r>
              <a:rPr lang="en-US" sz="1400" dirty="0">
                <a:solidFill>
                  <a:srgbClr val="000000"/>
                </a:solidFill>
                <a:latin typeface="Times New Roman"/>
              </a:rPr>
              <a:t>Spectral features encode subject-specific EEG characteristics (likely individual anatomy and recording conditions) that don’t generalize: </a:t>
            </a:r>
            <a:r>
              <a:rPr lang="en-US" sz="1400" dirty="0" err="1">
                <a:solidFill>
                  <a:srgbClr val="000000"/>
                </a:solidFill>
                <a:latin typeface="Times New Roman"/>
              </a:rPr>
              <a:t>val</a:t>
            </a:r>
            <a:r>
              <a:rPr lang="en-US" sz="1400" dirty="0">
                <a:solidFill>
                  <a:srgbClr val="000000"/>
                </a:solidFill>
                <a:latin typeface="Times New Roman"/>
              </a:rPr>
              <a:t>-test R² gap shrinks from 0.358 (73 feat) to 0.246 (12 feat) when spectral features are removed.</a:t>
            </a:r>
          </a:p>
        </p:txBody>
      </p:sp>
      <p:sp>
        <p:nvSpPr>
          <p:cNvPr id="9" name="TextBox 8"/>
          <p:cNvSpPr txBox="1"/>
          <p:nvPr/>
        </p:nvSpPr>
        <p:spPr>
          <a:xfrm>
            <a:off x="685800" y="3556588"/>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Comparison to Prior Work</a:t>
            </a:r>
          </a:p>
        </p:txBody>
      </p:sp>
      <p:sp>
        <p:nvSpPr>
          <p:cNvPr id="10" name="TextBox 9"/>
          <p:cNvSpPr txBox="1"/>
          <p:nvPr/>
        </p:nvSpPr>
        <p:spPr>
          <a:xfrm>
            <a:off x="960120" y="3867484"/>
            <a:ext cx="8412480" cy="1410643"/>
          </a:xfrm>
          <a:prstGeom prst="rect">
            <a:avLst/>
          </a:prstGeom>
          <a:noFill/>
        </p:spPr>
        <p:txBody>
          <a:bodyPr wrap="square">
            <a:spAutoFit/>
          </a:bodyPr>
          <a:lstStyle/>
          <a:p>
            <a:pPr marL="468630" indent="-285750" algn="l">
              <a:spcAft>
                <a:spcPts val="100"/>
              </a:spcAft>
              <a:buFont typeface="Arial" panose="020B0604020202020204" pitchFamily="34" charset="0"/>
              <a:buChar char="•"/>
            </a:pPr>
            <a:r>
              <a:rPr sz="1400" b="0" i="0" dirty="0">
                <a:solidFill>
                  <a:srgbClr val="000000"/>
                </a:solidFill>
                <a:latin typeface="Times New Roman"/>
              </a:rPr>
              <a:t>Analogous to closed-loop DBS for Parkinson’s disease (Rosin et al., 2011): adaptive stimulation concentrates therapy on periods of need.</a:t>
            </a:r>
            <a:endParaRPr lang="en-US" sz="1400" b="0" i="0" dirty="0">
              <a:solidFill>
                <a:srgbClr val="000000"/>
              </a:solidFill>
              <a:latin typeface="Times New Roman"/>
            </a:endParaRPr>
          </a:p>
          <a:p>
            <a:pPr marL="468630" indent="-285750">
              <a:spcAft>
                <a:spcPts val="100"/>
              </a:spcAft>
              <a:buFont typeface="Arial" panose="020B0604020202020204" pitchFamily="34" charset="0"/>
              <a:buChar char="•"/>
            </a:pPr>
            <a:r>
              <a:rPr lang="en-US" sz="1400" dirty="0">
                <a:solidFill>
                  <a:srgbClr val="000000"/>
                </a:solidFill>
                <a:latin typeface="Times New Roman"/>
              </a:rPr>
              <a:t>Extends beyond spindle detection (</a:t>
            </a:r>
            <a:r>
              <a:rPr lang="en-US" sz="1400" dirty="0" err="1">
                <a:solidFill>
                  <a:srgbClr val="000000"/>
                </a:solidFill>
                <a:latin typeface="Times New Roman"/>
              </a:rPr>
              <a:t>Portiloop</a:t>
            </a:r>
            <a:r>
              <a:rPr lang="en-US" sz="1400" dirty="0">
                <a:solidFill>
                  <a:srgbClr val="000000"/>
                </a:solidFill>
                <a:latin typeface="Times New Roman"/>
              </a:rPr>
              <a:t>, Lacroix et al., 2022) to multi-step forecasting (necessary when intervention requires lead time).</a:t>
            </a:r>
          </a:p>
          <a:p>
            <a:pPr marL="468630" indent="-285750">
              <a:spcAft>
                <a:spcPts val="100"/>
              </a:spcAft>
              <a:buFont typeface="Arial" panose="020B0604020202020204" pitchFamily="34" charset="0"/>
              <a:buChar char="•"/>
            </a:pPr>
            <a:r>
              <a:rPr lang="en-US" sz="1400" dirty="0">
                <a:solidFill>
                  <a:srgbClr val="000000"/>
                </a:solidFill>
                <a:latin typeface="Times New Roman"/>
              </a:rPr>
              <a:t>First system targeting PAC dynamics specifically for 40 Hz gamma entrainment optimization at 5-10 s horizons.</a:t>
            </a:r>
          </a:p>
        </p:txBody>
      </p:sp>
      <p:sp>
        <p:nvSpPr>
          <p:cNvPr id="13" name="TextBox 12"/>
          <p:cNvSpPr txBox="1"/>
          <p:nvPr/>
        </p:nvSpPr>
        <p:spPr>
          <a:xfrm>
            <a:off x="685800" y="5433575"/>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Limitations and Possible Errors</a:t>
            </a:r>
          </a:p>
        </p:txBody>
      </p:sp>
      <p:sp>
        <p:nvSpPr>
          <p:cNvPr id="14" name="TextBox 13"/>
          <p:cNvSpPr txBox="1"/>
          <p:nvPr/>
        </p:nvSpPr>
        <p:spPr>
          <a:xfrm>
            <a:off x="960120" y="5810733"/>
            <a:ext cx="8412480" cy="1195199"/>
          </a:xfrm>
          <a:prstGeom prst="rect">
            <a:avLst/>
          </a:prstGeom>
          <a:noFill/>
        </p:spPr>
        <p:txBody>
          <a:bodyPr wrap="square">
            <a:spAutoFit/>
          </a:bodyPr>
          <a:lstStyle/>
          <a:p>
            <a:pPr marL="468630" indent="-285750" algn="l">
              <a:spcAft>
                <a:spcPts val="100"/>
              </a:spcAft>
              <a:buFont typeface="Arial" panose="020B0604020202020204" pitchFamily="34" charset="0"/>
              <a:buChar char="•"/>
            </a:pPr>
            <a:r>
              <a:rPr sz="1400" b="1" i="0" dirty="0">
                <a:solidFill>
                  <a:srgbClr val="000000"/>
                </a:solidFill>
                <a:latin typeface="Times New Roman"/>
              </a:rPr>
              <a:t>Offline counterfactual replay</a:t>
            </a:r>
            <a:r>
              <a:rPr lang="en-US" sz="1400" b="1" dirty="0">
                <a:solidFill>
                  <a:srgbClr val="000000"/>
                </a:solidFill>
                <a:latin typeface="Times New Roman"/>
              </a:rPr>
              <a:t>.</a:t>
            </a:r>
            <a:r>
              <a:rPr lang="en-US" sz="1400" dirty="0">
                <a:solidFill>
                  <a:srgbClr val="000000"/>
                </a:solidFill>
                <a:latin typeface="Times New Roman"/>
              </a:rPr>
              <a:t> The current system </a:t>
            </a:r>
            <a:r>
              <a:rPr sz="1400" b="0" i="0" dirty="0">
                <a:solidFill>
                  <a:srgbClr val="000000"/>
                </a:solidFill>
                <a:latin typeface="Times New Roman"/>
              </a:rPr>
              <a:t>measures </a:t>
            </a:r>
            <a:r>
              <a:rPr lang="en-US" sz="1400" b="0" i="0" dirty="0">
                <a:solidFill>
                  <a:srgbClr val="000000"/>
                </a:solidFill>
                <a:latin typeface="Times New Roman"/>
              </a:rPr>
              <a:t>the </a:t>
            </a:r>
            <a:r>
              <a:rPr sz="1400" b="0" i="0" dirty="0">
                <a:solidFill>
                  <a:srgbClr val="000000"/>
                </a:solidFill>
                <a:latin typeface="Times New Roman"/>
              </a:rPr>
              <a:t>quality</a:t>
            </a:r>
            <a:r>
              <a:rPr lang="en-US" sz="1400" b="0" i="0" dirty="0">
                <a:solidFill>
                  <a:srgbClr val="000000"/>
                </a:solidFill>
                <a:latin typeface="Times New Roman"/>
              </a:rPr>
              <a:t> of decisions the model makes.</a:t>
            </a:r>
            <a:r>
              <a:rPr sz="1400" b="0" i="0" dirty="0">
                <a:solidFill>
                  <a:srgbClr val="000000"/>
                </a:solidFill>
                <a:latin typeface="Times New Roman"/>
              </a:rPr>
              <a:t> Live validation with real-time EEG streaming </a:t>
            </a:r>
            <a:r>
              <a:rPr lang="en-US" sz="1400" b="0" i="0" dirty="0">
                <a:solidFill>
                  <a:srgbClr val="000000"/>
                </a:solidFill>
                <a:latin typeface="Times New Roman"/>
              </a:rPr>
              <a:t>with clinics should be done and is in-progress.</a:t>
            </a:r>
            <a:endParaRPr lang="en-US" sz="1400" dirty="0">
              <a:solidFill>
                <a:srgbClr val="000000"/>
              </a:solidFill>
              <a:latin typeface="Times New Roman"/>
            </a:endParaRPr>
          </a:p>
          <a:p>
            <a:pPr marL="468630" indent="-285750">
              <a:spcAft>
                <a:spcPts val="100"/>
              </a:spcAft>
              <a:buFont typeface="Arial" panose="020B0604020202020204" pitchFamily="34" charset="0"/>
              <a:buChar char="•"/>
            </a:pPr>
            <a:r>
              <a:rPr lang="en-US" sz="1400" b="1" dirty="0">
                <a:solidFill>
                  <a:srgbClr val="000000"/>
                </a:solidFill>
                <a:latin typeface="Times New Roman"/>
              </a:rPr>
              <a:t>Single-site dataset </a:t>
            </a:r>
            <a:r>
              <a:rPr lang="en-US" sz="1400" dirty="0">
                <a:solidFill>
                  <a:srgbClr val="000000"/>
                </a:solidFill>
                <a:latin typeface="Times New Roman"/>
              </a:rPr>
              <a:t>(Tehran memory clinic): may increase model variability; multi-site replication needed.</a:t>
            </a:r>
          </a:p>
          <a:p>
            <a:pPr marL="468630" indent="-285750">
              <a:spcAft>
                <a:spcPts val="100"/>
              </a:spcAft>
              <a:buFont typeface="Arial" panose="020B0604020202020204" pitchFamily="34" charset="0"/>
              <a:buChar char="•"/>
            </a:pPr>
            <a:r>
              <a:rPr lang="en-US" sz="1400" b="1" dirty="0">
                <a:solidFill>
                  <a:srgbClr val="000000"/>
                </a:solidFill>
                <a:latin typeface="Times New Roman"/>
              </a:rPr>
              <a:t>7 frontal channels only:</a:t>
            </a:r>
            <a:r>
              <a:rPr lang="en-US" sz="1400" dirty="0">
                <a:solidFill>
                  <a:srgbClr val="000000"/>
                </a:solidFill>
                <a:latin typeface="Times New Roman"/>
              </a:rPr>
              <a:t> Relevant theta-gamma coupling in parietal and temporal regions is not captured by this montage.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311356"/>
            <a:ext cx="8686800" cy="384048"/>
          </a:xfrm>
          <a:prstGeom prst="rect">
            <a:avLst/>
          </a:prstGeom>
          <a:noFill/>
        </p:spPr>
        <p:txBody>
          <a:bodyPr wrap="square">
            <a:spAutoFit/>
          </a:bodyPr>
          <a:lstStyle/>
          <a:p>
            <a:pPr algn="l">
              <a:spcBef>
                <a:spcPts val="0"/>
              </a:spcBef>
              <a:spcAft>
                <a:spcPts val="0"/>
              </a:spcAft>
            </a:pPr>
            <a:r>
              <a:rPr sz="2200" b="1" i="0" dirty="0">
                <a:solidFill>
                  <a:srgbClr val="000000"/>
                </a:solidFill>
                <a:latin typeface="Times New Roman"/>
              </a:rPr>
              <a:t>Conclusions</a:t>
            </a:r>
          </a:p>
        </p:txBody>
      </p:sp>
      <p:cxnSp>
        <p:nvCxnSpPr>
          <p:cNvPr id="3" name="Connector 2"/>
          <p:cNvCxnSpPr/>
          <p:nvPr/>
        </p:nvCxnSpPr>
        <p:spPr>
          <a:xfrm>
            <a:off x="685800" y="695404"/>
            <a:ext cx="8686800" cy="0"/>
          </a:xfrm>
          <a:prstGeom prst="line">
            <a:avLst/>
          </a:prstGeom>
          <a:ln w="12700">
            <a:solidFill>
              <a:srgbClr val="3C3C3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823420"/>
            <a:ext cx="8686800" cy="310896"/>
          </a:xfrm>
          <a:prstGeom prst="rect">
            <a:avLst/>
          </a:prstGeom>
          <a:noFill/>
        </p:spPr>
        <p:txBody>
          <a:bodyPr wrap="square">
            <a:spAutoFit/>
          </a:bodyPr>
          <a:lstStyle/>
          <a:p>
            <a:pPr algn="l">
              <a:spcBef>
                <a:spcPts val="0"/>
              </a:spcBef>
              <a:spcAft>
                <a:spcPts val="0"/>
              </a:spcAft>
            </a:pPr>
            <a:r>
              <a:rPr sz="1700" b="1" i="0">
                <a:solidFill>
                  <a:srgbClr val="000000"/>
                </a:solidFill>
                <a:latin typeface="Times New Roman"/>
              </a:rPr>
              <a:t>Key Findings</a:t>
            </a:r>
          </a:p>
        </p:txBody>
      </p:sp>
      <p:sp>
        <p:nvSpPr>
          <p:cNvPr id="5" name="TextBox 4"/>
          <p:cNvSpPr txBox="1"/>
          <p:nvPr/>
        </p:nvSpPr>
        <p:spPr>
          <a:xfrm>
            <a:off x="960120" y="1134316"/>
            <a:ext cx="8412480" cy="2205476"/>
          </a:xfrm>
          <a:prstGeom prst="rect">
            <a:avLst/>
          </a:prstGeom>
          <a:noFill/>
        </p:spPr>
        <p:txBody>
          <a:bodyPr wrap="square">
            <a:spAutoFit/>
          </a:bodyPr>
          <a:lstStyle/>
          <a:p>
            <a:pPr marL="468630" indent="-285750">
              <a:lnSpc>
                <a:spcPts val="1780"/>
              </a:lnSpc>
              <a:spcAft>
                <a:spcPts val="100"/>
              </a:spcAft>
              <a:buFont typeface="Arial" panose="020B0604020202020204" pitchFamily="34" charset="0"/>
              <a:buChar char="•"/>
            </a:pPr>
            <a:r>
              <a:rPr lang="en-US" sz="1400" dirty="0">
                <a:solidFill>
                  <a:srgbClr val="000000"/>
                </a:solidFill>
                <a:latin typeface="Times New Roman"/>
              </a:rPr>
              <a:t>The predictive controller achieves 72.1% alignment, 82.6% low-PAC targeting, and 91% of the theoretical oracle bound (all p &lt; 0.001 vs. reactive; Hedges’ g = 1.31–4.47).</a:t>
            </a:r>
          </a:p>
          <a:p>
            <a:pPr marL="468630" indent="-285750">
              <a:lnSpc>
                <a:spcPts val="1780"/>
              </a:lnSpc>
              <a:spcAft>
                <a:spcPts val="100"/>
              </a:spcAft>
              <a:buFont typeface="Arial" panose="020B0604020202020204" pitchFamily="34" charset="0"/>
              <a:buChar char="•"/>
            </a:pPr>
            <a:r>
              <a:rPr lang="en-US" sz="1400" dirty="0">
                <a:solidFill>
                  <a:srgbClr val="000000"/>
                </a:solidFill>
                <a:latin typeface="Times New Roman"/>
              </a:rPr>
              <a:t>The TCN maintains R² = 0.37–0.67 at 3–10 s horizons where persistence collapses to negative R², defining the operationally actionable regime for proactive neuromodulation.</a:t>
            </a:r>
          </a:p>
          <a:p>
            <a:pPr marL="468630" indent="-285750">
              <a:lnSpc>
                <a:spcPts val="1780"/>
              </a:lnSpc>
              <a:spcAft>
                <a:spcPts val="100"/>
              </a:spcAft>
              <a:buFont typeface="Arial" panose="020B0604020202020204" pitchFamily="34" charset="0"/>
              <a:buChar char="•"/>
            </a:pPr>
            <a:r>
              <a:rPr lang="en-US" sz="1400" dirty="0">
                <a:solidFill>
                  <a:srgbClr val="000000"/>
                </a:solidFill>
                <a:latin typeface="Times New Roman"/>
              </a:rPr>
              <a:t>All 35 subjects benefited, including 6 held-out test subjects never seen during training.</a:t>
            </a:r>
            <a:endParaRPr lang="en-US" sz="1400" b="1" dirty="0">
              <a:solidFill>
                <a:srgbClr val="000000"/>
              </a:solidFill>
              <a:latin typeface="Times New Roman"/>
            </a:endParaRPr>
          </a:p>
          <a:p>
            <a:pPr marL="468630" indent="-285750">
              <a:lnSpc>
                <a:spcPts val="1780"/>
              </a:lnSpc>
              <a:spcAft>
                <a:spcPts val="100"/>
              </a:spcAft>
              <a:buFont typeface="Arial" panose="020B0604020202020204" pitchFamily="34" charset="0"/>
              <a:buChar char="•"/>
            </a:pPr>
            <a:r>
              <a:rPr lang="en-US" sz="1400" b="1" dirty="0">
                <a:solidFill>
                  <a:srgbClr val="000000"/>
                </a:solidFill>
                <a:latin typeface="Times New Roman"/>
              </a:rPr>
              <a:t>Features</a:t>
            </a:r>
            <a:r>
              <a:rPr lang="en-US" sz="1400" dirty="0">
                <a:solidFill>
                  <a:srgbClr val="000000"/>
                </a:solidFill>
                <a:latin typeface="Times New Roman"/>
              </a:rPr>
              <a:t>: replacing 73 spectral features with 12 </a:t>
            </a:r>
            <a:r>
              <a:rPr lang="en-US" sz="1400" dirty="0" err="1">
                <a:solidFill>
                  <a:srgbClr val="000000"/>
                </a:solidFill>
                <a:latin typeface="Times New Roman"/>
              </a:rPr>
              <a:t>PAC+Stim</a:t>
            </a:r>
            <a:r>
              <a:rPr lang="en-US" sz="1400" dirty="0">
                <a:solidFill>
                  <a:srgbClr val="000000"/>
                </a:solidFill>
                <a:latin typeface="Times New Roman"/>
              </a:rPr>
              <a:t> features raised temporal test R² from −0.025 to 0.606 (5-seed mean; 4ch: 0.430).  Feature selection mattered more than any architectural change.</a:t>
            </a:r>
            <a:endParaRPr lang="en-US" sz="1400" b="0" i="0" dirty="0">
              <a:solidFill>
                <a:srgbClr val="000000"/>
              </a:solidFill>
              <a:latin typeface="Times New Roman"/>
            </a:endParaRPr>
          </a:p>
          <a:p>
            <a:pPr marL="468630" indent="-285750" algn="l">
              <a:lnSpc>
                <a:spcPts val="1780"/>
              </a:lnSpc>
              <a:spcAft>
                <a:spcPts val="100"/>
              </a:spcAft>
              <a:buFont typeface="Arial" panose="020B0604020202020204" pitchFamily="34" charset="0"/>
              <a:buChar char="•"/>
            </a:pPr>
            <a:r>
              <a:rPr sz="1400" b="0" i="0" dirty="0">
                <a:solidFill>
                  <a:srgbClr val="000000"/>
                </a:solidFill>
                <a:latin typeface="Times New Roman"/>
              </a:rPr>
              <a:t>Eight architectures (1,457 to 1.1 M parameters) all converge to R² = 0.287 for static PAC prediction</a:t>
            </a:r>
            <a:r>
              <a:rPr lang="en-US" sz="1400" b="0" i="0" dirty="0">
                <a:solidFill>
                  <a:srgbClr val="000000"/>
                </a:solidFill>
                <a:latin typeface="Times New Roman"/>
              </a:rPr>
              <a:t>, </a:t>
            </a:r>
            <a:r>
              <a:rPr sz="1400" b="0" i="0" dirty="0">
                <a:solidFill>
                  <a:srgbClr val="000000"/>
                </a:solidFill>
                <a:latin typeface="Times New Roman"/>
              </a:rPr>
              <a:t>a data</a:t>
            </a:r>
            <a:r>
              <a:rPr lang="en-US" sz="1400" b="0" i="0" dirty="0">
                <a:solidFill>
                  <a:srgbClr val="000000"/>
                </a:solidFill>
                <a:latin typeface="Times New Roman"/>
              </a:rPr>
              <a:t>-</a:t>
            </a:r>
            <a:r>
              <a:rPr sz="1400" b="0" i="0" dirty="0">
                <a:solidFill>
                  <a:srgbClr val="000000"/>
                </a:solidFill>
                <a:latin typeface="Times New Roman"/>
              </a:rPr>
              <a:t>imposed ceiling proving the bottleneck is the feature representation, not the model</a:t>
            </a:r>
            <a:r>
              <a:rPr lang="en-US" sz="1400" b="0" i="0" dirty="0">
                <a:solidFill>
                  <a:srgbClr val="000000"/>
                </a:solidFill>
                <a:latin typeface="Times New Roman"/>
              </a:rPr>
              <a:t> architecture</a:t>
            </a:r>
            <a:r>
              <a:rPr sz="1400" b="0" i="0" dirty="0">
                <a:solidFill>
                  <a:srgbClr val="000000"/>
                </a:solidFill>
                <a:latin typeface="Times New Roman"/>
              </a:rPr>
              <a:t>.</a:t>
            </a:r>
            <a:endParaRPr lang="en-US" sz="1400" b="0" i="0" dirty="0">
              <a:solidFill>
                <a:srgbClr val="000000"/>
              </a:solidFill>
              <a:latin typeface="Times New Roman"/>
            </a:endParaRPr>
          </a:p>
        </p:txBody>
      </p:sp>
      <p:sp>
        <p:nvSpPr>
          <p:cNvPr id="10" name="TextBox 9"/>
          <p:cNvSpPr txBox="1"/>
          <p:nvPr/>
        </p:nvSpPr>
        <p:spPr>
          <a:xfrm>
            <a:off x="685800" y="3339792"/>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Context</a:t>
            </a:r>
          </a:p>
        </p:txBody>
      </p:sp>
      <p:sp>
        <p:nvSpPr>
          <p:cNvPr id="11" name="TextBox 10"/>
          <p:cNvSpPr txBox="1"/>
          <p:nvPr/>
        </p:nvSpPr>
        <p:spPr>
          <a:xfrm>
            <a:off x="685800" y="3650688"/>
            <a:ext cx="8686800" cy="738664"/>
          </a:xfrm>
          <a:prstGeom prst="rect">
            <a:avLst/>
          </a:prstGeom>
          <a:noFill/>
        </p:spPr>
        <p:txBody>
          <a:bodyPr wrap="square">
            <a:spAutoFit/>
          </a:bodyPr>
          <a:lstStyle/>
          <a:p>
            <a:pPr algn="l">
              <a:spcBef>
                <a:spcPts val="0"/>
              </a:spcBef>
              <a:spcAft>
                <a:spcPts val="200"/>
              </a:spcAft>
            </a:pPr>
            <a:r>
              <a:rPr sz="1400" b="0" i="0" dirty="0">
                <a:solidFill>
                  <a:srgbClr val="000000"/>
                </a:solidFill>
                <a:latin typeface="Times New Roman"/>
              </a:rPr>
              <a:t>These results show that temporal PAC forecasting can drive proactive closed-loop control that outperforms both fixed-schedule and reactive protocols.  No prior system has attempted PAC-specific temporal prediction for personalized gamma entrainment control.</a:t>
            </a:r>
          </a:p>
        </p:txBody>
      </p:sp>
      <p:sp>
        <p:nvSpPr>
          <p:cNvPr id="12" name="TextBox 11"/>
          <p:cNvSpPr txBox="1"/>
          <p:nvPr/>
        </p:nvSpPr>
        <p:spPr>
          <a:xfrm>
            <a:off x="685800" y="4574768"/>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Productization and Clinical Roadmap</a:t>
            </a:r>
          </a:p>
        </p:txBody>
      </p:sp>
      <p:sp>
        <p:nvSpPr>
          <p:cNvPr id="13" name="TextBox 12"/>
          <p:cNvSpPr txBox="1"/>
          <p:nvPr/>
        </p:nvSpPr>
        <p:spPr>
          <a:xfrm>
            <a:off x="960120" y="4885664"/>
            <a:ext cx="8412480" cy="2548518"/>
          </a:xfrm>
          <a:prstGeom prst="rect">
            <a:avLst/>
          </a:prstGeom>
          <a:noFill/>
        </p:spPr>
        <p:txBody>
          <a:bodyPr wrap="square">
            <a:spAutoFit/>
          </a:bodyPr>
          <a:lstStyle/>
          <a:p>
            <a:pPr marL="468630" indent="-285750">
              <a:lnSpc>
                <a:spcPts val="1880"/>
              </a:lnSpc>
              <a:spcAft>
                <a:spcPts val="100"/>
              </a:spcAft>
              <a:buFont typeface="Arial" panose="020B0604020202020204" pitchFamily="34" charset="0"/>
              <a:buChar char="•"/>
            </a:pPr>
            <a:r>
              <a:rPr lang="en-US" sz="1400" b="1" dirty="0">
                <a:solidFill>
                  <a:srgbClr val="000000"/>
                </a:solidFill>
                <a:latin typeface="Times New Roman"/>
              </a:rPr>
              <a:t>Complete system under $250 per patient</a:t>
            </a:r>
            <a:r>
              <a:rPr lang="en-US" sz="1400" dirty="0">
                <a:solidFill>
                  <a:srgbClr val="000000"/>
                </a:solidFill>
                <a:latin typeface="Times New Roman"/>
              </a:rPr>
              <a:t>: consumer EEG headset (Muse 2, ~$200) paired with standard headphones, running the adaptive controller through the web application. No clinical hardware required.</a:t>
            </a:r>
          </a:p>
          <a:p>
            <a:pPr marL="468630" indent="-285750">
              <a:lnSpc>
                <a:spcPts val="1880"/>
              </a:lnSpc>
              <a:spcAft>
                <a:spcPts val="100"/>
              </a:spcAft>
              <a:buFont typeface="Arial" panose="020B0604020202020204" pitchFamily="34" charset="0"/>
              <a:buChar char="•"/>
            </a:pPr>
            <a:r>
              <a:rPr lang="en-US" sz="1400" b="1" dirty="0">
                <a:solidFill>
                  <a:srgbClr val="000000"/>
                </a:solidFill>
                <a:latin typeface="Times New Roman"/>
              </a:rPr>
              <a:t>Caregiver dashboard</a:t>
            </a:r>
            <a:r>
              <a:rPr lang="en-US" sz="1400" dirty="0">
                <a:solidFill>
                  <a:srgbClr val="000000"/>
                </a:solidFill>
                <a:latin typeface="Times New Roman"/>
              </a:rPr>
              <a:t>: deployed on Hugging Face Spaces; remote PAC monitoring, session tracking, and memory assessment so families can follow a patient's progress from anywhere. </a:t>
            </a:r>
          </a:p>
          <a:p>
            <a:pPr marL="468630" indent="-285750">
              <a:lnSpc>
                <a:spcPts val="1880"/>
              </a:lnSpc>
              <a:spcAft>
                <a:spcPts val="100"/>
              </a:spcAft>
              <a:buFont typeface="Arial" panose="020B0604020202020204" pitchFamily="34" charset="0"/>
              <a:buChar char="•"/>
            </a:pPr>
            <a:r>
              <a:rPr lang="en-US" sz="1400" b="1" dirty="0">
                <a:solidFill>
                  <a:srgbClr val="000000"/>
                </a:solidFill>
                <a:latin typeface="Times New Roman"/>
              </a:rPr>
              <a:t>Pilot in progress</a:t>
            </a:r>
            <a:r>
              <a:rPr lang="en-US" sz="1400" dirty="0">
                <a:solidFill>
                  <a:srgbClr val="000000"/>
                </a:solidFill>
                <a:latin typeface="Times New Roman"/>
              </a:rPr>
              <a:t>: currently have initiated outreach to regional memory care facilities (Mission Villa, Valley Medical) to demo the application and collect real-world EEG data during 15-minute supervised sessions. Collected data feeds back to improve the TCN model.</a:t>
            </a:r>
          </a:p>
          <a:p>
            <a:pPr marL="468630" indent="-285750">
              <a:lnSpc>
                <a:spcPts val="1880"/>
              </a:lnSpc>
              <a:spcAft>
                <a:spcPts val="100"/>
              </a:spcAft>
              <a:buFont typeface="Arial" panose="020B0604020202020204" pitchFamily="34" charset="0"/>
              <a:buChar char="•"/>
            </a:pPr>
            <a:r>
              <a:rPr lang="en-US" sz="1400" b="1" i="0" dirty="0">
                <a:solidFill>
                  <a:srgbClr val="000000"/>
                </a:solidFill>
                <a:latin typeface="Times New Roman"/>
              </a:rPr>
              <a:t>Future plan</a:t>
            </a:r>
            <a:r>
              <a:rPr lang="en-US" sz="1400" b="0" i="0" dirty="0">
                <a:solidFill>
                  <a:srgbClr val="000000"/>
                </a:solidFill>
                <a:latin typeface="Times New Roman"/>
              </a:rPr>
              <a:t>: conduct</a:t>
            </a:r>
            <a:r>
              <a:rPr lang="en-US" sz="1400" dirty="0">
                <a:solidFill>
                  <a:srgbClr val="000000"/>
                </a:solidFill>
                <a:latin typeface="Times New Roman"/>
              </a:rPr>
              <a:t> observational pilot with IRB approval to collect real-world EEG during supervised 15-minute sessions, followed by a feasibility study (N = 5-10) comparing adaptive vs. fixed stimulation to demonstrate improved entrainment maintenance in actual patients.</a:t>
            </a:r>
            <a:endParaRPr sz="1400" b="0" i="0" dirty="0">
              <a:solidFill>
                <a:srgbClr val="000000"/>
              </a:solidFill>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548640"/>
            <a:ext cx="8686800" cy="384048"/>
          </a:xfrm>
          <a:prstGeom prst="rect">
            <a:avLst/>
          </a:prstGeom>
          <a:noFill/>
        </p:spPr>
        <p:txBody>
          <a:bodyPr wrap="square">
            <a:spAutoFit/>
          </a:bodyPr>
          <a:lstStyle/>
          <a:p>
            <a:pPr algn="l">
              <a:spcBef>
                <a:spcPts val="0"/>
              </a:spcBef>
              <a:spcAft>
                <a:spcPts val="0"/>
              </a:spcAft>
            </a:pPr>
            <a:r>
              <a:rPr sz="2200" b="1" i="0">
                <a:solidFill>
                  <a:srgbClr val="000000"/>
                </a:solidFill>
                <a:latin typeface="Times New Roman"/>
              </a:rPr>
              <a:t>Scope of Work</a:t>
            </a:r>
          </a:p>
        </p:txBody>
      </p:sp>
      <p:cxnSp>
        <p:nvCxnSpPr>
          <p:cNvPr id="3" name="Connector 2"/>
          <p:cNvCxnSpPr/>
          <p:nvPr/>
        </p:nvCxnSpPr>
        <p:spPr>
          <a:xfrm>
            <a:off x="685800" y="932688"/>
            <a:ext cx="8686800" cy="0"/>
          </a:xfrm>
          <a:prstGeom prst="line">
            <a:avLst/>
          </a:prstGeom>
          <a:ln w="12700">
            <a:solidFill>
              <a:srgbClr val="3C3C3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060704"/>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New Work by Author</a:t>
            </a:r>
          </a:p>
        </p:txBody>
      </p:sp>
      <p:sp>
        <p:nvSpPr>
          <p:cNvPr id="5" name="TextBox 4"/>
          <p:cNvSpPr txBox="1"/>
          <p:nvPr/>
        </p:nvSpPr>
        <p:spPr>
          <a:xfrm>
            <a:off x="960120" y="1371600"/>
            <a:ext cx="8183880" cy="3468642"/>
          </a:xfrm>
          <a:prstGeom prst="rect">
            <a:avLst/>
          </a:prstGeom>
          <a:noFill/>
        </p:spPr>
        <p:txBody>
          <a:bodyPr wrap="square">
            <a:spAutoFit/>
          </a:bodyPr>
          <a:lstStyle/>
          <a:p>
            <a:pPr marL="468630" indent="-285750" algn="l">
              <a:lnSpc>
                <a:spcPts val="1980"/>
              </a:lnSpc>
              <a:spcAft>
                <a:spcPts val="100"/>
              </a:spcAft>
              <a:buFont typeface="Arial" panose="020B0604020202020204" pitchFamily="34" charset="0"/>
              <a:buChar char="•"/>
            </a:pPr>
            <a:r>
              <a:rPr sz="1400" b="0" i="0" dirty="0">
                <a:solidFill>
                  <a:srgbClr val="000000"/>
                </a:solidFill>
                <a:latin typeface="Times New Roman"/>
              </a:rPr>
              <a:t>Independently identified the research gap (fixed-schedule limitation in 40 Hz entrainment) through literature review.</a:t>
            </a:r>
            <a:endParaRPr lang="en-US" sz="1400" b="0" i="0" dirty="0">
              <a:solidFill>
                <a:srgbClr val="000000"/>
              </a:solidFill>
              <a:latin typeface="Times New Roman"/>
            </a:endParaRPr>
          </a:p>
          <a:p>
            <a:pPr marL="468630" indent="-285750">
              <a:lnSpc>
                <a:spcPts val="1980"/>
              </a:lnSpc>
              <a:spcAft>
                <a:spcPts val="100"/>
              </a:spcAft>
              <a:buFont typeface="Arial" panose="020B0604020202020204" pitchFamily="34" charset="0"/>
              <a:buChar char="•"/>
            </a:pPr>
            <a:r>
              <a:rPr lang="en-US" sz="1400" dirty="0">
                <a:solidFill>
                  <a:srgbClr val="000000"/>
                </a:solidFill>
                <a:latin typeface="Times New Roman"/>
              </a:rPr>
              <a:t>Designed and implemented the computational pipeline including EEG preprocessing, PAC computation, architecture search across 8 neural network families, feature ablation study (73 vs. 12 </a:t>
            </a:r>
            <a:r>
              <a:rPr lang="en-US" sz="1400" dirty="0" err="1">
                <a:solidFill>
                  <a:srgbClr val="000000"/>
                </a:solidFill>
                <a:latin typeface="Times New Roman"/>
              </a:rPr>
              <a:t>PAC+Stim</a:t>
            </a:r>
            <a:r>
              <a:rPr lang="en-US" sz="1400" dirty="0">
                <a:solidFill>
                  <a:srgbClr val="000000"/>
                </a:solidFill>
                <a:latin typeface="Times New Roman"/>
              </a:rPr>
              <a:t> features), and MultiscaleCausalTCN design.</a:t>
            </a:r>
          </a:p>
          <a:p>
            <a:pPr marL="468630" indent="-285750">
              <a:lnSpc>
                <a:spcPts val="1980"/>
              </a:lnSpc>
              <a:spcAft>
                <a:spcPts val="100"/>
              </a:spcAft>
              <a:buFont typeface="Arial" panose="020B0604020202020204" pitchFamily="34" charset="0"/>
              <a:buChar char="•"/>
            </a:pPr>
            <a:r>
              <a:rPr lang="en-US" sz="1400" dirty="0">
                <a:solidFill>
                  <a:srgbClr val="000000"/>
                </a:solidFill>
                <a:latin typeface="Times New Roman"/>
              </a:rPr>
              <a:t>Discovered the R² = 0.287 data ceiling through experimentation, the ~3-second prediction horizon inflection point, and the improved feature selection (12 </a:t>
            </a:r>
            <a:r>
              <a:rPr lang="en-US" sz="1400" dirty="0" err="1">
                <a:solidFill>
                  <a:srgbClr val="000000"/>
                </a:solidFill>
                <a:latin typeface="Times New Roman"/>
              </a:rPr>
              <a:t>PAC+Stim</a:t>
            </a:r>
            <a:r>
              <a:rPr lang="en-US" sz="1400" dirty="0">
                <a:solidFill>
                  <a:srgbClr val="000000"/>
                </a:solidFill>
                <a:latin typeface="Times New Roman"/>
              </a:rPr>
              <a:t> features raising R² from −0.025 to 0.606)</a:t>
            </a:r>
          </a:p>
          <a:p>
            <a:pPr marL="468630" indent="-285750">
              <a:lnSpc>
                <a:spcPts val="1980"/>
              </a:lnSpc>
              <a:spcAft>
                <a:spcPts val="100"/>
              </a:spcAft>
              <a:buFont typeface="Arial" panose="020B0604020202020204" pitchFamily="34" charset="0"/>
              <a:buChar char="•"/>
            </a:pPr>
            <a:r>
              <a:rPr lang="en-US" sz="1400" dirty="0">
                <a:solidFill>
                  <a:srgbClr val="000000"/>
                </a:solidFill>
                <a:latin typeface="Times New Roman"/>
              </a:rPr>
              <a:t>Designed the closed-loop controller with personalization module, hysteresis logic, and multi-strategy comparison framework including alignment oracle upper bound.</a:t>
            </a:r>
          </a:p>
          <a:p>
            <a:pPr marL="468630" indent="-285750">
              <a:lnSpc>
                <a:spcPts val="1980"/>
              </a:lnSpc>
              <a:spcAft>
                <a:spcPts val="100"/>
              </a:spcAft>
              <a:buFont typeface="Arial" panose="020B0604020202020204" pitchFamily="34" charset="0"/>
              <a:buChar char="•"/>
            </a:pPr>
            <a:r>
              <a:rPr lang="en-US" sz="1400" dirty="0">
                <a:solidFill>
                  <a:srgbClr val="000000"/>
                </a:solidFill>
                <a:latin typeface="Times New Roman"/>
              </a:rPr>
              <a:t>Conducted all statistical analyses: Wilcoxon signed-rank tests, Hedges’ g effect sizes with 95% bootstrap CIs, binomial sign tests, threshold sensitivity sweeps.</a:t>
            </a:r>
          </a:p>
          <a:p>
            <a:pPr marL="468630" indent="-285750">
              <a:lnSpc>
                <a:spcPts val="1980"/>
              </a:lnSpc>
              <a:spcAft>
                <a:spcPts val="100"/>
              </a:spcAft>
              <a:buFont typeface="Arial" panose="020B0604020202020204" pitchFamily="34" charset="0"/>
              <a:buChar char="•"/>
            </a:pPr>
            <a:r>
              <a:rPr lang="en-US" sz="1400" dirty="0">
                <a:solidFill>
                  <a:srgbClr val="000000"/>
                </a:solidFill>
                <a:latin typeface="Times New Roman"/>
              </a:rPr>
              <a:t>Validated the complete system on 35 real patient EEG recordings through offline counterfactual replay.</a:t>
            </a:r>
          </a:p>
        </p:txBody>
      </p:sp>
      <p:sp>
        <p:nvSpPr>
          <p:cNvPr id="11" name="TextBox 10"/>
          <p:cNvSpPr txBox="1"/>
          <p:nvPr/>
        </p:nvSpPr>
        <p:spPr>
          <a:xfrm>
            <a:off x="685800" y="4995690"/>
            <a:ext cx="8686800" cy="310896"/>
          </a:xfrm>
          <a:prstGeom prst="rect">
            <a:avLst/>
          </a:prstGeom>
          <a:noFill/>
        </p:spPr>
        <p:txBody>
          <a:bodyPr wrap="square">
            <a:spAutoFit/>
          </a:bodyPr>
          <a:lstStyle/>
          <a:p>
            <a:pPr algn="l">
              <a:spcBef>
                <a:spcPts val="0"/>
              </a:spcBef>
              <a:spcAft>
                <a:spcPts val="0"/>
              </a:spcAft>
            </a:pPr>
            <a:r>
              <a:rPr sz="1700" b="1" i="0" dirty="0">
                <a:solidFill>
                  <a:srgbClr val="000000"/>
                </a:solidFill>
                <a:latin typeface="Times New Roman"/>
              </a:rPr>
              <a:t>Professional, Institutional, and Academic Resources and Support</a:t>
            </a:r>
          </a:p>
        </p:txBody>
      </p:sp>
      <p:sp>
        <p:nvSpPr>
          <p:cNvPr id="12" name="TextBox 11"/>
          <p:cNvSpPr txBox="1"/>
          <p:nvPr/>
        </p:nvSpPr>
        <p:spPr>
          <a:xfrm>
            <a:off x="960120" y="5306586"/>
            <a:ext cx="8412480" cy="2029145"/>
          </a:xfrm>
          <a:prstGeom prst="rect">
            <a:avLst/>
          </a:prstGeom>
          <a:noFill/>
        </p:spPr>
        <p:txBody>
          <a:bodyPr wrap="square">
            <a:spAutoFit/>
          </a:bodyPr>
          <a:lstStyle/>
          <a:p>
            <a:pPr marL="468630" indent="-285750" algn="l">
              <a:lnSpc>
                <a:spcPts val="2480"/>
              </a:lnSpc>
              <a:spcAft>
                <a:spcPts val="100"/>
              </a:spcAft>
              <a:buFont typeface="Arial" panose="020B0604020202020204" pitchFamily="34" charset="0"/>
              <a:buChar char="•"/>
            </a:pPr>
            <a:r>
              <a:rPr sz="1400" b="1" i="0" dirty="0">
                <a:solidFill>
                  <a:srgbClr val="000000"/>
                </a:solidFill>
                <a:latin typeface="Times New Roman"/>
              </a:rPr>
              <a:t>Data:</a:t>
            </a:r>
            <a:r>
              <a:rPr sz="1400" b="0" i="0" dirty="0">
                <a:solidFill>
                  <a:srgbClr val="000000"/>
                </a:solidFill>
                <a:latin typeface="Times New Roman"/>
              </a:rPr>
              <a:t> OpenNeuro ds005048</a:t>
            </a:r>
            <a:r>
              <a:rPr lang="en-US" sz="1400" b="0" i="0" dirty="0">
                <a:solidFill>
                  <a:srgbClr val="000000"/>
                </a:solidFill>
                <a:latin typeface="Times New Roman"/>
              </a:rPr>
              <a:t>,</a:t>
            </a:r>
            <a:r>
              <a:rPr sz="1400" b="0" i="0" dirty="0">
                <a:solidFill>
                  <a:srgbClr val="000000"/>
                </a:solidFill>
                <a:latin typeface="Times New Roman"/>
              </a:rPr>
              <a:t> publicly available EEG</a:t>
            </a:r>
            <a:r>
              <a:rPr lang="en-US" sz="1400" b="0" i="0" dirty="0">
                <a:solidFill>
                  <a:srgbClr val="000000"/>
                </a:solidFill>
                <a:latin typeface="Times New Roman"/>
              </a:rPr>
              <a:t> dataset</a:t>
            </a:r>
          </a:p>
          <a:p>
            <a:pPr marL="468630" indent="-285750" algn="l">
              <a:lnSpc>
                <a:spcPts val="2480"/>
              </a:lnSpc>
              <a:spcAft>
                <a:spcPts val="100"/>
              </a:spcAft>
              <a:buFont typeface="Arial" panose="020B0604020202020204" pitchFamily="34" charset="0"/>
              <a:buChar char="•"/>
            </a:pPr>
            <a:r>
              <a:rPr lang="en-US" sz="1400" b="1" dirty="0">
                <a:solidFill>
                  <a:srgbClr val="000000"/>
                </a:solidFill>
                <a:latin typeface="Times New Roman"/>
              </a:rPr>
              <a:t>Computing:</a:t>
            </a:r>
            <a:r>
              <a:rPr lang="en-US" sz="1400" dirty="0">
                <a:solidFill>
                  <a:srgbClr val="000000"/>
                </a:solidFill>
                <a:latin typeface="Times New Roman"/>
              </a:rPr>
              <a:t> Personal M4 Apple Silicon MacBook &amp; personal RTX 3080 GPU; no institutional computing resources were used.</a:t>
            </a:r>
          </a:p>
          <a:p>
            <a:pPr marL="468630" indent="-285750">
              <a:lnSpc>
                <a:spcPts val="2480"/>
              </a:lnSpc>
              <a:spcAft>
                <a:spcPts val="100"/>
              </a:spcAft>
              <a:buFont typeface="Arial" panose="020B0604020202020204" pitchFamily="34" charset="0"/>
              <a:buChar char="•"/>
            </a:pPr>
            <a:r>
              <a:rPr lang="en-US" sz="1400" b="1" dirty="0">
                <a:solidFill>
                  <a:srgbClr val="000000"/>
                </a:solidFill>
                <a:latin typeface="Times New Roman"/>
              </a:rPr>
              <a:t>Software:</a:t>
            </a:r>
            <a:r>
              <a:rPr lang="en-US" sz="1400" dirty="0">
                <a:solidFill>
                  <a:srgbClr val="000000"/>
                </a:solidFill>
                <a:latin typeface="Times New Roman"/>
              </a:rPr>
              <a:t> open-source libraries (PyTorch, MNE-Python, SciPy, NumPy, Matplotlib)</a:t>
            </a:r>
          </a:p>
          <a:p>
            <a:pPr marL="468630" indent="-285750">
              <a:lnSpc>
                <a:spcPts val="2480"/>
              </a:lnSpc>
              <a:spcAft>
                <a:spcPts val="100"/>
              </a:spcAft>
              <a:buFont typeface="Arial" panose="020B0604020202020204" pitchFamily="34" charset="0"/>
              <a:buChar char="•"/>
            </a:pPr>
            <a:r>
              <a:rPr lang="en-US" sz="1400" dirty="0">
                <a:solidFill>
                  <a:srgbClr val="000000"/>
                </a:solidFill>
                <a:latin typeface="Times New Roman"/>
              </a:rPr>
              <a:t>My AP Statistics teacher was briefly consulted when carrying out the statistical analyses of the ML models.</a:t>
            </a:r>
          </a:p>
          <a:p>
            <a:pPr marL="468630" indent="-285750">
              <a:lnSpc>
                <a:spcPts val="2480"/>
              </a:lnSpc>
              <a:spcAft>
                <a:spcPts val="100"/>
              </a:spcAft>
              <a:buFont typeface="Arial" panose="020B0604020202020204" pitchFamily="34" charset="0"/>
              <a:buChar char="•"/>
            </a:pPr>
            <a:r>
              <a:rPr lang="en-US" sz="1400" dirty="0">
                <a:solidFill>
                  <a:srgbClr val="000000"/>
                </a:solidFill>
                <a:latin typeface="Times New Roman"/>
              </a:rPr>
              <a:t>No institutional lab, university mentor, summer research program, or specialized equipment was used.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548640"/>
            <a:ext cx="8686800" cy="384048"/>
          </a:xfrm>
          <a:prstGeom prst="rect">
            <a:avLst/>
          </a:prstGeom>
          <a:noFill/>
        </p:spPr>
        <p:txBody>
          <a:bodyPr wrap="square">
            <a:spAutoFit/>
          </a:bodyPr>
          <a:lstStyle/>
          <a:p>
            <a:pPr algn="l">
              <a:spcBef>
                <a:spcPts val="0"/>
              </a:spcBef>
              <a:spcAft>
                <a:spcPts val="0"/>
              </a:spcAft>
            </a:pPr>
            <a:r>
              <a:rPr sz="2200" b="1" i="0">
                <a:solidFill>
                  <a:srgbClr val="000000"/>
                </a:solidFill>
                <a:latin typeface="Times New Roman"/>
              </a:rPr>
              <a:t>References / Supplemental Information</a:t>
            </a:r>
          </a:p>
        </p:txBody>
      </p:sp>
      <p:cxnSp>
        <p:nvCxnSpPr>
          <p:cNvPr id="3" name="Connector 2"/>
          <p:cNvCxnSpPr/>
          <p:nvPr/>
        </p:nvCxnSpPr>
        <p:spPr>
          <a:xfrm>
            <a:off x="685800" y="932688"/>
            <a:ext cx="8686800" cy="0"/>
          </a:xfrm>
          <a:prstGeom prst="line">
            <a:avLst/>
          </a:prstGeom>
          <a:ln w="12700">
            <a:solidFill>
              <a:srgbClr val="3C3C3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85800" y="1060704"/>
            <a:ext cx="8686800" cy="310896"/>
          </a:xfrm>
          <a:prstGeom prst="rect">
            <a:avLst/>
          </a:prstGeom>
          <a:noFill/>
        </p:spPr>
        <p:txBody>
          <a:bodyPr wrap="square">
            <a:spAutoFit/>
          </a:bodyPr>
          <a:lstStyle/>
          <a:p>
            <a:pPr algn="l">
              <a:spcBef>
                <a:spcPts val="0"/>
              </a:spcBef>
              <a:spcAft>
                <a:spcPts val="0"/>
              </a:spcAft>
            </a:pPr>
            <a:r>
              <a:rPr sz="1700" b="1" i="0">
                <a:solidFill>
                  <a:srgbClr val="000000"/>
                </a:solidFill>
                <a:latin typeface="Times New Roman"/>
              </a:rPr>
              <a:t>References</a:t>
            </a:r>
          </a:p>
        </p:txBody>
      </p:sp>
      <p:sp>
        <p:nvSpPr>
          <p:cNvPr id="5" name="TextBox 4"/>
          <p:cNvSpPr txBox="1"/>
          <p:nvPr/>
        </p:nvSpPr>
        <p:spPr>
          <a:xfrm>
            <a:off x="685800" y="1371600"/>
            <a:ext cx="8686800" cy="307777"/>
          </a:xfrm>
          <a:prstGeom prst="rect">
            <a:avLst/>
          </a:prstGeom>
          <a:noFill/>
        </p:spPr>
        <p:txBody>
          <a:bodyPr wrap="square">
            <a:spAutoFit/>
          </a:bodyPr>
          <a:lstStyle/>
          <a:p>
            <a:pPr algn="l">
              <a:spcBef>
                <a:spcPts val="0"/>
              </a:spcBef>
              <a:spcAft>
                <a:spcPts val="100"/>
              </a:spcAft>
            </a:pPr>
            <a:r>
              <a:rPr sz="1400" b="0" i="0" dirty="0">
                <a:solidFill>
                  <a:srgbClr val="000000"/>
                </a:solidFill>
                <a:latin typeface="Times New Roman"/>
              </a:rPr>
              <a:t>[1]  Iaccarino HG et al.  Gamma frequency entrainment attenuates amyloid load.  Nature 540, 230–235, 2016.</a:t>
            </a:r>
            <a:endParaRPr lang="en-US" sz="1400" b="0" i="0" dirty="0">
              <a:solidFill>
                <a:srgbClr val="000000"/>
              </a:solidFill>
              <a:latin typeface="Times New Roman"/>
            </a:endParaRPr>
          </a:p>
        </p:txBody>
      </p:sp>
      <p:sp>
        <p:nvSpPr>
          <p:cNvPr id="6" name="TextBox 5"/>
          <p:cNvSpPr txBox="1"/>
          <p:nvPr/>
        </p:nvSpPr>
        <p:spPr>
          <a:xfrm>
            <a:off x="685800" y="1855216"/>
            <a:ext cx="8864600" cy="307777"/>
          </a:xfrm>
          <a:prstGeom prst="rect">
            <a:avLst/>
          </a:prstGeom>
          <a:noFill/>
        </p:spPr>
        <p:txBody>
          <a:bodyPr wrap="square">
            <a:spAutoFit/>
          </a:bodyPr>
          <a:lstStyle/>
          <a:p>
            <a:pPr algn="l">
              <a:spcBef>
                <a:spcPts val="0"/>
              </a:spcBef>
              <a:spcAft>
                <a:spcPts val="100"/>
              </a:spcAft>
            </a:pPr>
            <a:r>
              <a:rPr sz="1400" b="0" i="0" dirty="0">
                <a:solidFill>
                  <a:srgbClr val="000000"/>
                </a:solidFill>
                <a:latin typeface="Times New Roman"/>
              </a:rPr>
              <a:t>[2]  Murdock MH et al.  Multisensory gamma stimulation promotes glymphatic clearance.  Nature 627, 149–156, 2024.</a:t>
            </a:r>
          </a:p>
        </p:txBody>
      </p:sp>
      <p:sp>
        <p:nvSpPr>
          <p:cNvPr id="7" name="TextBox 6"/>
          <p:cNvSpPr txBox="1"/>
          <p:nvPr/>
        </p:nvSpPr>
        <p:spPr>
          <a:xfrm>
            <a:off x="685800" y="2338832"/>
            <a:ext cx="8686800" cy="523220"/>
          </a:xfrm>
          <a:prstGeom prst="rect">
            <a:avLst/>
          </a:prstGeom>
          <a:noFill/>
        </p:spPr>
        <p:txBody>
          <a:bodyPr wrap="square">
            <a:spAutoFit/>
          </a:bodyPr>
          <a:lstStyle/>
          <a:p>
            <a:pPr>
              <a:spcAft>
                <a:spcPts val="100"/>
              </a:spcAft>
            </a:pPr>
            <a:r>
              <a:rPr lang="en-US" sz="1400" dirty="0">
                <a:solidFill>
                  <a:srgbClr val="000000"/>
                </a:solidFill>
                <a:latin typeface="Times New Roman"/>
              </a:rPr>
              <a:t>[3] Chan D et al. Gamma sensory stimulation in mild Alzheimer's dementia: open-label extension. Alzheimer's &amp; Dementia 21(10), e70792, 2025.</a:t>
            </a:r>
            <a:endParaRPr sz="1400" b="0" i="0" dirty="0">
              <a:solidFill>
                <a:srgbClr val="000000"/>
              </a:solidFill>
              <a:latin typeface="Times New Roman"/>
            </a:endParaRPr>
          </a:p>
        </p:txBody>
      </p:sp>
      <p:sp>
        <p:nvSpPr>
          <p:cNvPr id="8" name="TextBox 7"/>
          <p:cNvSpPr txBox="1"/>
          <p:nvPr/>
        </p:nvSpPr>
        <p:spPr>
          <a:xfrm>
            <a:off x="685800" y="2862052"/>
            <a:ext cx="8686800" cy="520192"/>
          </a:xfrm>
          <a:prstGeom prst="rect">
            <a:avLst/>
          </a:prstGeom>
          <a:noFill/>
        </p:spPr>
        <p:txBody>
          <a:bodyPr wrap="square">
            <a:spAutoFit/>
          </a:bodyPr>
          <a:lstStyle/>
          <a:p>
            <a:pPr algn="l">
              <a:spcBef>
                <a:spcPts val="0"/>
              </a:spcBef>
              <a:spcAft>
                <a:spcPts val="100"/>
              </a:spcAft>
            </a:pPr>
            <a:r>
              <a:rPr sz="1400" b="0" i="0" dirty="0">
                <a:solidFill>
                  <a:srgbClr val="000000"/>
                </a:solidFill>
                <a:latin typeface="Times New Roman"/>
              </a:rPr>
              <a:t>[4]  Fortunato C et al.  Gamma entrainment for cognitive improvement in neurodegeneration.  Front </a:t>
            </a:r>
            <a:r>
              <a:rPr sz="1400" b="0" i="0" dirty="0" err="1">
                <a:solidFill>
                  <a:srgbClr val="000000"/>
                </a:solidFill>
                <a:latin typeface="Times New Roman"/>
              </a:rPr>
              <a:t>Neurosci</a:t>
            </a:r>
            <a:r>
              <a:rPr sz="1400" b="0" i="0" dirty="0">
                <a:solidFill>
                  <a:srgbClr val="000000"/>
                </a:solidFill>
                <a:latin typeface="Times New Roman"/>
              </a:rPr>
              <a:t> 17, 2023.</a:t>
            </a:r>
          </a:p>
        </p:txBody>
      </p:sp>
      <p:sp>
        <p:nvSpPr>
          <p:cNvPr id="9" name="TextBox 8"/>
          <p:cNvSpPr txBox="1"/>
          <p:nvPr/>
        </p:nvSpPr>
        <p:spPr>
          <a:xfrm>
            <a:off x="685800" y="3345668"/>
            <a:ext cx="8686800" cy="520192"/>
          </a:xfrm>
          <a:prstGeom prst="rect">
            <a:avLst/>
          </a:prstGeom>
          <a:noFill/>
        </p:spPr>
        <p:txBody>
          <a:bodyPr wrap="square">
            <a:spAutoFit/>
          </a:bodyPr>
          <a:lstStyle/>
          <a:p>
            <a:pPr algn="l">
              <a:spcBef>
                <a:spcPts val="0"/>
              </a:spcBef>
              <a:spcAft>
                <a:spcPts val="100"/>
              </a:spcAft>
            </a:pPr>
            <a:r>
              <a:rPr sz="1400" b="0" i="0">
                <a:solidFill>
                  <a:srgbClr val="000000"/>
                </a:solidFill>
                <a:latin typeface="Times New Roman"/>
              </a:rPr>
              <a:t>[5]  Lahijanian B et al.  Auditory gamma entrainment enhances DMN connectivity in dementia.  Sci Rep 14, 2024.</a:t>
            </a:r>
          </a:p>
        </p:txBody>
      </p:sp>
      <p:sp>
        <p:nvSpPr>
          <p:cNvPr id="10" name="TextBox 9"/>
          <p:cNvSpPr txBox="1"/>
          <p:nvPr/>
        </p:nvSpPr>
        <p:spPr>
          <a:xfrm>
            <a:off x="685800" y="3829284"/>
            <a:ext cx="8686800" cy="282956"/>
          </a:xfrm>
          <a:prstGeom prst="rect">
            <a:avLst/>
          </a:prstGeom>
          <a:noFill/>
        </p:spPr>
        <p:txBody>
          <a:bodyPr wrap="square">
            <a:spAutoFit/>
          </a:bodyPr>
          <a:lstStyle/>
          <a:p>
            <a:pPr algn="l">
              <a:spcBef>
                <a:spcPts val="0"/>
              </a:spcBef>
              <a:spcAft>
                <a:spcPts val="100"/>
              </a:spcAft>
            </a:pPr>
            <a:r>
              <a:rPr sz="1400" b="0" i="0">
                <a:solidFill>
                  <a:srgbClr val="000000"/>
                </a:solidFill>
                <a:latin typeface="Times New Roman"/>
              </a:rPr>
              <a:t>[6]  Lawhern VJ et al.  EEGNet: compact CNN for EEG-based BCIs.  J Neural Eng 15, 056013, 2018.</a:t>
            </a:r>
          </a:p>
        </p:txBody>
      </p:sp>
      <p:sp>
        <p:nvSpPr>
          <p:cNvPr id="11" name="TextBox 10"/>
          <p:cNvSpPr txBox="1"/>
          <p:nvPr/>
        </p:nvSpPr>
        <p:spPr>
          <a:xfrm>
            <a:off x="685800" y="4299184"/>
            <a:ext cx="8686800" cy="520192"/>
          </a:xfrm>
          <a:prstGeom prst="rect">
            <a:avLst/>
          </a:prstGeom>
          <a:noFill/>
        </p:spPr>
        <p:txBody>
          <a:bodyPr wrap="square">
            <a:spAutoFit/>
          </a:bodyPr>
          <a:lstStyle/>
          <a:p>
            <a:pPr algn="l">
              <a:spcBef>
                <a:spcPts val="0"/>
              </a:spcBef>
              <a:spcAft>
                <a:spcPts val="100"/>
              </a:spcAft>
            </a:pPr>
            <a:r>
              <a:rPr sz="1400" b="0" i="0">
                <a:solidFill>
                  <a:srgbClr val="000000"/>
                </a:solidFill>
                <a:latin typeface="Times New Roman"/>
              </a:rPr>
              <a:t>[7]  Tort ABL et al.  Measuring phase-amplitude coupling.  J Neurophysiology 104, 1195–1210, 2010.</a:t>
            </a:r>
          </a:p>
        </p:txBody>
      </p:sp>
      <p:sp>
        <p:nvSpPr>
          <p:cNvPr id="12" name="TextBox 11"/>
          <p:cNvSpPr txBox="1"/>
          <p:nvPr/>
        </p:nvSpPr>
        <p:spPr>
          <a:xfrm>
            <a:off x="685800" y="4782800"/>
            <a:ext cx="8686800" cy="520192"/>
          </a:xfrm>
          <a:prstGeom prst="rect">
            <a:avLst/>
          </a:prstGeom>
          <a:noFill/>
        </p:spPr>
        <p:txBody>
          <a:bodyPr wrap="square">
            <a:spAutoFit/>
          </a:bodyPr>
          <a:lstStyle/>
          <a:p>
            <a:pPr>
              <a:spcAft>
                <a:spcPts val="100"/>
              </a:spcAft>
            </a:pPr>
            <a:r>
              <a:rPr lang="en-US" sz="1400" dirty="0">
                <a:solidFill>
                  <a:srgbClr val="000000"/>
                </a:solidFill>
                <a:latin typeface="Times New Roman"/>
              </a:rPr>
              <a:t>[8] Jiao D. Advancing personalized digital therapeutics: integrating music therapy, brainwave entrainment, and AI-driven biofeedback. Front Digital Health 7, 1552396, 2025.</a:t>
            </a:r>
            <a:endParaRPr sz="1400" b="0" i="0" dirty="0">
              <a:solidFill>
                <a:srgbClr val="000000"/>
              </a:solidFill>
              <a:latin typeface="Times New Roman"/>
            </a:endParaRPr>
          </a:p>
        </p:txBody>
      </p:sp>
      <p:sp>
        <p:nvSpPr>
          <p:cNvPr id="13" name="TextBox 12"/>
          <p:cNvSpPr txBox="1"/>
          <p:nvPr/>
        </p:nvSpPr>
        <p:spPr>
          <a:xfrm>
            <a:off x="685800" y="5388336"/>
            <a:ext cx="8686800" cy="282956"/>
          </a:xfrm>
          <a:prstGeom prst="rect">
            <a:avLst/>
          </a:prstGeom>
          <a:noFill/>
        </p:spPr>
        <p:txBody>
          <a:bodyPr wrap="square">
            <a:spAutoFit/>
          </a:bodyPr>
          <a:lstStyle/>
          <a:p>
            <a:pPr algn="l">
              <a:spcBef>
                <a:spcPts val="0"/>
              </a:spcBef>
              <a:spcAft>
                <a:spcPts val="100"/>
              </a:spcAft>
            </a:pPr>
            <a:r>
              <a:rPr sz="1400" b="0" i="0">
                <a:solidFill>
                  <a:srgbClr val="000000"/>
                </a:solidFill>
                <a:latin typeface="Times New Roman"/>
              </a:rPr>
              <a:t>[9]  Rosin B et al.  Closed-loop DBS for Parkinson’s disease.  Neuron 72, 370–384, 2011.</a:t>
            </a:r>
          </a:p>
        </p:txBody>
      </p:sp>
      <p:sp>
        <p:nvSpPr>
          <p:cNvPr id="14" name="TextBox 13"/>
          <p:cNvSpPr txBox="1"/>
          <p:nvPr/>
        </p:nvSpPr>
        <p:spPr>
          <a:xfrm>
            <a:off x="685800" y="5858236"/>
            <a:ext cx="8686800" cy="520192"/>
          </a:xfrm>
          <a:prstGeom prst="rect">
            <a:avLst/>
          </a:prstGeom>
          <a:noFill/>
        </p:spPr>
        <p:txBody>
          <a:bodyPr wrap="square">
            <a:spAutoFit/>
          </a:bodyPr>
          <a:lstStyle/>
          <a:p>
            <a:pPr algn="l">
              <a:spcBef>
                <a:spcPts val="0"/>
              </a:spcBef>
              <a:spcAft>
                <a:spcPts val="100"/>
              </a:spcAft>
            </a:pPr>
            <a:r>
              <a:rPr sz="1400" b="0" i="0" dirty="0">
                <a:solidFill>
                  <a:srgbClr val="000000"/>
                </a:solidFill>
                <a:latin typeface="Times New Roman"/>
              </a:rPr>
              <a:t>[10] Lacroix A et al.  </a:t>
            </a:r>
            <a:r>
              <a:rPr sz="1400" b="0" i="0" dirty="0" err="1">
                <a:solidFill>
                  <a:srgbClr val="000000"/>
                </a:solidFill>
                <a:latin typeface="Times New Roman"/>
              </a:rPr>
              <a:t>Portiloop</a:t>
            </a:r>
            <a:r>
              <a:rPr sz="1400" b="0" i="0" dirty="0">
                <a:solidFill>
                  <a:srgbClr val="000000"/>
                </a:solidFill>
                <a:latin typeface="Times New Roman"/>
              </a:rPr>
              <a:t>: real-time causal sleep spindle detection.  PLOS ONE 17, e0269421, 2022.</a:t>
            </a:r>
          </a:p>
        </p:txBody>
      </p:sp>
      <p:sp>
        <p:nvSpPr>
          <p:cNvPr id="15" name="TextBox 14"/>
          <p:cNvSpPr txBox="1"/>
          <p:nvPr/>
        </p:nvSpPr>
        <p:spPr>
          <a:xfrm>
            <a:off x="685800" y="6433292"/>
            <a:ext cx="8686800" cy="310896"/>
          </a:xfrm>
          <a:prstGeom prst="rect">
            <a:avLst/>
          </a:prstGeom>
          <a:noFill/>
        </p:spPr>
        <p:txBody>
          <a:bodyPr wrap="square">
            <a:spAutoFit/>
          </a:bodyPr>
          <a:lstStyle/>
          <a:p>
            <a:pPr algn="l">
              <a:spcBef>
                <a:spcPts val="0"/>
              </a:spcBef>
              <a:spcAft>
                <a:spcPts val="0"/>
              </a:spcAft>
            </a:pPr>
            <a:r>
              <a:rPr sz="1700" b="1" i="0">
                <a:solidFill>
                  <a:srgbClr val="000000"/>
                </a:solidFill>
                <a:latin typeface="Times New Roman"/>
              </a:rPr>
              <a:t>Supplemental Information</a:t>
            </a:r>
          </a:p>
        </p:txBody>
      </p:sp>
      <p:sp>
        <p:nvSpPr>
          <p:cNvPr id="16" name="TextBox 15"/>
          <p:cNvSpPr txBox="1"/>
          <p:nvPr/>
        </p:nvSpPr>
        <p:spPr>
          <a:xfrm>
            <a:off x="685800" y="6744188"/>
            <a:ext cx="8686800" cy="328676"/>
          </a:xfrm>
          <a:prstGeom prst="rect">
            <a:avLst/>
          </a:prstGeom>
          <a:noFill/>
        </p:spPr>
        <p:txBody>
          <a:bodyPr wrap="square">
            <a:spAutoFit/>
          </a:bodyPr>
          <a:lstStyle/>
          <a:p>
            <a:pPr algn="l">
              <a:spcAft>
                <a:spcPts val="200"/>
              </a:spcAft>
            </a:pPr>
            <a:r>
              <a:rPr sz="1400" b="0" i="0">
                <a:solidFill>
                  <a:srgbClr val="000000"/>
                </a:solidFill>
                <a:latin typeface="Times New Roman"/>
              </a:rPr>
              <a:t>Dataset:  </a:t>
            </a:r>
            <a:r>
              <a:rPr sz="1400" b="0" i="1">
                <a:solidFill>
                  <a:srgbClr val="000000"/>
                </a:solidFill>
                <a:latin typeface="Times New Roman"/>
              </a:rPr>
              <a:t>https://openneuro.org/datasets/ds005048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1238</TotalTime>
  <Words>3340</Words>
  <Application>Microsoft Macintosh PowerPoint</Application>
  <PresentationFormat>Custom</PresentationFormat>
  <Paragraphs>238</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Amaar Chughtai</cp:lastModifiedBy>
  <cp:revision>14</cp:revision>
  <dcterms:created xsi:type="dcterms:W3CDTF">2013-01-27T09:14:16Z</dcterms:created>
  <dcterms:modified xsi:type="dcterms:W3CDTF">2026-03-27T09:40:15Z</dcterms:modified>
  <cp:category/>
</cp:coreProperties>
</file>