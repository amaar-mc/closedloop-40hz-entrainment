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286304" y="1180951"/>
            <a:ext cx="7485793" cy="1287661"/>
          </a:xfrm>
          <a:prstGeom prst="rect">
            <a:avLst/>
          </a:prstGeom>
          <a:noFill/>
          <a:ln/>
        </p:spPr>
        <p:txBody>
          <a:bodyPr wrap="square" lIns="0" tIns="0" rIns="0" bIns="0" rtlCol="0" anchor="t"/>
          <a:lstStyle/>
          <a:p>
            <a:pPr algn="ctr" indent="0" marL="0">
              <a:lnSpc>
                <a:spcPts val="3380"/>
              </a:lnSpc>
              <a:spcBef>
                <a:spcPts val="5000"/>
              </a:spcBef>
              <a:spcAft>
                <a:spcPts val="2200"/>
              </a:spcAft>
              <a:buNone/>
            </a:pPr>
            <a:r>
              <a:rPr lang="en-US" sz="2600" dirty="0">
                <a:solidFill>
                  <a:srgbClr val="000000"/>
                </a:solidFill>
                <a:latin typeface="Times New Roman" pitchFamily="34" charset="0"/>
                <a:ea typeface="Times New Roman" pitchFamily="34" charset="-122"/>
                <a:cs typeface="Times New Roman" pitchFamily="34" charset="-120"/>
              </a:rPr>
              <a:t>Personalized Deep Learning Model for Closed-Loop</a:t>
            </a:r>
            <a:endParaRPr lang="en-US" sz="2600" dirty="0"/>
          </a:p>
          <a:p>
            <a:pPr algn="ctr" indent="0" marL="0">
              <a:lnSpc>
                <a:spcPts val="3380"/>
              </a:lnSpc>
              <a:spcBef>
                <a:spcPts val="5000"/>
              </a:spcBef>
              <a:spcAft>
                <a:spcPts val="2200"/>
              </a:spcAft>
              <a:buNone/>
            </a:pPr>
            <a:r>
              <a:rPr lang="en-US" sz="2600" dirty="0">
                <a:solidFill>
                  <a:srgbClr val="000000"/>
                </a:solidFill>
                <a:latin typeface="Times New Roman" pitchFamily="34" charset="0"/>
                <a:ea typeface="Times New Roman" pitchFamily="34" charset="-122"/>
                <a:cs typeface="Times New Roman" pitchFamily="34" charset="-120"/>
              </a:rPr>
              <a:t>40 Hz Entrainment to Optimize Theta–Gamma</a:t>
            </a:r>
            <a:endParaRPr lang="en-US" sz="2600" dirty="0"/>
          </a:p>
          <a:p>
            <a:pPr algn="ctr" indent="0" marL="0">
              <a:lnSpc>
                <a:spcPts val="3380"/>
              </a:lnSpc>
              <a:spcBef>
                <a:spcPts val="5000"/>
              </a:spcBef>
              <a:spcAft>
                <a:spcPts val="2200"/>
              </a:spcAft>
              <a:buNone/>
            </a:pPr>
            <a:r>
              <a:rPr lang="en-US" sz="2600" dirty="0">
                <a:solidFill>
                  <a:srgbClr val="000000"/>
                </a:solidFill>
                <a:latin typeface="Times New Roman" pitchFamily="34" charset="0"/>
                <a:ea typeface="Times New Roman" pitchFamily="34" charset="-122"/>
                <a:cs typeface="Times New Roman" pitchFamily="34" charset="-120"/>
              </a:rPr>
              <a:t>Coupling in Alzheimer’s Disease</a:t>
            </a:r>
            <a:endParaRPr lang="en-US" sz="2600" dirty="0"/>
          </a:p>
        </p:txBody>
      </p:sp>
      <p:sp>
        <p:nvSpPr>
          <p:cNvPr id="3" name="Text 1"/>
          <p:cNvSpPr/>
          <p:nvPr/>
        </p:nvSpPr>
        <p:spPr>
          <a:xfrm>
            <a:off x="4255301" y="2976563"/>
            <a:ext cx="1547649" cy="257175"/>
          </a:xfrm>
          <a:prstGeom prst="rect">
            <a:avLst/>
          </a:prstGeom>
          <a:noFill/>
          <a:ln/>
        </p:spPr>
        <p:txBody>
          <a:bodyPr wrap="square" lIns="0" tIns="0" rIns="0" bIns="0" rtlCol="0" anchor="t"/>
          <a:lstStyle/>
          <a:p>
            <a:pPr algn="ctr" indent="0" marL="0">
              <a:spcBef>
                <a:spcPts val="1800"/>
              </a:spcBef>
              <a:spcAft>
                <a:spcPts val="3000"/>
              </a:spcAft>
              <a:buNone/>
            </a:pPr>
            <a:r>
              <a:rPr lang="en-US" sz="1800" dirty="0">
                <a:solidFill>
                  <a:srgbClr val="000000"/>
                </a:solidFill>
                <a:latin typeface="Times New Roman" pitchFamily="34" charset="0"/>
                <a:ea typeface="Times New Roman" pitchFamily="34" charset="-122"/>
                <a:cs typeface="Times New Roman" pitchFamily="34" charset="-120"/>
              </a:rPr>
              <a:t>Amaar Chughtai</a:t>
            </a:r>
            <a:endParaRPr lang="en-US" sz="1800" dirty="0"/>
          </a:p>
        </p:txBody>
      </p:sp>
      <p:sp>
        <p:nvSpPr>
          <p:cNvPr id="4" name="Text 2"/>
          <p:cNvSpPr/>
          <p:nvPr/>
        </p:nvSpPr>
        <p:spPr>
          <a:xfrm>
            <a:off x="4245584" y="3783360"/>
            <a:ext cx="1567232" cy="238125"/>
          </a:xfrm>
          <a:prstGeom prst="rect">
            <a:avLst/>
          </a:prstGeom>
          <a:noFill/>
          <a:ln/>
        </p:spPr>
        <p:txBody>
          <a:bodyPr wrap="square" lIns="0" tIns="0" rIns="0" bIns="0" rtlCol="0" anchor="t"/>
          <a:lstStyle/>
          <a:p>
            <a:pPr algn="ctr" indent="0" marL="0">
              <a:spcBef>
                <a:spcPts val="1328"/>
              </a:spcBef>
              <a:spcAft>
                <a:spcPts val="500"/>
              </a:spcAft>
              <a:buNone/>
            </a:pPr>
            <a:r>
              <a:rPr lang="en-US" sz="1600" b="1" dirty="0">
                <a:solidFill>
                  <a:srgbClr val="000000"/>
                </a:solidFill>
                <a:latin typeface="Times New Roman" pitchFamily="34" charset="0"/>
                <a:ea typeface="Times New Roman" pitchFamily="34" charset="-122"/>
                <a:cs typeface="Times New Roman" pitchFamily="34" charset="-120"/>
              </a:rPr>
              <a:t>Project Summary</a:t>
            </a:r>
            <a:endParaRPr lang="en-US" sz="1600" dirty="0"/>
          </a:p>
        </p:txBody>
      </p:sp>
      <p:sp>
        <p:nvSpPr>
          <p:cNvPr id="5" name="Text 3"/>
          <p:cNvSpPr/>
          <p:nvPr/>
        </p:nvSpPr>
        <p:spPr>
          <a:xfrm>
            <a:off x="685800" y="4122986"/>
            <a:ext cx="8860536" cy="2160538"/>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This project develops a closed-loop deep learning system for personalized 40 Hz auditory entrainment therapy in Alzheimer’s disease. Current clinical protocols deliver stimulation on rigid fixed schedules, ignoring individual variability in neural responses and intra-session habituation. I analyzed EEG recordings from 35 elderly subjects (OpenNeuro ds005048) and discovered that dropping 61 spectral features in favor of 12 PAC-derived and stimulation context features raised forecasting accuracy from test R² = 0.121 (73 features) to 0.606 (5-seed mean, std = 0.032), driven by eliminating subject-specific anatomy from model inputs. The predictive controller matched stimulation to patient need 72.1% versus 64.5% for reactive control (p &lt; 0.001, Hedges’ g = 1.31), targeted 82.6% of low-coupling windows versus 51.7%, and reached 91% of the theoretical oracle. All 35 subjects benefited. A caregiver-facing web application is deployed on Hugging Face Spaces as a path toward clinical translation.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algn="l" indent="0" marL="0">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Introduction</a:t>
            </a:r>
            <a:endParaRPr lang="en-US" sz="2200" dirty="0"/>
          </a:p>
        </p:txBody>
      </p:sp>
      <p:sp>
        <p:nvSpPr>
          <p:cNvPr id="3" name="Text 1"/>
          <p:cNvSpPr/>
          <p:nvPr/>
        </p:nvSpPr>
        <p:spPr>
          <a:xfrm>
            <a:off x="685800" y="1199852"/>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Research Question</a:t>
            </a:r>
            <a:endParaRPr lang="en-US" sz="1700" dirty="0"/>
          </a:p>
        </p:txBody>
      </p:sp>
      <p:sp>
        <p:nvSpPr>
          <p:cNvPr id="4" name="Text 2"/>
          <p:cNvSpPr/>
          <p:nvPr/>
        </p:nvSpPr>
        <p:spPr>
          <a:xfrm>
            <a:off x="685800" y="1498253"/>
            <a:ext cx="8860536" cy="720179"/>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Can deep learning models trained on EEG-derived features forecast theta–gamma phase-amplitude coupling (PAC) dynamics 5–10 seconds into the future, and does integrating such forecasts into a closed-loop controller produce measurable improvements in personalized 40 Hz entrainment therapy for Alzheimer’s disease?</a:t>
            </a:r>
            <a:endParaRPr lang="en-US" sz="1400" dirty="0"/>
          </a:p>
        </p:txBody>
      </p:sp>
      <p:sp>
        <p:nvSpPr>
          <p:cNvPr id="5" name="Text 3"/>
          <p:cNvSpPr/>
          <p:nvPr/>
        </p:nvSpPr>
        <p:spPr>
          <a:xfrm>
            <a:off x="685800" y="2294632"/>
            <a:ext cx="8860536" cy="720179"/>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b="1" dirty="0">
                <a:solidFill>
                  <a:srgbClr val="000000"/>
                </a:solidFill>
                <a:latin typeface="Times New Roman" pitchFamily="34" charset="0"/>
                <a:ea typeface="Times New Roman" pitchFamily="34" charset="-122"/>
                <a:cs typeface="Times New Roman" pitchFamily="34" charset="-120"/>
              </a:rPr>
              <a:t>Hypothesis:</a:t>
            </a:r>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 A Temporal Convolutional Network trained on 12 causal PAC-derived and stimulation context features — rather than 73 spectral features — can predict future PAC at horizons where simpler baselines fail (beyond ≈3 seconds), enabling a predictive controller that outperforms reactive threshold control and approaches the theoretical oracle bound.</a:t>
            </a:r>
            <a:endParaRPr lang="en-US" sz="1400" dirty="0"/>
          </a:p>
        </p:txBody>
      </p:sp>
      <p:sp>
        <p:nvSpPr>
          <p:cNvPr id="6" name="Text 4"/>
          <p:cNvSpPr/>
          <p:nvPr/>
        </p:nvSpPr>
        <p:spPr>
          <a:xfrm>
            <a:off x="685800" y="3167211"/>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Project Origin</a:t>
            </a:r>
            <a:endParaRPr lang="en-US" sz="1700" dirty="0"/>
          </a:p>
        </p:txBody>
      </p:sp>
      <p:sp>
        <p:nvSpPr>
          <p:cNvPr id="7" name="Text 5"/>
          <p:cNvSpPr/>
          <p:nvPr/>
        </p:nvSpPr>
        <p:spPr>
          <a:xfrm>
            <a:off x="685800" y="3465612"/>
            <a:ext cx="8860536" cy="1440359"/>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I became interested in computational approaches to Alzheimer’s therapy after reading about the landmark Iaccarino et al. (2016) Nature study showing that 40 Hz sensory stimulation reduced amyloid-beta plaques in AD mouse models by up to 50%. Looking into human clinical translation, I noticed a gap: all existing protocols deliver stimulation on rigid fixed schedules that ignore individual neural responses. Approximately 30% of patients are non-responders (Fortunato et al., 2023), and habituation degrades entrainment within sessions — yet fixed protocols cannot detect or adapt to these dynamics.</a:t>
            </a:r>
            <a:endParaRPr lang="en-US" sz="1400" dirty="0"/>
          </a:p>
        </p:txBody>
      </p:sp>
      <p:sp>
        <p:nvSpPr>
          <p:cNvPr id="8" name="Text 6"/>
          <p:cNvSpPr/>
          <p:nvPr/>
        </p:nvSpPr>
        <p:spPr>
          <a:xfrm>
            <a:off x="685800" y="4982170"/>
            <a:ext cx="8860536" cy="960239"/>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This observation led to my central question: could machine learning predict when a patient’s brain will lose entrainment, enabling proactive intervention? I began this project in early 2026 using the publicly available OpenNeuro ds005048 EEG dataset. The project concept originated from my independent literature review and was not assigned as part of any class or institutional program.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98450"/>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Continuation</a:t>
            </a:r>
            <a:endParaRPr lang="en-US" sz="1700" dirty="0"/>
          </a:p>
        </p:txBody>
      </p:sp>
      <p:sp>
        <p:nvSpPr>
          <p:cNvPr id="3" name="Text 1"/>
          <p:cNvSpPr/>
          <p:nvPr/>
        </p:nvSpPr>
        <p:spPr>
          <a:xfrm>
            <a:off x="685800" y="996851"/>
            <a:ext cx="8860536" cy="240060"/>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None. This is not a continuation of any previous science fair project.</a:t>
            </a:r>
            <a:endParaRPr lang="en-US" sz="1400" dirty="0"/>
          </a:p>
        </p:txBody>
      </p:sp>
      <p:sp>
        <p:nvSpPr>
          <p:cNvPr id="4" name="Text 2"/>
          <p:cNvSpPr/>
          <p:nvPr/>
        </p:nvSpPr>
        <p:spPr>
          <a:xfrm>
            <a:off x="685800" y="1389311"/>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Work by Others</a:t>
            </a:r>
            <a:endParaRPr lang="en-US" sz="1700" dirty="0"/>
          </a:p>
        </p:txBody>
      </p:sp>
      <p:sp>
        <p:nvSpPr>
          <p:cNvPr id="5" name="Text 3"/>
          <p:cNvSpPr/>
          <p:nvPr/>
        </p:nvSpPr>
        <p:spPr>
          <a:xfrm>
            <a:off x="685800" y="1687711"/>
            <a:ext cx="8860536" cy="240060"/>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Key prior work relevant to this project:</a:t>
            </a:r>
            <a:endParaRPr lang="en-US" sz="1400" dirty="0"/>
          </a:p>
        </p:txBody>
      </p:sp>
      <p:sp>
        <p:nvSpPr>
          <p:cNvPr id="6" name="Text 4"/>
          <p:cNvSpPr/>
          <p:nvPr/>
        </p:nvSpPr>
        <p:spPr>
          <a:xfrm>
            <a:off x="685800" y="2003971"/>
            <a:ext cx="8686800" cy="4347716"/>
          </a:xfrm>
          <a:prstGeom prst="rect">
            <a:avLst/>
          </a:prstGeom>
          <a:noFill/>
          <a:ln/>
        </p:spPr>
        <p:txBody>
          <a:bodyPr wrap="square" lIns="127000" tIns="0" rIns="0" bIns="0" rtlCol="0" anchor="t"/>
          <a:lstStyle/>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Iaccarino et al. (2016, Nature):</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40 Hz optogenetic and sensory stimulation reduced amyloid-beta by ~50% in AD mouse models through microglial activation — the foundational study for 40 Hz entrainment therapy.</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Murdock et al. (2024, Nature):</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Identified glymphatic clearance as a key mechanism; multisensory 40 Hz stimulation reduced neocortical plaque volume by 37% in 5XFAD mice.</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Chan et al. (2025, Alzheimer’s &amp; Dementia):</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Open-label extension study showing sustained EEG entrainment and reduced brain atrophy in mild AD patients with 40 Hz multisensory stimulation — first human evidence of target engagement at this scale.</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Fortunato et al. (2023, Frontiers in Neuroscience):</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Found ~30% non-responder rate in 40 Hz entrainment studies, motivating personalized approaches.</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Lahijanian et al. (2024, Scientific Reports):</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Created the OpenNeuro ds005048 dataset (35 elderly subjects, 40 Hz auditory entrainment) and showed enhanced default mode network connectivity.</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Lawhern et al. (2018, J Neural Engineering):</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Developed EEGNet, a compact CNN for brain–computer interfaces, which I adapted as the static PAC estimator.</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Tort et al. (2010, J Neurophysiology):</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Introduced the Modulation Index for measuring phase-amplitude coupling, used as the entrainment biomarker throughout this work.</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Cabral et al. (2025, Frontiers in Digital Health):</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Advocated for AI-driven biofeedback as the path toward personalized digital therapeutics for gamma entrainment.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algn="l" indent="0" marL="0">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Methods</a:t>
            </a:r>
            <a:endParaRPr lang="en-US" sz="2200" dirty="0"/>
          </a:p>
        </p:txBody>
      </p:sp>
      <p:sp>
        <p:nvSpPr>
          <p:cNvPr id="3" name="Text 1"/>
          <p:cNvSpPr/>
          <p:nvPr/>
        </p:nvSpPr>
        <p:spPr>
          <a:xfrm>
            <a:off x="685800" y="1174403"/>
            <a:ext cx="8860536" cy="219075"/>
          </a:xfrm>
          <a:prstGeom prst="rect">
            <a:avLst/>
          </a:prstGeom>
          <a:noFill/>
          <a:ln/>
        </p:spPr>
        <p:txBody>
          <a:bodyPr wrap="square" lIns="0" tIns="0" rIns="0" bIns="0" rtlCol="0" anchor="t"/>
          <a:lstStyle/>
          <a:p>
            <a:pPr algn="l" indent="0" marL="0">
              <a:spcBef>
                <a:spcPts val="800"/>
              </a:spcBef>
              <a:spcAft>
                <a:spcPts val="300"/>
              </a:spcAft>
              <a:buNone/>
            </a:pPr>
            <a:r>
              <a:rPr lang="en-US" sz="1500" b="1" dirty="0">
                <a:solidFill>
                  <a:srgbClr val="000000"/>
                </a:solidFill>
                <a:latin typeface="Times New Roman" pitchFamily="34" charset="0"/>
                <a:ea typeface="Times New Roman" pitchFamily="34" charset="-122"/>
                <a:cs typeface="Times New Roman" pitchFamily="34" charset="-120"/>
              </a:rPr>
              <a:t>Dataset</a:t>
            </a:r>
            <a:endParaRPr lang="en-US" sz="1500" dirty="0"/>
          </a:p>
        </p:txBody>
      </p:sp>
      <p:sp>
        <p:nvSpPr>
          <p:cNvPr id="4" name="Text 2"/>
          <p:cNvSpPr/>
          <p:nvPr/>
        </p:nvSpPr>
        <p:spPr>
          <a:xfrm>
            <a:off x="685800" y="1431578"/>
            <a:ext cx="8686800" cy="1074539"/>
          </a:xfrm>
          <a:prstGeom prst="rect">
            <a:avLst/>
          </a:prstGeom>
          <a:noFill/>
          <a:ln/>
        </p:spPr>
        <p:txBody>
          <a:bodyPr wrap="square" lIns="127000" tIns="0" rIns="0" bIns="0" rtlCol="0" anchor="t"/>
          <a:lstStyle/>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OpenNeuro ds005048 (Lahijanian et al., 2024)</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35 elderly subjects: Alzheimer’s disease (n = 17), MCI (n = 6), healthy controls (n = 10), unspecified (n = 2)</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7 frontal EEG channels (Fp1, Fp2, F7, F3, Fz, F4, F8), sampled at 250 Hz</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Protocol: 40 Hz auditory stimulation (40 s ON / 20 s OFF cycles)</a:t>
            </a:r>
            <a:endParaRPr lang="en-US" sz="1400" dirty="0"/>
          </a:p>
        </p:txBody>
      </p:sp>
      <p:sp>
        <p:nvSpPr>
          <p:cNvPr id="5" name="Text 3"/>
          <p:cNvSpPr/>
          <p:nvPr/>
        </p:nvSpPr>
        <p:spPr>
          <a:xfrm>
            <a:off x="685800" y="2607618"/>
            <a:ext cx="8860536" cy="219075"/>
          </a:xfrm>
          <a:prstGeom prst="rect">
            <a:avLst/>
          </a:prstGeom>
          <a:noFill/>
          <a:ln/>
        </p:spPr>
        <p:txBody>
          <a:bodyPr wrap="square" lIns="0" tIns="0" rIns="0" bIns="0" rtlCol="0" anchor="t"/>
          <a:lstStyle/>
          <a:p>
            <a:pPr algn="l" indent="0" marL="0">
              <a:spcBef>
                <a:spcPts val="800"/>
              </a:spcBef>
              <a:spcAft>
                <a:spcPts val="300"/>
              </a:spcAft>
              <a:buNone/>
            </a:pPr>
            <a:r>
              <a:rPr lang="en-US" sz="1500" b="1" dirty="0">
                <a:solidFill>
                  <a:srgbClr val="000000"/>
                </a:solidFill>
                <a:latin typeface="Times New Roman" pitchFamily="34" charset="0"/>
                <a:ea typeface="Times New Roman" pitchFamily="34" charset="-122"/>
                <a:cs typeface="Times New Roman" pitchFamily="34" charset="-120"/>
              </a:rPr>
              <a:t>Preprocessing</a:t>
            </a:r>
            <a:endParaRPr lang="en-US" sz="1500" dirty="0"/>
          </a:p>
        </p:txBody>
      </p:sp>
      <p:sp>
        <p:nvSpPr>
          <p:cNvPr id="6" name="Text 4"/>
          <p:cNvSpPr/>
          <p:nvPr/>
        </p:nvSpPr>
        <p:spPr>
          <a:xfrm>
            <a:off x="685800" y="2864793"/>
            <a:ext cx="8686800" cy="1352699"/>
          </a:xfrm>
          <a:prstGeom prst="rect">
            <a:avLst/>
          </a:prstGeom>
          <a:noFill/>
          <a:ln/>
        </p:spPr>
        <p:txBody>
          <a:bodyPr wrap="square" lIns="127000" tIns="0" rIns="0" bIns="0" rtlCol="0" anchor="t"/>
          <a:lstStyle/>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Bandpass filter: 0.5–80 Hz (4th-order Butterworth, zero-phase)</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Notch filter: 50 Hz (Q = 30) for power-line removal</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Artifact rejection: ±100 µV threshold (applied before CAR)</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Common average reference (after artifact rejection)</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Windowing: 2-second windows (500 samples), 1-second hop</a:t>
            </a:r>
            <a:endParaRPr lang="en-US" sz="1400" dirty="0"/>
          </a:p>
        </p:txBody>
      </p:sp>
      <p:sp>
        <p:nvSpPr>
          <p:cNvPr id="7" name="Text 5"/>
          <p:cNvSpPr/>
          <p:nvPr/>
        </p:nvSpPr>
        <p:spPr>
          <a:xfrm>
            <a:off x="685800" y="4318992"/>
            <a:ext cx="8860536" cy="219075"/>
          </a:xfrm>
          <a:prstGeom prst="rect">
            <a:avLst/>
          </a:prstGeom>
          <a:noFill/>
          <a:ln/>
        </p:spPr>
        <p:txBody>
          <a:bodyPr wrap="square" lIns="0" tIns="0" rIns="0" bIns="0" rtlCol="0" anchor="t"/>
          <a:lstStyle/>
          <a:p>
            <a:pPr algn="l" indent="0" marL="0">
              <a:spcBef>
                <a:spcPts val="800"/>
              </a:spcBef>
              <a:spcAft>
                <a:spcPts val="300"/>
              </a:spcAft>
              <a:buNone/>
            </a:pPr>
            <a:r>
              <a:rPr lang="en-US" sz="1500" b="1" dirty="0">
                <a:solidFill>
                  <a:srgbClr val="000000"/>
                </a:solidFill>
                <a:latin typeface="Times New Roman" pitchFamily="34" charset="0"/>
                <a:ea typeface="Times New Roman" pitchFamily="34" charset="-122"/>
                <a:cs typeface="Times New Roman" pitchFamily="34" charset="-120"/>
              </a:rPr>
              <a:t>Subject-Level Data Splits (No Within-Subject Leakage)</a:t>
            </a:r>
            <a:endParaRPr lang="en-US" sz="1500" dirty="0"/>
          </a:p>
        </p:txBody>
      </p:sp>
      <p:sp>
        <p:nvSpPr>
          <p:cNvPr id="8" name="Text 6"/>
          <p:cNvSpPr/>
          <p:nvPr/>
        </p:nvSpPr>
        <p:spPr>
          <a:xfrm>
            <a:off x="685800" y="4576167"/>
            <a:ext cx="8686800" cy="796379"/>
          </a:xfrm>
          <a:prstGeom prst="rect">
            <a:avLst/>
          </a:prstGeom>
          <a:noFill/>
          <a:ln/>
        </p:spPr>
        <p:txBody>
          <a:bodyPr wrap="square" lIns="127000" tIns="0" rIns="0" bIns="0" rtlCol="0" anchor="t"/>
          <a:lstStyle/>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Training: 24 subjects (11,736 windows)</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Validation: 5 subjects (2,725 windows)</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Test: 6 subjects (2,822 windows) — never seen during training or hyperparameter selection</a:t>
            </a:r>
            <a:endParaRPr lang="en-US" sz="1400" dirty="0"/>
          </a:p>
        </p:txBody>
      </p:sp>
      <p:sp>
        <p:nvSpPr>
          <p:cNvPr id="9" name="Text 7"/>
          <p:cNvSpPr/>
          <p:nvPr/>
        </p:nvSpPr>
        <p:spPr>
          <a:xfrm>
            <a:off x="685800" y="5474047"/>
            <a:ext cx="8860536" cy="219075"/>
          </a:xfrm>
          <a:prstGeom prst="rect">
            <a:avLst/>
          </a:prstGeom>
          <a:noFill/>
          <a:ln/>
        </p:spPr>
        <p:txBody>
          <a:bodyPr wrap="square" lIns="0" tIns="0" rIns="0" bIns="0" rtlCol="0" anchor="t"/>
          <a:lstStyle/>
          <a:p>
            <a:pPr algn="l" indent="0" marL="0">
              <a:spcBef>
                <a:spcPts val="800"/>
              </a:spcBef>
              <a:spcAft>
                <a:spcPts val="300"/>
              </a:spcAft>
              <a:buNone/>
            </a:pPr>
            <a:r>
              <a:rPr lang="en-US" sz="1500" b="1" dirty="0">
                <a:solidFill>
                  <a:srgbClr val="000000"/>
                </a:solidFill>
                <a:latin typeface="Times New Roman" pitchFamily="34" charset="0"/>
                <a:ea typeface="Times New Roman" pitchFamily="34" charset="-122"/>
                <a:cs typeface="Times New Roman" pitchFamily="34" charset="-120"/>
              </a:rPr>
              <a:t>Phase-Amplitude Coupling (PAC) Computation</a:t>
            </a:r>
            <a:endParaRPr lang="en-US" sz="1500" dirty="0"/>
          </a:p>
        </p:txBody>
      </p:sp>
      <p:sp>
        <p:nvSpPr>
          <p:cNvPr id="10" name="Text 8"/>
          <p:cNvSpPr/>
          <p:nvPr/>
        </p:nvSpPr>
        <p:spPr>
          <a:xfrm>
            <a:off x="685800" y="5731222"/>
            <a:ext cx="8686800" cy="1314599"/>
          </a:xfrm>
          <a:prstGeom prst="rect">
            <a:avLst/>
          </a:prstGeom>
          <a:noFill/>
          <a:ln/>
        </p:spPr>
        <p:txBody>
          <a:bodyPr wrap="square" lIns="127000" tIns="0" rIns="0" bIns="0" rtlCol="0" anchor="t"/>
          <a:lstStyle/>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Modulation Index (Tort et al., 2010): measures coordination between theta phase (4–8 Hz) and gamma amplitude (38–42 Hz)</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KL divergence from uniform distribution over 18 phase bins (20° each)</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Computed at epoch level (20–40 s); assigned to all constituent 2-second windows within each epoch</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Range: 6e-6 to 7e-4 (dimensionless MI units); mean approx. 4.4e-5</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8860536" cy="209550"/>
          </a:xfrm>
          <a:prstGeom prst="rect">
            <a:avLst/>
          </a:prstGeom>
          <a:noFill/>
          <a:ln/>
        </p:spPr>
        <p:txBody>
          <a:bodyPr wrap="square" lIns="0" tIns="0" rIns="0" bIns="0" rtlCol="0" anchor="t"/>
          <a:lstStyle/>
          <a:p>
            <a:pPr algn="l" indent="0" marL="0">
              <a:spcBef>
                <a:spcPts val="6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Feature Engineering: PAC + Stimulation Context (12 Features)</a:t>
            </a:r>
            <a:endParaRPr lang="en-US" sz="1400" dirty="0"/>
          </a:p>
        </p:txBody>
      </p:sp>
      <p:sp>
        <p:nvSpPr>
          <p:cNvPr id="3" name="Text 1"/>
          <p:cNvSpPr/>
          <p:nvPr/>
        </p:nvSpPr>
        <p:spPr>
          <a:xfrm>
            <a:off x="685800" y="768251"/>
            <a:ext cx="8860536" cy="857845"/>
          </a:xfrm>
          <a:prstGeom prst="rect">
            <a:avLst/>
          </a:prstGeom>
          <a:noFill/>
          <a:ln/>
        </p:spPr>
        <p:txBody>
          <a:bodyPr wrap="square" lIns="0" tIns="0" rIns="0" bIns="0" rtlCol="0" anchor="t"/>
          <a:lstStyle/>
          <a:p>
            <a:pPr algn="l" indent="0" marL="0">
              <a:lnSpc>
                <a:spcPts val="1690"/>
              </a:lnSpc>
              <a:spcBef>
                <a:spcPts val="200"/>
              </a:spcBef>
              <a:spcAft>
                <a:spcPts val="400"/>
              </a:spcAft>
              <a:buNone/>
            </a:pPr>
            <a:r>
              <a:rPr lang="en-US" sz="1300" dirty="0">
                <a:solidFill>
                  <a:srgbClr val="000000"/>
                </a:solidFill>
                <a:latin typeface="Times New Roman" pitchFamily="34" charset="0"/>
                <a:ea typeface="Times New Roman" pitchFamily="34" charset="-122"/>
                <a:cs typeface="Times New Roman" pitchFamily="34" charset="-120"/>
              </a:rPr>
              <a:t>A feature ablation study revealed that 61 spectral features encode subject-specific EEG anatomy (skull thickness, electrode impedance, individual oscillation profiles) that does not generalize across subjects. Dropping all spectral features and using only 12 PAC-derived and stimulation context features raised test R² from −0.025 (73 features) to 0.558 (12 features, single seed). The 5-seed mean is R² = 0.606 ± 0.032, a 5× improvement over the prior TCN best of 0.121.</a:t>
            </a:r>
            <a:endParaRPr lang="en-US" sz="1300" dirty="0"/>
          </a:p>
        </p:txBody>
      </p:sp>
      <p:sp>
        <p:nvSpPr>
          <p:cNvPr id="4" name="Text 2"/>
          <p:cNvSpPr/>
          <p:nvPr/>
        </p:nvSpPr>
        <p:spPr>
          <a:xfrm>
            <a:off x="685800" y="2921347"/>
            <a:ext cx="8860536" cy="164902"/>
          </a:xfrm>
          <a:prstGeom prst="rect">
            <a:avLst/>
          </a:prstGeom>
          <a:noFill/>
          <a:ln/>
        </p:spPr>
        <p:txBody>
          <a:bodyPr wrap="square" lIns="0" tIns="0" rIns="0" bIns="0" rtlCol="0" anchor="t"/>
          <a:lstStyle/>
          <a:p>
            <a:pPr algn="l" indent="0" marL="0">
              <a:lnSpc>
                <a:spcPts val="1300"/>
              </a:lnSpc>
              <a:spcBef>
                <a:spcPts val="200"/>
              </a:spcBef>
              <a:spcAft>
                <a:spcPts val="200"/>
              </a:spcAft>
              <a:buNone/>
            </a:pPr>
            <a:r>
              <a:rPr lang="en-US" sz="1000" i="1" dirty="0">
                <a:solidFill>
                  <a:srgbClr val="646464"/>
                </a:solidFill>
                <a:latin typeface="Times New Roman" pitchFamily="34" charset="0"/>
                <a:ea typeface="Times New Roman" pitchFamily="34" charset="-122"/>
                <a:cs typeface="Times New Roman" pitchFamily="34" charset="-120"/>
              </a:rPr>
              <a:t>*Single-seed ablation result. 5-seed mean: R² = 0.606 ± 0.032 (see Results, Table 3).</a:t>
            </a:r>
            <a:endParaRPr lang="en-US" sz="1000" dirty="0"/>
          </a:p>
        </p:txBody>
      </p:sp>
      <p:sp>
        <p:nvSpPr>
          <p:cNvPr id="5" name="Text 3"/>
          <p:cNvSpPr/>
          <p:nvPr/>
        </p:nvSpPr>
        <p:spPr>
          <a:xfrm>
            <a:off x="685800" y="3111550"/>
            <a:ext cx="8860536" cy="643384"/>
          </a:xfrm>
          <a:prstGeom prst="rect">
            <a:avLst/>
          </a:prstGeom>
          <a:noFill/>
          <a:ln/>
        </p:spPr>
        <p:txBody>
          <a:bodyPr wrap="square" lIns="0" tIns="0" rIns="0" bIns="0" rtlCol="0" anchor="t"/>
          <a:lstStyle/>
          <a:p>
            <a:pPr algn="l" indent="0" marL="0">
              <a:lnSpc>
                <a:spcPts val="1690"/>
              </a:lnSpc>
              <a:spcBef>
                <a:spcPts val="200"/>
              </a:spcBef>
              <a:spcAft>
                <a:spcPts val="400"/>
              </a:spcAft>
              <a:buNone/>
            </a:pPr>
            <a:r>
              <a:rPr lang="en-US" sz="1300" dirty="0">
                <a:solidFill>
                  <a:srgbClr val="000000"/>
                </a:solidFill>
                <a:latin typeface="Times New Roman" pitchFamily="34" charset="0"/>
                <a:ea typeface="Times New Roman" pitchFamily="34" charset="-122"/>
                <a:cs typeface="Times New Roman" pitchFamily="34" charset="-120"/>
              </a:rPr>
              <a:t>The 12 PAC+Stim features: PAC current value, causal moving averages (2, 4, 8, 16 windows), first-order and 4-step differences, stim state (binary), time since switch, stim fraction over 20 s, cycle phase (sin + cos encoding). All strictly causal. Z-score normalized on training set only.</a:t>
            </a:r>
            <a:endParaRPr lang="en-US" sz="1300" dirty="0"/>
          </a:p>
        </p:txBody>
      </p:sp>
      <p:sp>
        <p:nvSpPr>
          <p:cNvPr id="6" name="Text 4"/>
          <p:cNvSpPr/>
          <p:nvPr/>
        </p:nvSpPr>
        <p:spPr>
          <a:xfrm>
            <a:off x="685800" y="3831134"/>
            <a:ext cx="8860536" cy="209550"/>
          </a:xfrm>
          <a:prstGeom prst="rect">
            <a:avLst/>
          </a:prstGeom>
          <a:noFill/>
          <a:ln/>
        </p:spPr>
        <p:txBody>
          <a:bodyPr wrap="square" lIns="0" tIns="0" rIns="0" bIns="0" rtlCol="0" anchor="t"/>
          <a:lstStyle/>
          <a:p>
            <a:pPr algn="l" indent="0" marL="0">
              <a:spcBef>
                <a:spcPts val="6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Stage 1: EEGNet — Static PAC Estimator</a:t>
            </a:r>
            <a:endParaRPr lang="en-US" sz="1400" dirty="0"/>
          </a:p>
        </p:txBody>
      </p:sp>
      <p:sp>
        <p:nvSpPr>
          <p:cNvPr id="7" name="Text 5"/>
          <p:cNvSpPr/>
          <p:nvPr/>
        </p:nvSpPr>
        <p:spPr>
          <a:xfrm>
            <a:off x="685800" y="4065984"/>
            <a:ext cx="8686800" cy="933748"/>
          </a:xfrm>
          <a:prstGeom prst="rect">
            <a:avLst/>
          </a:prstGeom>
          <a:noFill/>
          <a:ln/>
        </p:spPr>
        <p:txBody>
          <a:bodyPr wrap="square" lIns="114300" tIns="0" rIns="0" bIns="0" rtlCol="0" anchor="t"/>
          <a:lstStyle/>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Input: (batch, 1, 7, 500) — 7 channels, 2 seconds at 250 Hz</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Block 1: temporal conv (8 filters, 256 ms kernel) + depthwise spatial conv across 7 channels</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Block 2: separable conv (16 filters); FC regression head outputting scalar PAC prediction</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1,457 parameters; MSE loss; Adam optimizer; test R² = 0.287 (data-imposed ceiling; best epoch 53)</a:t>
            </a:r>
            <a:endParaRPr lang="en-US" sz="1300" dirty="0"/>
          </a:p>
        </p:txBody>
      </p:sp>
      <p:sp>
        <p:nvSpPr>
          <p:cNvPr id="8" name="Text 6"/>
          <p:cNvSpPr/>
          <p:nvPr/>
        </p:nvSpPr>
        <p:spPr>
          <a:xfrm>
            <a:off x="685800" y="5075932"/>
            <a:ext cx="8860536" cy="209550"/>
          </a:xfrm>
          <a:prstGeom prst="rect">
            <a:avLst/>
          </a:prstGeom>
          <a:noFill/>
          <a:ln/>
        </p:spPr>
        <p:txBody>
          <a:bodyPr wrap="square" lIns="0" tIns="0" rIns="0" bIns="0" rtlCol="0" anchor="t"/>
          <a:lstStyle/>
          <a:p>
            <a:pPr algn="l" indent="0" marL="0">
              <a:spcBef>
                <a:spcPts val="6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Stage 2: MultiscaleCausalTCN — Temporal Forecaster</a:t>
            </a:r>
            <a:endParaRPr lang="en-US" sz="1400" dirty="0"/>
          </a:p>
        </p:txBody>
      </p:sp>
      <p:sp>
        <p:nvSpPr>
          <p:cNvPr id="9" name="Text 7"/>
          <p:cNvSpPr/>
          <p:nvPr/>
        </p:nvSpPr>
        <p:spPr>
          <a:xfrm>
            <a:off x="685800" y="5310783"/>
            <a:ext cx="8686800" cy="1173510"/>
          </a:xfrm>
          <a:prstGeom prst="rect">
            <a:avLst/>
          </a:prstGeom>
          <a:noFill/>
          <a:ln/>
        </p:spPr>
        <p:txBody>
          <a:bodyPr wrap="square" lIns="114300" tIns="0" rIns="0" bIns="0" rtlCol="0" anchor="t"/>
          <a:lstStyle/>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Input: (batch, 20, 12) — 20-step lookback (20 s) × 12 PAC+Stim features</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4 causal depthwise-separable conv blocks with dilations [1, 2, 4, 8]; receptive field = 31 steps</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GroupNorm + SiLU activation; attention pooling; dual-head output (future PAC + delta-PAC)</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22,914 params (h = 64); Huber loss; AdamW; early stopping (patience = 20 epochs)</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5 s horizon; test R² = 0.606 (7ch, 5-seed mean 0.606 ± 0.032, range 0.558–0.647); 4ch: 0.430</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1676846"/>
          <a:ext cx="7670750" cy="914400"/>
        </p:xfrm>
        <a:graphic>
          <a:graphicData uri="http://schemas.openxmlformats.org/drawingml/2006/table">
            <a:tbl>
              <a:tblPr/>
              <a:tblGrid>
                <a:gridCol w="4109331"/>
                <a:gridCol w="1643732"/>
                <a:gridCol w="1917688"/>
              </a:tblGrid>
              <a:tr h="274320">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Feature Subset</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 Features</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Test R²</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All (spectral + PAC + stim)</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73</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−0.025</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PAC only</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0.344</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r>
              <a:tr h="274320">
                <a:tc>
                  <a:txBody>
                    <a:bodyPr/>
                    <a:lstStyle/>
                    <a:p>
                      <a:pPr algn="l" indent="0" marL="0">
                        <a:buNone/>
                      </a:pPr>
                      <a:r>
                        <a:rPr lang="en-US" sz="1400" b="1" dirty="0">
                          <a:solidFill>
                            <a:srgbClr val="000000"/>
                          </a:solidFill>
                          <a:latin typeface="Times New Roman" pitchFamily="34" charset="0"/>
                          <a:ea typeface="Times New Roman" pitchFamily="34" charset="-122"/>
                          <a:cs typeface="Times New Roman" pitchFamily="34" charset="-120"/>
                        </a:rPr>
                        <a:t>PAC + Stim context (final)</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12</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0.558*</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Spectral only</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61</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−0.420</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20601"/>
            <a:ext cx="8860536" cy="209550"/>
          </a:xfrm>
          <a:prstGeom prst="rect">
            <a:avLst/>
          </a:prstGeom>
          <a:noFill/>
          <a:ln/>
        </p:spPr>
        <p:txBody>
          <a:bodyPr wrap="square" lIns="0" tIns="0" rIns="0" bIns="0" rtlCol="0" anchor="t"/>
          <a:lstStyle/>
          <a:p>
            <a:pPr algn="l" indent="0" marL="0">
              <a:spcBef>
                <a:spcPts val="5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Closed-Loop Controller Design</a:t>
            </a:r>
            <a:endParaRPr lang="en-US" sz="1400" dirty="0"/>
          </a:p>
        </p:txBody>
      </p:sp>
      <p:sp>
        <p:nvSpPr>
          <p:cNvPr id="3" name="Text 1"/>
          <p:cNvSpPr/>
          <p:nvPr/>
        </p:nvSpPr>
        <p:spPr>
          <a:xfrm>
            <a:off x="685800" y="755452"/>
            <a:ext cx="8686800" cy="933748"/>
          </a:xfrm>
          <a:prstGeom prst="rect">
            <a:avLst/>
          </a:prstGeom>
          <a:noFill/>
          <a:ln/>
        </p:spPr>
        <p:txBody>
          <a:bodyPr wrap="square" lIns="114300" tIns="0" rIns="0" bIns="0" rtlCol="0" anchor="t"/>
          <a:lstStyle/>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Personalization:</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30-second rolling baseline per subject; z-score = (PAC − μ) / σ</a:t>
            </a:r>
            <a:endParaRPr lang="en-US" sz="1300" dirty="0"/>
          </a:p>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Decision logic:</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z &lt; −0.5 → STIMULATE; z &gt; +0.5 → REST; else MAINTAIN</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5-second hysteresis to prevent rapid state oscillation</a:t>
            </a:r>
            <a:endParaRPr lang="en-US" sz="1300" dirty="0"/>
          </a:p>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Variants tested:</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Fixed Schedule, Reactive Threshold, TCN Predictive, Hybrid, PI Controller, Alignment Oracle</a:t>
            </a:r>
            <a:endParaRPr lang="en-US" sz="1300" dirty="0"/>
          </a:p>
        </p:txBody>
      </p:sp>
      <p:sp>
        <p:nvSpPr>
          <p:cNvPr id="4" name="Text 2"/>
          <p:cNvSpPr/>
          <p:nvPr/>
        </p:nvSpPr>
        <p:spPr>
          <a:xfrm>
            <a:off x="685800" y="1752600"/>
            <a:ext cx="8860536" cy="209550"/>
          </a:xfrm>
          <a:prstGeom prst="rect">
            <a:avLst/>
          </a:prstGeom>
          <a:noFill/>
          <a:ln/>
        </p:spPr>
        <p:txBody>
          <a:bodyPr wrap="square" lIns="0" tIns="0" rIns="0" bIns="0" rtlCol="0" anchor="t"/>
          <a:lstStyle/>
          <a:p>
            <a:pPr algn="l" indent="0" marL="0">
              <a:spcBef>
                <a:spcPts val="5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Validation Protocol</a:t>
            </a:r>
            <a:endParaRPr lang="en-US" sz="1400" dirty="0"/>
          </a:p>
        </p:txBody>
      </p:sp>
      <p:sp>
        <p:nvSpPr>
          <p:cNvPr id="5" name="Text 3"/>
          <p:cNvSpPr/>
          <p:nvPr/>
        </p:nvSpPr>
        <p:spPr>
          <a:xfrm>
            <a:off x="685800" y="1987451"/>
            <a:ext cx="8686800" cy="933748"/>
          </a:xfrm>
          <a:prstGeom prst="rect">
            <a:avLst/>
          </a:prstGeom>
          <a:noFill/>
          <a:ln/>
        </p:spPr>
        <p:txBody>
          <a:bodyPr wrap="square" lIns="114300" tIns="0" rIns="0" bIns="0" rtlCol="0" anchor="t"/>
          <a:lstStyle/>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Offline counterfactual replay</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on all 35 subjects’ recorded EEG — not simulated brain dynamics</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Ground-truth PAC labels used as TCN input to isolate forecaster’s contribution from EEGNet error</a:t>
            </a:r>
            <a:endParaRPr lang="en-US" sz="1300" dirty="0"/>
          </a:p>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Metrics:</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Alignment = mean of Low-PAC Stim Rate and High-PAC Rest Rate; PAC Targeting Gap</a:t>
            </a:r>
            <a:endParaRPr lang="en-US" sz="1300" dirty="0"/>
          </a:p>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Statistics:</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Wilcoxon signed-rank (paired, N = 35); Hedges’ g with 95% BCa bootstrap CIs (10,000 iterations)</a:t>
            </a:r>
            <a:endParaRPr lang="en-US" sz="1300" dirty="0"/>
          </a:p>
        </p:txBody>
      </p:sp>
      <p:pic>
        <p:nvPicPr>
          <p:cNvPr id="6" name="Image 0" descr="/Users/amaarchughtai/Developer/research/closedloop-40hz-entrainment/results/figures/ai_generated/system_architecture_v5.png">    </p:cNvPr>
          <p:cNvPicPr>
            <a:picLocks noChangeAspect="1"/>
          </p:cNvPicPr>
          <p:nvPr/>
        </p:nvPicPr>
        <p:blipFill>
          <a:blip r:embed="rId1"/>
          <a:stretch>
            <a:fillRect/>
          </a:stretch>
        </p:blipFill>
        <p:spPr>
          <a:xfrm>
            <a:off x="2235250" y="2971949"/>
            <a:ext cx="5587752" cy="2641402"/>
          </a:xfrm>
          <a:prstGeom prst="rect">
            <a:avLst/>
          </a:prstGeom>
        </p:spPr>
      </p:pic>
      <p:sp>
        <p:nvSpPr>
          <p:cNvPr id="7" name="Text 4"/>
          <p:cNvSpPr/>
          <p:nvPr/>
        </p:nvSpPr>
        <p:spPr>
          <a:xfrm>
            <a:off x="685800" y="5664101"/>
            <a:ext cx="8860536" cy="494705"/>
          </a:xfrm>
          <a:prstGeom prst="rect">
            <a:avLst/>
          </a:prstGeom>
          <a:noFill/>
          <a:ln/>
        </p:spPr>
        <p:txBody>
          <a:bodyPr wrap="square" lIns="0" tIns="0" rIns="0" bIns="0" rtlCol="0" anchor="t"/>
          <a:lstStyle/>
          <a:p>
            <a:pPr algn="l" indent="0" marL="0">
              <a:lnSpc>
                <a:spcPts val="1300"/>
              </a:lnSpc>
              <a:spcBef>
                <a:spcPts val="200"/>
              </a:spcBef>
              <a:spcAft>
                <a:spcPts val="200"/>
              </a:spcAft>
              <a:buNone/>
            </a:pPr>
            <a:r>
              <a:rPr lang="en-US" sz="1000" i="1" dirty="0">
                <a:solidFill>
                  <a:srgbClr val="646464"/>
                </a:solidFill>
                <a:latin typeface="Times New Roman" pitchFamily="34" charset="0"/>
                <a:ea typeface="Times New Roman" pitchFamily="34" charset="-122"/>
                <a:cs typeface="Times New Roman" pitchFamily="34" charset="-120"/>
              </a:rPr>
              <a:t>Figure 1. System architecture: Raw EEG from 7 frontal channels flows through signal processing, EEGNet PAC estimation, 12-feature PAC+Stim engineering, causal TCN forecasting (5 s horizon), and an adaptive controller driving personalized 40 Hz auditory stimulation. Dashed arrow indicates closed-loop feedback. (Diagram created by the author.)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algn="l" indent="0" marL="0">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Results</a:t>
            </a:r>
            <a:endParaRPr lang="en-US" sz="2200" dirty="0"/>
          </a:p>
        </p:txBody>
      </p:sp>
      <p:sp>
        <p:nvSpPr>
          <p:cNvPr id="3" name="Text 1"/>
          <p:cNvSpPr/>
          <p:nvPr/>
        </p:nvSpPr>
        <p:spPr>
          <a:xfrm>
            <a:off x="685800" y="1199852"/>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Architecture Search: The R² = 0.287 Static Ceiling</a:t>
            </a:r>
            <a:endParaRPr lang="en-US" sz="1700" dirty="0"/>
          </a:p>
        </p:txBody>
      </p:sp>
      <p:sp>
        <p:nvSpPr>
          <p:cNvPr id="4" name="Text 2"/>
          <p:cNvSpPr/>
          <p:nvPr/>
        </p:nvSpPr>
        <p:spPr>
          <a:xfrm>
            <a:off x="685800" y="1498253"/>
            <a:ext cx="8860536" cy="960239"/>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Eight neural network architectures (1,457 to 1.1 M parameters) were tested for static PAC prediction from 2-second EEG snapshots. All converged to R² ≈ 0.287 — a data-imposed ceiling showing that epoch-level PAC cannot be recovered from instantaneous windows. This finding redirected the project toward temporal forecasting. </a:t>
            </a:r>
            <a:pPr algn="l" indent="0" marL="0">
              <a:lnSpc>
                <a:spcPts val="1890"/>
              </a:lnSpc>
              <a:spcBef>
                <a:spcPts val="300"/>
              </a:spcBef>
              <a:spcAft>
                <a:spcPts val="600"/>
              </a:spcAft>
              <a:buNone/>
            </a:pPr>
            <a:r>
              <a:rPr lang="en-US" sz="1400" b="1" dirty="0">
                <a:solidFill>
                  <a:srgbClr val="000000"/>
                </a:solidFill>
                <a:latin typeface="Times New Roman" pitchFamily="34" charset="0"/>
                <a:ea typeface="Times New Roman" pitchFamily="34" charset="-122"/>
                <a:cs typeface="Times New Roman" pitchFamily="34" charset="-120"/>
              </a:rPr>
              <a:t>The bottleneck was in the features, not the architecture.</a:t>
            </a:r>
            <a:endParaRPr lang="en-US" sz="1400" dirty="0"/>
          </a:p>
        </p:txBody>
      </p:sp>
      <p:sp>
        <p:nvSpPr>
          <p:cNvPr id="5" name="Text 3"/>
          <p:cNvSpPr/>
          <p:nvPr/>
        </p:nvSpPr>
        <p:spPr>
          <a:xfrm>
            <a:off x="685800" y="2610892"/>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Horizon Sweep: PAC+Stim TCN vs. Baselines</a:t>
            </a:r>
            <a:endParaRPr lang="en-US" sz="1700" dirty="0"/>
          </a:p>
        </p:txBody>
      </p:sp>
      <p:sp>
        <p:nvSpPr>
          <p:cNvPr id="6" name="Text 4"/>
          <p:cNvSpPr/>
          <p:nvPr/>
        </p:nvSpPr>
        <p:spPr>
          <a:xfrm>
            <a:off x="685800" y="2909292"/>
            <a:ext cx="8860536" cy="480120"/>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TCN models trained on 12 PAC+Stim features at horizons 1–10 s (PAC+Stim features only). An inflection point emerges at ≈3 s where persistence collapses but the TCN maintains strong R²:</a:t>
            </a:r>
            <a:endParaRPr lang="en-US" sz="1400" dirty="0"/>
          </a:p>
        </p:txBody>
      </p:sp>
      <p:sp>
        <p:nvSpPr>
          <p:cNvPr id="7" name="Text 5"/>
          <p:cNvSpPr/>
          <p:nvPr/>
        </p:nvSpPr>
        <p:spPr>
          <a:xfrm>
            <a:off x="685800" y="5573762"/>
            <a:ext cx="8860536" cy="565696"/>
          </a:xfrm>
          <a:prstGeom prst="rect">
            <a:avLst/>
          </a:prstGeom>
          <a:noFill/>
          <a:ln/>
        </p:spPr>
        <p:txBody>
          <a:bodyPr wrap="square" lIns="0" tIns="0" rIns="0" bIns="0" rtlCol="0" anchor="t"/>
          <a:lstStyle/>
          <a:p>
            <a:pPr algn="l" indent="0" marL="0">
              <a:lnSpc>
                <a:spcPts val="1485"/>
              </a:lnSpc>
              <a:spcBef>
                <a:spcPts val="400"/>
              </a:spcBef>
              <a:spcAft>
                <a:spcPts val="400"/>
              </a:spcAft>
              <a:buNone/>
            </a:pPr>
            <a:r>
              <a:rPr lang="en-US" sz="1100" i="1" dirty="0">
                <a:solidFill>
                  <a:srgbClr val="646464"/>
                </a:solidFill>
                <a:latin typeface="Times New Roman" pitchFamily="34" charset="0"/>
                <a:ea typeface="Times New Roman" pitchFamily="34" charset="-122"/>
                <a:cs typeface="Times New Roman" pitchFamily="34" charset="-120"/>
              </a:rPr>
              <a:t>Table 1. PAC+Stim TCN horizon sweep (single seed). At 1 s, persistence is competitive. At 3–10 s, persistence collapses while the TCN (7ch) maintains R² = 0.37–0.67 — the operationally actionable regime for proactive neuromodulation. Multi-seed 5-seed mean at horizon 5: R² = 0.606 ± 0.032, range 0.558–0.647.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3465612"/>
          <a:ext cx="8686800" cy="914400"/>
        </p:xfrm>
        <a:graphic>
          <a:graphicData uri="http://schemas.openxmlformats.org/drawingml/2006/table">
            <a:tbl>
              <a:tblPr/>
              <a:tblGrid>
                <a:gridCol w="1120877"/>
                <a:gridCol w="1961535"/>
                <a:gridCol w="1961535"/>
                <a:gridCol w="1961535"/>
                <a:gridCol w="1681316"/>
              </a:tblGrid>
              <a:tr h="274320">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Horizon</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Persistence R²</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TCN R² (7ch)</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TCN R² (4ch)</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TCN Margin</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1 s</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0.726</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0.725</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0.642</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−0.001</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3 s</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0.178</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0.607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0.391</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+0.429</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5 s</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0.104</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0.577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0.398</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+0.473</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8 s</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−0.007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0.370</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0.419</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+0.377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10 s</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−0.081</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0.669</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0.387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+0.750</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7950"/>
            <a:ext cx="8860536" cy="219075"/>
          </a:xfrm>
          <a:prstGeom prst="rect">
            <a:avLst/>
          </a:prstGeom>
          <a:noFill/>
          <a:ln/>
        </p:spPr>
        <p:txBody>
          <a:bodyPr wrap="square" lIns="0" tIns="0" rIns="0" bIns="0" rtlCol="0" anchor="t"/>
          <a:lstStyle/>
          <a:p>
            <a:pPr algn="l" indent="0" marL="0">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Controller Comparison (N = 35 Subjects, Real EEG)</a:t>
            </a:r>
            <a:endParaRPr lang="en-US" sz="1500" dirty="0"/>
          </a:p>
        </p:txBody>
      </p:sp>
      <p:sp>
        <p:nvSpPr>
          <p:cNvPr id="3" name="Text 1"/>
          <p:cNvSpPr/>
          <p:nvPr/>
        </p:nvSpPr>
        <p:spPr>
          <a:xfrm>
            <a:off x="685800" y="2288977"/>
            <a:ext cx="8860536" cy="158651"/>
          </a:xfrm>
          <a:prstGeom prst="rect">
            <a:avLst/>
          </a:prstGeom>
          <a:noFill/>
          <a:ln/>
        </p:spPr>
        <p:txBody>
          <a:bodyPr wrap="square" lIns="0" tIns="0" rIns="0" bIns="0" rtlCol="0" anchor="t"/>
          <a:lstStyle/>
          <a:p>
            <a:pPr algn="l" indent="0" marL="0">
              <a:lnSpc>
                <a:spcPts val="1250"/>
              </a:lnSpc>
              <a:spcBef>
                <a:spcPts val="100"/>
              </a:spcBef>
              <a:spcAft>
                <a:spcPts val="100"/>
              </a:spcAft>
              <a:buNone/>
            </a:pPr>
            <a:r>
              <a:rPr lang="en-US" sz="1000" i="1" dirty="0">
                <a:solidFill>
                  <a:srgbClr val="646464"/>
                </a:solidFill>
                <a:latin typeface="Times New Roman" pitchFamily="34" charset="0"/>
                <a:ea typeface="Times New Roman" pitchFamily="34" charset="-122"/>
                <a:cs typeface="Times New Roman" pitchFamily="34" charset="-120"/>
              </a:rPr>
              <a:t>Table 2. Controller comparison on 35 subjects’ real EEG. PAC Gap in x10^-6 MI units. TCN Predictive reaches 91% of oracle.</a:t>
            </a:r>
            <a:endParaRPr lang="en-US" sz="1000" dirty="0"/>
          </a:p>
        </p:txBody>
      </p:sp>
      <p:sp>
        <p:nvSpPr>
          <p:cNvPr id="4" name="Text 2"/>
          <p:cNvSpPr/>
          <p:nvPr/>
        </p:nvSpPr>
        <p:spPr>
          <a:xfrm>
            <a:off x="685800" y="2523827"/>
            <a:ext cx="8860536" cy="219075"/>
          </a:xfrm>
          <a:prstGeom prst="rect">
            <a:avLst/>
          </a:prstGeom>
          <a:noFill/>
          <a:ln/>
        </p:spPr>
        <p:txBody>
          <a:bodyPr wrap="square" lIns="0" tIns="0" rIns="0" bIns="0" rtlCol="0" anchor="t"/>
          <a:lstStyle/>
          <a:p>
            <a:pPr algn="l" indent="0" marL="0">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Multi-Seed Robustness (7ch, horizon = 5 s)</a:t>
            </a:r>
            <a:endParaRPr lang="en-US" sz="1500" dirty="0"/>
          </a:p>
        </p:txBody>
      </p:sp>
      <p:sp>
        <p:nvSpPr>
          <p:cNvPr id="5" name="Text 3"/>
          <p:cNvSpPr/>
          <p:nvPr/>
        </p:nvSpPr>
        <p:spPr>
          <a:xfrm>
            <a:off x="685800" y="2768203"/>
            <a:ext cx="8860536" cy="190500"/>
          </a:xfrm>
          <a:prstGeom prst="rect">
            <a:avLst/>
          </a:prstGeom>
          <a:noFill/>
          <a:ln/>
        </p:spPr>
        <p:txBody>
          <a:bodyPr wrap="square" lIns="0" tIns="0" rIns="0" bIns="0" rtlCol="0" anchor="t"/>
          <a:lstStyle/>
          <a:p>
            <a:pPr algn="l" indent="0" marL="0">
              <a:lnSpc>
                <a:spcPts val="1500"/>
              </a:lnSpc>
              <a:spcBef>
                <a:spcPts val="100"/>
              </a:spcBef>
              <a:spcAft>
                <a:spcPts val="300"/>
              </a:spcAft>
              <a:buNone/>
            </a:pPr>
            <a:r>
              <a:rPr lang="en-US" sz="1200" dirty="0">
                <a:solidFill>
                  <a:srgbClr val="000000"/>
                </a:solidFill>
                <a:latin typeface="Times New Roman" pitchFamily="34" charset="0"/>
                <a:ea typeface="Times New Roman" pitchFamily="34" charset="-122"/>
                <a:cs typeface="Times New Roman" pitchFamily="34" charset="-120"/>
              </a:rPr>
              <a:t>Validated across 5 random seeds (h = 64 TCN, PAC+Stim features):</a:t>
            </a:r>
            <a:endParaRPr lang="en-US" sz="1200" dirty="0"/>
          </a:p>
        </p:txBody>
      </p:sp>
      <p:sp>
        <p:nvSpPr>
          <p:cNvPr id="6" name="Text 4"/>
          <p:cNvSpPr/>
          <p:nvPr/>
        </p:nvSpPr>
        <p:spPr>
          <a:xfrm>
            <a:off x="685800" y="5104954"/>
            <a:ext cx="8860536" cy="219075"/>
          </a:xfrm>
          <a:prstGeom prst="rect">
            <a:avLst/>
          </a:prstGeom>
          <a:noFill/>
          <a:ln/>
        </p:spPr>
        <p:txBody>
          <a:bodyPr wrap="square" lIns="0" tIns="0" rIns="0" bIns="0" rtlCol="0" anchor="t"/>
          <a:lstStyle/>
          <a:p>
            <a:pPr algn="l" indent="0" marL="0">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Statistical Significance (TCN vs. Reactive Threshold)</a:t>
            </a:r>
            <a:endParaRPr lang="en-US" sz="1500" dirty="0"/>
          </a:p>
        </p:txBody>
      </p:sp>
      <p:sp>
        <p:nvSpPr>
          <p:cNvPr id="7" name="Text 5"/>
          <p:cNvSpPr/>
          <p:nvPr/>
        </p:nvSpPr>
        <p:spPr>
          <a:xfrm>
            <a:off x="685800" y="5349329"/>
            <a:ext cx="8686800" cy="1003102"/>
          </a:xfrm>
          <a:prstGeom prst="rect">
            <a:avLst/>
          </a:prstGeom>
          <a:noFill/>
          <a:ln/>
        </p:spPr>
        <p:txBody>
          <a:bodyPr wrap="square" lIns="101600" tIns="0" rIns="0" bIns="0" rtlCol="0" anchor="t"/>
          <a:lstStyle/>
          <a:p>
            <a:pPr algn="l" marL="101600" indent="-101600">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Alignment:</a:t>
            </a:r>
            <a:pPr algn="l" indent="0" marL="0">
              <a:lnSpc>
                <a:spcPts val="1500"/>
              </a:lnSpc>
              <a:spcAft>
                <a:spcPts val="100"/>
              </a:spcAft>
              <a:buNone/>
            </a:pPr>
            <a:r>
              <a:rPr lang="en-US" sz="1200" dirty="0">
                <a:solidFill>
                  <a:srgbClr val="000000"/>
                </a:solidFill>
                <a:latin typeface="Times New Roman" pitchFamily="34" charset="0"/>
                <a:ea typeface="Times New Roman" pitchFamily="34" charset="-122"/>
                <a:cs typeface="Times New Roman" pitchFamily="34" charset="-120"/>
              </a:rPr>
              <a:t> 72.1% vs. 64.5% — g = +1.31 [0.75, 1.87], p &lt; 0.001 (large effect)</a:t>
            </a:r>
            <a:endParaRPr lang="en-US" sz="1200" dirty="0"/>
          </a:p>
          <a:p>
            <a:pPr algn="l" marL="101600" indent="-101600">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Low-PAC Stim Rate:</a:t>
            </a:r>
            <a:pPr algn="l" indent="0" marL="0">
              <a:lnSpc>
                <a:spcPts val="1500"/>
              </a:lnSpc>
              <a:spcAft>
                <a:spcPts val="100"/>
              </a:spcAft>
              <a:buNone/>
            </a:pPr>
            <a:r>
              <a:rPr lang="en-US" sz="1200" dirty="0">
                <a:solidFill>
                  <a:srgbClr val="000000"/>
                </a:solidFill>
                <a:latin typeface="Times New Roman" pitchFamily="34" charset="0"/>
                <a:ea typeface="Times New Roman" pitchFamily="34" charset="-122"/>
                <a:cs typeface="Times New Roman" pitchFamily="34" charset="-120"/>
              </a:rPr>
              <a:t> 82.6% vs. 51.7% — g = +4.47 [3.33, 5.62], p &lt; 0.001 (very large)</a:t>
            </a:r>
            <a:endParaRPr lang="en-US" sz="1200" dirty="0"/>
          </a:p>
          <a:p>
            <a:pPr algn="l" marL="101600" indent="-101600">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PAC Targeting Gap:</a:t>
            </a:r>
            <a:pPr algn="l" indent="0" marL="0">
              <a:lnSpc>
                <a:spcPts val="1500"/>
              </a:lnSpc>
              <a:spcAft>
                <a:spcPts val="100"/>
              </a:spcAft>
              <a:buNone/>
            </a:pPr>
            <a:r>
              <a:rPr lang="en-US" sz="1200" dirty="0">
                <a:solidFill>
                  <a:srgbClr val="000000"/>
                </a:solidFill>
                <a:latin typeface="Times New Roman" pitchFamily="34" charset="0"/>
                <a:ea typeface="Times New Roman" pitchFamily="34" charset="-122"/>
                <a:cs typeface="Times New Roman" pitchFamily="34" charset="-120"/>
              </a:rPr>
              <a:t> 30.5 vs. 21.1 — g = +1.57 [0.98, 2.17], p &lt; 0.001 (large effect)</a:t>
            </a:r>
            <a:endParaRPr lang="en-US" sz="1200" dirty="0"/>
          </a:p>
          <a:p>
            <a:pPr algn="l" marL="101600" indent="-101600">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Universal benefit:</a:t>
            </a:r>
            <a:pPr algn="l" indent="0" marL="0">
              <a:lnSpc>
                <a:spcPts val="1500"/>
              </a:lnSpc>
              <a:spcAft>
                <a:spcPts val="100"/>
              </a:spcAft>
              <a:buNone/>
            </a:pPr>
            <a:r>
              <a:rPr lang="en-US" sz="1200" dirty="0">
                <a:solidFill>
                  <a:srgbClr val="000000"/>
                </a:solidFill>
                <a:latin typeface="Times New Roman" pitchFamily="34" charset="0"/>
                <a:ea typeface="Times New Roman" pitchFamily="34" charset="-122"/>
                <a:cs typeface="Times New Roman" pitchFamily="34" charset="-120"/>
              </a:rPr>
              <a:t> 35/35 subjects showed higher alignment with TCN (binomial p &lt; 0.001)</a:t>
            </a:r>
            <a:endParaRPr lang="en-US" sz="1200" dirty="0"/>
          </a:p>
          <a:p>
            <a:pPr algn="l" marL="101600" indent="-101600">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Threshold robustness:</a:t>
            </a:r>
            <a:pPr algn="l" indent="0" marL="0">
              <a:lnSpc>
                <a:spcPts val="1500"/>
              </a:lnSpc>
              <a:spcAft>
                <a:spcPts val="100"/>
              </a:spcAft>
              <a:buNone/>
            </a:pPr>
            <a:r>
              <a:rPr lang="en-US" sz="1200" dirty="0">
                <a:solidFill>
                  <a:srgbClr val="000000"/>
                </a:solidFill>
                <a:latin typeface="Times New Roman" pitchFamily="34" charset="0"/>
                <a:ea typeface="Times New Roman" pitchFamily="34" charset="-122"/>
                <a:cs typeface="Times New Roman" pitchFamily="34" charset="-120"/>
              </a:rPr>
              <a:t> TCN outperforms reactive at all z-score thresholds 0.2–1.0</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752326"/>
          <a:ext cx="8686800" cy="914400"/>
        </p:xfrm>
        <a:graphic>
          <a:graphicData uri="http://schemas.openxmlformats.org/drawingml/2006/table">
            <a:tbl>
              <a:tblPr/>
              <a:tblGrid>
                <a:gridCol w="2481943"/>
                <a:gridCol w="1654629"/>
                <a:gridCol w="1758043"/>
                <a:gridCol w="1344386"/>
                <a:gridCol w="1447800"/>
              </a:tblGrid>
              <a:tr h="274320">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Controller</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Alignment</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Low-PAC Stim</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Stim %</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PAC Gap</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Fixed Schedule</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45.0%</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61.4%</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66.6%</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−6.6</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Reactive Threshold</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64.5%</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51.7%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36.7%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+21.1</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r>
              <a:tr h="274320">
                <a:tc>
                  <a:txBody>
                    <a:bodyPr/>
                    <a:lstStyle/>
                    <a:p>
                      <a:pPr algn="l" indent="0" marL="0">
                        <a:buNone/>
                      </a:pPr>
                      <a:r>
                        <a:rPr lang="en-US" sz="1400" b="1" dirty="0">
                          <a:solidFill>
                            <a:srgbClr val="000000"/>
                          </a:solidFill>
                          <a:latin typeface="Times New Roman" pitchFamily="34" charset="0"/>
                          <a:ea typeface="Times New Roman" pitchFamily="34" charset="-122"/>
                          <a:cs typeface="Times New Roman" pitchFamily="34" charset="-120"/>
                        </a:rPr>
                        <a:t>TCN Predictive</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72.1%</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82.6%</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59.7%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+30.5</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Alignment Oracle</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100%</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100%</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48.3%</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+33.3</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85800" y="2996803"/>
          <a:ext cx="6400800" cy="914400"/>
        </p:xfrm>
        <a:graphic>
          <a:graphicData uri="http://schemas.openxmlformats.org/drawingml/2006/table">
            <a:tbl>
              <a:tblPr/>
              <a:tblGrid>
                <a:gridCol w="2011680"/>
                <a:gridCol w="2194560"/>
                <a:gridCol w="2194560"/>
              </a:tblGrid>
              <a:tr h="274320">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Seed</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Val R²</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Test R²</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42</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0.804</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0.558</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123</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0.822</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0.620</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456</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0.799</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0.597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789</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0.831</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0.608</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r>
              <a:tr h="274320">
                <a:tc>
                  <a:txBody>
                    <a:bodyPr/>
                    <a:lstStyle/>
                    <a:p>
                      <a:pPr algn="l" indent="0" marL="0">
                        <a:buNone/>
                      </a:pPr>
                      <a:r>
                        <a:rPr lang="en-US" sz="1400" dirty="0">
                          <a:solidFill>
                            <a:srgbClr val="000000"/>
                          </a:solidFill>
                          <a:latin typeface="Times New Roman" pitchFamily="34" charset="0"/>
                          <a:ea typeface="Times New Roman" pitchFamily="34" charset="-122"/>
                          <a:cs typeface="Times New Roman" pitchFamily="34" charset="-120"/>
                        </a:rPr>
                        <a:t>2024</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0.846</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00000"/>
                          </a:solidFill>
                          <a:latin typeface="Times New Roman" pitchFamily="34" charset="0"/>
                          <a:ea typeface="Times New Roman" pitchFamily="34" charset="-122"/>
                          <a:cs typeface="Times New Roman" pitchFamily="34" charset="-120"/>
                        </a:rPr>
                        <a:t>0.647</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r>
              <a:tr h="274320">
                <a:tc>
                  <a:txBody>
                    <a:bodyPr/>
                    <a:lstStyle/>
                    <a:p>
                      <a:pPr algn="l" indent="0" marL="0">
                        <a:buNone/>
                      </a:pPr>
                      <a:r>
                        <a:rPr lang="en-US" sz="1400" b="1" dirty="0">
                          <a:solidFill>
                            <a:srgbClr val="000000"/>
                          </a:solidFill>
                          <a:latin typeface="Times New Roman" pitchFamily="34" charset="0"/>
                          <a:ea typeface="Times New Roman" pitchFamily="34" charset="-122"/>
                          <a:cs typeface="Times New Roman" pitchFamily="34" charset="-120"/>
                        </a:rPr>
                        <a:t>Mean ± Std</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0.820 ± 0.019</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algn="ctr" indent="0" marL="0">
                        <a:buNone/>
                      </a:pPr>
                      <a:r>
                        <a:rPr lang="en-US" sz="1400" b="1" dirty="0">
                          <a:solidFill>
                            <a:srgbClr val="000000"/>
                          </a:solidFill>
                          <a:latin typeface="Times New Roman" pitchFamily="34" charset="0"/>
                          <a:ea typeface="Times New Roman" pitchFamily="34" charset="-122"/>
                          <a:cs typeface="Times New Roman" pitchFamily="34" charset="-120"/>
                        </a:rPr>
                        <a:t>0.606 ± 0.032</a:t>
                      </a:r>
                      <a:endParaRPr lang="en-US" sz="1400" dirty="0">
                        <a:latin typeface="Times New Roman" charset="0"/>
                        <a:ea typeface="Times New Roman" charset="0"/>
                        <a:cs typeface="Times New Roman" charset="0"/>
                      </a:endParaRPr>
                    </a:p>
                  </a:txBody>
                  <a:tcPr marL="91440" marR="91440" marT="45720" marB="45720">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44277"/>
            <a:ext cx="8860536" cy="314325"/>
          </a:xfrm>
          <a:prstGeom prst="rect">
            <a:avLst/>
          </a:prstGeom>
          <a:noFill/>
          <a:ln/>
        </p:spPr>
        <p:txBody>
          <a:bodyPr wrap="square" lIns="0" tIns="0" rIns="0" bIns="0" rtlCol="0" anchor="t"/>
          <a:lstStyle/>
          <a:p>
            <a:pPr algn="l" indent="0" marL="0">
              <a:spcBef>
                <a:spcPts val="1474"/>
              </a:spcBef>
              <a:spcAft>
                <a:spcPts val="800"/>
              </a:spcAft>
              <a:buNone/>
            </a:pPr>
            <a:r>
              <a:rPr lang="en-US" sz="2200" b="1" dirty="0">
                <a:solidFill>
                  <a:srgbClr val="000000"/>
                </a:solidFill>
                <a:latin typeface="Times New Roman" pitchFamily="34" charset="0"/>
                <a:ea typeface="Times New Roman" pitchFamily="34" charset="-122"/>
                <a:cs typeface="Times New Roman" pitchFamily="34" charset="-120"/>
              </a:rPr>
              <a:t>Discussion</a:t>
            </a:r>
            <a:endParaRPr lang="en-US" sz="2200" dirty="0"/>
          </a:p>
        </p:txBody>
      </p:sp>
      <p:sp>
        <p:nvSpPr>
          <p:cNvPr id="3" name="Text 1"/>
          <p:cNvSpPr/>
          <p:nvPr/>
        </p:nvSpPr>
        <p:spPr>
          <a:xfrm>
            <a:off x="685800" y="1060103"/>
            <a:ext cx="8860536" cy="238125"/>
          </a:xfrm>
          <a:prstGeom prst="rect">
            <a:avLst/>
          </a:prstGeom>
          <a:noFill/>
          <a:ln/>
        </p:spPr>
        <p:txBody>
          <a:bodyPr wrap="square" lIns="0" tIns="0" rIns="0" bIns="0" rtlCol="0" anchor="t"/>
          <a:lstStyle/>
          <a:p>
            <a:pPr algn="l" indent="0" marL="0">
              <a:spcBef>
                <a:spcPts val="800"/>
              </a:spcBef>
              <a:spcAft>
                <a:spcPts val="300"/>
              </a:spcAft>
              <a:buNone/>
            </a:pPr>
            <a:r>
              <a:rPr lang="en-US" sz="1600" b="1" dirty="0">
                <a:solidFill>
                  <a:srgbClr val="000000"/>
                </a:solidFill>
                <a:latin typeface="Times New Roman" pitchFamily="34" charset="0"/>
                <a:ea typeface="Times New Roman" pitchFamily="34" charset="-122"/>
                <a:cs typeface="Times New Roman" pitchFamily="34" charset="-120"/>
              </a:rPr>
              <a:t>Interpretation of Results</a:t>
            </a:r>
            <a:endParaRPr lang="en-US" sz="1600" dirty="0"/>
          </a:p>
        </p:txBody>
      </p:sp>
      <p:sp>
        <p:nvSpPr>
          <p:cNvPr id="4" name="Text 2"/>
          <p:cNvSpPr/>
          <p:nvPr/>
        </p:nvSpPr>
        <p:spPr>
          <a:xfrm>
            <a:off x="685800" y="1336328"/>
            <a:ext cx="8686800" cy="2006054"/>
          </a:xfrm>
          <a:prstGeom prst="rect">
            <a:avLst/>
          </a:prstGeom>
          <a:noFill/>
          <a:ln/>
        </p:spPr>
        <p:txBody>
          <a:bodyPr wrap="square" lIns="114300" tIns="0" rIns="0" bIns="0" rtlCol="0" anchor="t"/>
          <a:lstStyle/>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Feature selection matters more than architecture:</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8 model families all converged to R² ≈ 0.287 on 73 features; switching to 12 PAC+Stim features raised test R² to 0.606 with the same TCN. The bottleneck was always in the input representation, not the model.</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The ≈3-second inflection point reflects PAC autocorrelation timescale: below 3 s, persistence suffices; above 3 s, state transitions require temporal context that only the TCN captures from the 20-step PAC trajectory.</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Spectral features encode subject-specific EEG anatomy (skull thickness, electrode impedance) that doesn’t generalize: val-test R² gap shrinks from 0.358 (73 feat) to 0.246 (12 feat) when spectral features are removed.</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The 60% improvement in low-PAC targeting (82.6% vs. 51.7%) matters most clinically: the controller concentrates therapy where neural coupling is weakest.</a:t>
            </a:r>
            <a:endParaRPr lang="en-US" sz="1300" dirty="0"/>
          </a:p>
        </p:txBody>
      </p:sp>
      <p:sp>
        <p:nvSpPr>
          <p:cNvPr id="5" name="Text 3"/>
          <p:cNvSpPr/>
          <p:nvPr/>
        </p:nvSpPr>
        <p:spPr>
          <a:xfrm>
            <a:off x="685800" y="3443883"/>
            <a:ext cx="8860536" cy="238125"/>
          </a:xfrm>
          <a:prstGeom prst="rect">
            <a:avLst/>
          </a:prstGeom>
          <a:noFill/>
          <a:ln/>
        </p:spPr>
        <p:txBody>
          <a:bodyPr wrap="square" lIns="0" tIns="0" rIns="0" bIns="0" rtlCol="0" anchor="t"/>
          <a:lstStyle/>
          <a:p>
            <a:pPr algn="l" indent="0" marL="0">
              <a:spcBef>
                <a:spcPts val="800"/>
              </a:spcBef>
              <a:spcAft>
                <a:spcPts val="300"/>
              </a:spcAft>
              <a:buNone/>
            </a:pPr>
            <a:r>
              <a:rPr lang="en-US" sz="1600" b="1" dirty="0">
                <a:solidFill>
                  <a:srgbClr val="000000"/>
                </a:solidFill>
                <a:latin typeface="Times New Roman" pitchFamily="34" charset="0"/>
                <a:ea typeface="Times New Roman" pitchFamily="34" charset="-122"/>
                <a:cs typeface="Times New Roman" pitchFamily="34" charset="-120"/>
              </a:rPr>
              <a:t>Comparison to Prior Work</a:t>
            </a:r>
            <a:endParaRPr lang="en-US" sz="1600" dirty="0"/>
          </a:p>
        </p:txBody>
      </p:sp>
      <p:sp>
        <p:nvSpPr>
          <p:cNvPr id="6" name="Text 4"/>
          <p:cNvSpPr/>
          <p:nvPr/>
        </p:nvSpPr>
        <p:spPr>
          <a:xfrm>
            <a:off x="685800" y="3720108"/>
            <a:ext cx="8686800" cy="1122908"/>
          </a:xfrm>
          <a:prstGeom prst="rect">
            <a:avLst/>
          </a:prstGeom>
          <a:noFill/>
          <a:ln/>
        </p:spPr>
        <p:txBody>
          <a:bodyPr wrap="square" lIns="114300" tIns="0" rIns="0" bIns="0" rtlCol="0" anchor="t"/>
          <a:lstStyle/>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Analogous to closed-loop DBS for Parkinson’s disease (Rosin et al., 2011): adaptive stimulation concentrates therapy on periods of genuine need.</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Extends beyond spindle detection (Portiloop, Lacroix et al., 2022) to multi-step forecasting — necessary when proactive intervention requires advance lead time.</a:t>
            </a:r>
            <a:endParaRPr lang="en-US" sz="1300" dirty="0"/>
          </a:p>
          <a:p>
            <a:pPr algn="l" marL="114300" indent="-114300">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First system targeting PAC dynamics specifically for 40 Hz gamma entrainment optimization at 5–10 s horizons.</a:t>
            </a:r>
            <a:endParaRPr lang="en-US" sz="1300" dirty="0"/>
          </a:p>
        </p:txBody>
      </p:sp>
      <p:sp>
        <p:nvSpPr>
          <p:cNvPr id="7" name="Text 5"/>
          <p:cNvSpPr/>
          <p:nvPr/>
        </p:nvSpPr>
        <p:spPr>
          <a:xfrm>
            <a:off x="685800" y="4944517"/>
            <a:ext cx="8860536" cy="238125"/>
          </a:xfrm>
          <a:prstGeom prst="rect">
            <a:avLst/>
          </a:prstGeom>
          <a:noFill/>
          <a:ln/>
        </p:spPr>
        <p:txBody>
          <a:bodyPr wrap="square" lIns="0" tIns="0" rIns="0" bIns="0" rtlCol="0" anchor="t"/>
          <a:lstStyle/>
          <a:p>
            <a:pPr algn="l" indent="0" marL="0">
              <a:spcBef>
                <a:spcPts val="800"/>
              </a:spcBef>
              <a:spcAft>
                <a:spcPts val="300"/>
              </a:spcAft>
              <a:buNone/>
            </a:pPr>
            <a:r>
              <a:rPr lang="en-US" sz="1600" b="1" dirty="0">
                <a:solidFill>
                  <a:srgbClr val="000000"/>
                </a:solidFill>
                <a:latin typeface="Times New Roman" pitchFamily="34" charset="0"/>
                <a:ea typeface="Times New Roman" pitchFamily="34" charset="-122"/>
                <a:cs typeface="Times New Roman" pitchFamily="34" charset="-120"/>
              </a:rPr>
              <a:t>Limitations and Possible Errors</a:t>
            </a:r>
            <a:endParaRPr lang="en-US" sz="1600" dirty="0"/>
          </a:p>
        </p:txBody>
      </p:sp>
      <p:sp>
        <p:nvSpPr>
          <p:cNvPr id="8" name="Text 6"/>
          <p:cNvSpPr/>
          <p:nvPr/>
        </p:nvSpPr>
        <p:spPr>
          <a:xfrm>
            <a:off x="685800" y="5220742"/>
            <a:ext cx="8686800" cy="1577132"/>
          </a:xfrm>
          <a:prstGeom prst="rect">
            <a:avLst/>
          </a:prstGeom>
          <a:noFill/>
          <a:ln/>
        </p:spPr>
        <p:txBody>
          <a:bodyPr wrap="square" lIns="114300" tIns="0" rIns="0" bIns="0" rtlCol="0" anchor="t"/>
          <a:lstStyle/>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Offline counterfactual replay</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not live closed-loop: measures decision quality, not realized therapeutic benefit. Live validation with real-time EEG streaming is required.</a:t>
            </a:r>
            <a:endParaRPr lang="en-US" sz="1300" dirty="0"/>
          </a:p>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EEGNet not in the validation loop:</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ground-truth PAC was used as TCN input; a deployed system would propagate EEGNet estimation error (R² = 0.287) into forecasts.</a:t>
            </a:r>
            <a:endParaRPr lang="en-US" sz="1300" dirty="0"/>
          </a:p>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Single-site dataset</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(Tehran memory clinic): generalizability to other populations, stimulation modalities, and EEG equipment is unknown.</a:t>
            </a:r>
            <a:endParaRPr lang="en-US" sz="1300" dirty="0"/>
          </a:p>
          <a:p>
            <a:pPr algn="l" marL="114300" indent="-114300">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7 frontal channels only:</a:t>
            </a:r>
            <a:pPr algn="l" indent="0" marL="0">
              <a:lnSpc>
                <a:spcPts val="169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 relevant theta–gamma coupling in parietal and temporal regions is not captured by this montage.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44277"/>
            <a:ext cx="8860536" cy="314325"/>
          </a:xfrm>
          <a:prstGeom prst="rect">
            <a:avLst/>
          </a:prstGeom>
          <a:noFill/>
          <a:ln/>
        </p:spPr>
        <p:txBody>
          <a:bodyPr wrap="square" lIns="0" tIns="0" rIns="0" bIns="0" rtlCol="0" anchor="t"/>
          <a:lstStyle/>
          <a:p>
            <a:pPr algn="l" indent="0" marL="0">
              <a:spcBef>
                <a:spcPts val="1474"/>
              </a:spcBef>
              <a:spcAft>
                <a:spcPts val="600"/>
              </a:spcAft>
              <a:buNone/>
            </a:pPr>
            <a:r>
              <a:rPr lang="en-US" sz="2200" b="1" dirty="0">
                <a:solidFill>
                  <a:srgbClr val="000000"/>
                </a:solidFill>
                <a:latin typeface="Times New Roman" pitchFamily="34" charset="0"/>
                <a:ea typeface="Times New Roman" pitchFamily="34" charset="-122"/>
                <a:cs typeface="Times New Roman" pitchFamily="34" charset="-120"/>
              </a:rPr>
              <a:t>Conclusions</a:t>
            </a:r>
            <a:endParaRPr lang="en-US" sz="2200" dirty="0"/>
          </a:p>
        </p:txBody>
      </p:sp>
      <p:sp>
        <p:nvSpPr>
          <p:cNvPr id="3" name="Text 1"/>
          <p:cNvSpPr/>
          <p:nvPr/>
        </p:nvSpPr>
        <p:spPr>
          <a:xfrm>
            <a:off x="685800" y="1034802"/>
            <a:ext cx="8860536" cy="219075"/>
          </a:xfrm>
          <a:prstGeom prst="rect">
            <a:avLst/>
          </a:prstGeom>
          <a:noFill/>
          <a:ln/>
        </p:spPr>
        <p:txBody>
          <a:bodyPr wrap="square" lIns="0" tIns="0" rIns="0" bIns="0" rtlCol="0" anchor="t"/>
          <a:lstStyle/>
          <a:p>
            <a:pPr algn="l" indent="0" marL="0">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Key Findings</a:t>
            </a:r>
            <a:endParaRPr lang="en-US" sz="1500" dirty="0"/>
          </a:p>
        </p:txBody>
      </p:sp>
      <p:sp>
        <p:nvSpPr>
          <p:cNvPr id="4" name="Text 2"/>
          <p:cNvSpPr/>
          <p:nvPr/>
        </p:nvSpPr>
        <p:spPr>
          <a:xfrm>
            <a:off x="685800" y="1279178"/>
            <a:ext cx="8686800" cy="1836093"/>
          </a:xfrm>
          <a:prstGeom prst="rect">
            <a:avLst/>
          </a:prstGeom>
          <a:noFill/>
          <a:ln/>
        </p:spPr>
        <p:txBody>
          <a:bodyPr wrap="square" lIns="101600" tIns="0" rIns="0" bIns="0" rtlCol="0" anchor="t"/>
          <a:lstStyle/>
          <a:p>
            <a:pPr algn="l" marL="101600" indent="-101600">
              <a:lnSpc>
                <a:spcPts val="1562"/>
              </a:lnSpc>
              <a:spcAft>
                <a:spcPts val="1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Eight architectures (1,457 to 1.1 M parameters) all converge to R² = 0.287 for static PAC prediction — a data-imposed ceiling proving the bottleneck is the feature representation, not the model.</a:t>
            </a:r>
            <a:endParaRPr lang="en-US" sz="1250" dirty="0"/>
          </a:p>
          <a:p>
            <a:pPr algn="l" marL="101600" indent="-101600">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Feature discovery:</a:t>
            </a:r>
            <a:pPr algn="l" indent="0" marL="0">
              <a:lnSpc>
                <a:spcPts val="1562"/>
              </a:lnSpc>
              <a:spcAft>
                <a:spcPts val="100"/>
              </a:spcAft>
              <a:buNone/>
            </a:pPr>
            <a:r>
              <a:rPr lang="en-US" sz="1250" dirty="0">
                <a:solidFill>
                  <a:srgbClr val="000000"/>
                </a:solidFill>
                <a:latin typeface="Times New Roman" pitchFamily="34" charset="0"/>
                <a:ea typeface="Times New Roman" pitchFamily="34" charset="-122"/>
                <a:cs typeface="Times New Roman" pitchFamily="34" charset="-120"/>
              </a:rPr>
              <a:t> replacing 73 spectral features with 12 PAC+Stim features raised temporal test R² from −0.025 to 0.606 (5-seed mean; 4ch: 0.430). Feature selection mattered more than any architectural change.</a:t>
            </a:r>
            <a:endParaRPr lang="en-US" sz="1250" dirty="0"/>
          </a:p>
          <a:p>
            <a:pPr algn="l" marL="101600" indent="-101600">
              <a:lnSpc>
                <a:spcPts val="1562"/>
              </a:lnSpc>
              <a:spcAft>
                <a:spcPts val="1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The TCN maintains R² = 0.37–0.67 at 3–10 s horizons where persistence collapses to negative R², defining the operationally actionable regime for proactive neuromodulation.</a:t>
            </a:r>
            <a:endParaRPr lang="en-US" sz="1250" dirty="0"/>
          </a:p>
          <a:p>
            <a:pPr algn="l" marL="101600" indent="-101600">
              <a:lnSpc>
                <a:spcPts val="1562"/>
              </a:lnSpc>
              <a:spcAft>
                <a:spcPts val="1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The predictive controller achieves 72.1% alignment, 82.6% low-PAC targeting, and 91% of the theoretical oracle bound (all p &lt; 0.001 vs. reactive; Hedges’ g = 1.31–4.47).</a:t>
            </a:r>
            <a:endParaRPr lang="en-US" sz="1250" dirty="0"/>
          </a:p>
          <a:p>
            <a:pPr algn="l" marL="101600" indent="-101600">
              <a:lnSpc>
                <a:spcPts val="1562"/>
              </a:lnSpc>
              <a:spcAft>
                <a:spcPts val="1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Universal benefit across all 35 subjects, including 6 held-out test subjects never seen during training.</a:t>
            </a:r>
            <a:endParaRPr lang="en-US" sz="1250" dirty="0"/>
          </a:p>
        </p:txBody>
      </p:sp>
      <p:sp>
        <p:nvSpPr>
          <p:cNvPr id="5" name="Text 3"/>
          <p:cNvSpPr/>
          <p:nvPr/>
        </p:nvSpPr>
        <p:spPr>
          <a:xfrm>
            <a:off x="685800" y="3191470"/>
            <a:ext cx="8860536" cy="219075"/>
          </a:xfrm>
          <a:prstGeom prst="rect">
            <a:avLst/>
          </a:prstGeom>
          <a:noFill/>
          <a:ln/>
        </p:spPr>
        <p:txBody>
          <a:bodyPr wrap="square" lIns="0" tIns="0" rIns="0" bIns="0" rtlCol="0" anchor="t"/>
          <a:lstStyle/>
          <a:p>
            <a:pPr algn="l" indent="0" marL="0">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Context</a:t>
            </a:r>
            <a:endParaRPr lang="en-US" sz="1500" dirty="0"/>
          </a:p>
        </p:txBody>
      </p:sp>
      <p:sp>
        <p:nvSpPr>
          <p:cNvPr id="6" name="Text 4"/>
          <p:cNvSpPr/>
          <p:nvPr/>
        </p:nvSpPr>
        <p:spPr>
          <a:xfrm>
            <a:off x="685800" y="3435846"/>
            <a:ext cx="8860536" cy="595164"/>
          </a:xfrm>
          <a:prstGeom prst="rect">
            <a:avLst/>
          </a:prstGeom>
          <a:noFill/>
          <a:ln/>
        </p:spPr>
        <p:txBody>
          <a:bodyPr wrap="square" lIns="0" tIns="0" rIns="0" bIns="0" rtlCol="0" anchor="t"/>
          <a:lstStyle/>
          <a:p>
            <a:pPr algn="l" indent="0" marL="0">
              <a:lnSpc>
                <a:spcPts val="1562"/>
              </a:lnSpc>
              <a:spcBef>
                <a:spcPts val="100"/>
              </a:spcBef>
              <a:spcAft>
                <a:spcPts val="300"/>
              </a:spcAft>
              <a:buNone/>
            </a:pPr>
            <a:r>
              <a:rPr lang="en-US" sz="1250" dirty="0">
                <a:solidFill>
                  <a:srgbClr val="000000"/>
                </a:solidFill>
                <a:latin typeface="Times New Roman" pitchFamily="34" charset="0"/>
                <a:ea typeface="Times New Roman" pitchFamily="34" charset="-122"/>
                <a:cs typeface="Times New Roman" pitchFamily="34" charset="-120"/>
              </a:rPr>
              <a:t>These results show that temporal PAC forecasting can drive proactive closed-loop control that outperforms both fixed-schedule and reactive protocols. No prior system has attempted PAC-specific temporal prediction for personalized gamma entrainment control. This work is a computational validation; live closed-loop trials are needed to confirm clinical translation.</a:t>
            </a:r>
            <a:endParaRPr lang="en-US" sz="1250" dirty="0"/>
          </a:p>
        </p:txBody>
      </p:sp>
      <p:sp>
        <p:nvSpPr>
          <p:cNvPr id="7" name="Text 5"/>
          <p:cNvSpPr/>
          <p:nvPr/>
        </p:nvSpPr>
        <p:spPr>
          <a:xfrm>
            <a:off x="685800" y="4107210"/>
            <a:ext cx="8860536" cy="219075"/>
          </a:xfrm>
          <a:prstGeom prst="rect">
            <a:avLst/>
          </a:prstGeom>
          <a:noFill/>
          <a:ln/>
        </p:spPr>
        <p:txBody>
          <a:bodyPr wrap="square" lIns="0" tIns="0" rIns="0" bIns="0" rtlCol="0" anchor="t"/>
          <a:lstStyle/>
          <a:p>
            <a:pPr algn="l" indent="0" marL="0">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Productization and Clinical Roadmap</a:t>
            </a:r>
            <a:endParaRPr lang="en-US" sz="1500" dirty="0"/>
          </a:p>
        </p:txBody>
      </p:sp>
      <p:sp>
        <p:nvSpPr>
          <p:cNvPr id="8" name="Text 6"/>
          <p:cNvSpPr/>
          <p:nvPr/>
        </p:nvSpPr>
        <p:spPr>
          <a:xfrm>
            <a:off x="685800" y="4351586"/>
            <a:ext cx="8686800" cy="1836093"/>
          </a:xfrm>
          <a:prstGeom prst="rect">
            <a:avLst/>
          </a:prstGeom>
          <a:noFill/>
          <a:ln/>
        </p:spPr>
        <p:txBody>
          <a:bodyPr wrap="square" lIns="101600" tIns="0" rIns="0" bIns="0" rtlCol="0" anchor="t"/>
          <a:lstStyle/>
          <a:p>
            <a:pPr algn="l" marL="101600" indent="-101600">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Caregiver web application:</a:t>
            </a:r>
            <a:pPr algn="l" indent="0" marL="0">
              <a:lnSpc>
                <a:spcPts val="1562"/>
              </a:lnSpc>
              <a:spcAft>
                <a:spcPts val="100"/>
              </a:spcAft>
              <a:buNone/>
            </a:pPr>
            <a:r>
              <a:rPr lang="en-US" sz="1250" dirty="0">
                <a:solidFill>
                  <a:srgbClr val="000000"/>
                </a:solidFill>
                <a:latin typeface="Times New Roman" pitchFamily="34" charset="0"/>
                <a:ea typeface="Times New Roman" pitchFamily="34" charset="-122"/>
                <a:cs typeface="Times New Roman" pitchFamily="34" charset="-120"/>
              </a:rPr>
              <a:t> deployed on Hugging Face Spaces (Streamlit); PAC monitoring, real-time stimulation control, personalized session tracking — the basis for a consumer neuromodulation device.</a:t>
            </a:r>
            <a:endParaRPr lang="en-US" sz="1250" dirty="0"/>
          </a:p>
          <a:p>
            <a:pPr algn="l" marL="101600" indent="-101600">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Phase 1 — Observational (now):</a:t>
            </a:r>
            <a:pPr algn="l" indent="0" marL="0">
              <a:lnSpc>
                <a:spcPts val="1562"/>
              </a:lnSpc>
              <a:spcAft>
                <a:spcPts val="100"/>
              </a:spcAft>
              <a:buNone/>
            </a:pPr>
            <a:r>
              <a:rPr lang="en-US" sz="1250" dirty="0">
                <a:solidFill>
                  <a:srgbClr val="000000"/>
                </a:solidFill>
                <a:latin typeface="Times New Roman" pitchFamily="34" charset="0"/>
                <a:ea typeface="Times New Roman" pitchFamily="34" charset="-122"/>
                <a:cs typeface="Times New Roman" pitchFamily="34" charset="-120"/>
              </a:rPr>
              <a:t> collect real-world EEG + PAC data via app to characterize inter-session habituation patterns.</a:t>
            </a:r>
            <a:endParaRPr lang="en-US" sz="1250" dirty="0"/>
          </a:p>
          <a:p>
            <a:pPr algn="l" marL="101600" indent="-101600">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Phase 2 — Feasibility (12–18 mo):</a:t>
            </a:r>
            <a:pPr algn="l" indent="0" marL="0">
              <a:lnSpc>
                <a:spcPts val="1562"/>
              </a:lnSpc>
              <a:spcAft>
                <a:spcPts val="100"/>
              </a:spcAft>
              <a:buNone/>
            </a:pPr>
            <a:r>
              <a:rPr lang="en-US" sz="1250" dirty="0">
                <a:solidFill>
                  <a:srgbClr val="000000"/>
                </a:solidFill>
                <a:latin typeface="Times New Roman" pitchFamily="34" charset="0"/>
                <a:ea typeface="Times New Roman" pitchFamily="34" charset="-122"/>
                <a:cs typeface="Times New Roman" pitchFamily="34" charset="-120"/>
              </a:rPr>
              <a:t> IRB-approved within-subject pilot (N = 5–10) comparing adaptive TCN vs. fixed-schedule 40 Hz stimulation.</a:t>
            </a:r>
            <a:endParaRPr lang="en-US" sz="1250" dirty="0"/>
          </a:p>
          <a:p>
            <a:pPr algn="l" marL="101600" indent="-101600">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Phase 3 — Comparative (3–5 yr):</a:t>
            </a:r>
            <a:pPr algn="l" indent="0" marL="0">
              <a:lnSpc>
                <a:spcPts val="1562"/>
              </a:lnSpc>
              <a:spcAft>
                <a:spcPts val="100"/>
              </a:spcAft>
              <a:buNone/>
            </a:pPr>
            <a:r>
              <a:rPr lang="en-US" sz="1250" dirty="0">
                <a:solidFill>
                  <a:srgbClr val="000000"/>
                </a:solidFill>
                <a:latin typeface="Times New Roman" pitchFamily="34" charset="0"/>
                <a:ea typeface="Times New Roman" pitchFamily="34" charset="-122"/>
                <a:cs typeface="Times New Roman" pitchFamily="34" charset="-120"/>
              </a:rPr>
              <a:t> RCT in mild AD patients (N ≈ 20) comparing personalized adaptive vs. fixed protocol. Primary endpoint: maintained entrainment at 12-week follow-up.</a:t>
            </a:r>
            <a:endParaRPr lang="en-US" sz="1250" dirty="0"/>
          </a:p>
          <a:p>
            <a:pPr algn="l" marL="101600" indent="-101600">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Near-term technical:</a:t>
            </a:r>
            <a:pPr algn="l" indent="0" marL="0">
              <a:lnSpc>
                <a:spcPts val="1562"/>
              </a:lnSpc>
              <a:spcAft>
                <a:spcPts val="100"/>
              </a:spcAft>
              <a:buNone/>
            </a:pPr>
            <a:r>
              <a:rPr lang="en-US" sz="1250" dirty="0">
                <a:solidFill>
                  <a:srgbClr val="000000"/>
                </a:solidFill>
                <a:latin typeface="Times New Roman" pitchFamily="34" charset="0"/>
                <a:ea typeface="Times New Roman" pitchFamily="34" charset="-122"/>
                <a:cs typeface="Times New Roman" pitchFamily="34" charset="-120"/>
              </a:rPr>
              <a:t> end-to-end validation (raw EEG → EEGNet → TCN → controller); per-subject online fine-tuning; 4-channel Muse-compatible deployment.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algn="l" indent="0" marL="0">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Scope of Work</a:t>
            </a:r>
            <a:endParaRPr lang="en-US" sz="2200" dirty="0"/>
          </a:p>
        </p:txBody>
      </p:sp>
      <p:sp>
        <p:nvSpPr>
          <p:cNvPr id="3" name="Text 1"/>
          <p:cNvSpPr/>
          <p:nvPr/>
        </p:nvSpPr>
        <p:spPr>
          <a:xfrm>
            <a:off x="685800" y="1199852"/>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New Work by Author</a:t>
            </a:r>
            <a:endParaRPr lang="en-US" sz="1700" dirty="0"/>
          </a:p>
        </p:txBody>
      </p:sp>
      <p:sp>
        <p:nvSpPr>
          <p:cNvPr id="4" name="Text 2"/>
          <p:cNvSpPr/>
          <p:nvPr/>
        </p:nvSpPr>
        <p:spPr>
          <a:xfrm>
            <a:off x="685800" y="1498253"/>
            <a:ext cx="8686800" cy="3071217"/>
          </a:xfrm>
          <a:prstGeom prst="rect">
            <a:avLst/>
          </a:prstGeom>
          <a:noFill/>
          <a:ln/>
        </p:spPr>
        <p:txBody>
          <a:bodyPr wrap="square" lIns="127000" tIns="0" rIns="0" bIns="0" rtlCol="0" anchor="t"/>
          <a:lstStyle/>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Independently identified the research gap (fixed-schedule limitation in 40 Hz entrainment) through literature review.</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Designed and implemented the full computational pipeline: EEG preprocessing, PAC computation, architecture search across 8 neural network families, feature ablation study (73 → 12 PAC+Stim features), and MultiscaleCausalTCN design.</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Discovered the R² = 0.287 data ceiling through experimentation, the ≈3-second prediction horizon inflection point, and the feature selection breakthrough (12 PAC+Stim features raising R² from −0.025 to 0.606) — all novel empirical findings.</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Designed the closed-loop controller with personalization module, hysteresis logic, and multi-strategy comparison framework including alignment oracle upper bound.</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Conducted all statistical analyses: Wilcoxon signed-rank tests, Hedges’ g effect sizes with 95% bootstrap CIs, binomial sign tests, threshold sensitivity sweeps.</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Validated the complete system on 35 real patient EEG recordings through offline counterfactual replay.</a:t>
            </a:r>
            <a:endParaRPr lang="en-US" sz="1400" dirty="0"/>
          </a:p>
        </p:txBody>
      </p:sp>
      <p:sp>
        <p:nvSpPr>
          <p:cNvPr id="5" name="Text 3"/>
          <p:cNvSpPr/>
          <p:nvPr/>
        </p:nvSpPr>
        <p:spPr>
          <a:xfrm>
            <a:off x="685800" y="4721870"/>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Professional, Institutional, and Academic Resources and Support</a:t>
            </a:r>
            <a:endParaRPr lang="en-US" sz="1700" dirty="0"/>
          </a:p>
        </p:txBody>
      </p:sp>
      <p:sp>
        <p:nvSpPr>
          <p:cNvPr id="6" name="Text 4"/>
          <p:cNvSpPr/>
          <p:nvPr/>
        </p:nvSpPr>
        <p:spPr>
          <a:xfrm>
            <a:off x="685800" y="5020270"/>
            <a:ext cx="8686800" cy="2072878"/>
          </a:xfrm>
          <a:prstGeom prst="rect">
            <a:avLst/>
          </a:prstGeom>
          <a:noFill/>
          <a:ln/>
        </p:spPr>
        <p:txBody>
          <a:bodyPr wrap="square" lIns="127000" tIns="0" rIns="0" bIns="0" rtlCol="0" anchor="t"/>
          <a:lstStyle/>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Data:</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OpenNeuro ds005048 — publicly available EEG dataset accessible to anyone at no cost.</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Computing:</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personal Apple Silicon MacBook; no institutional computing resources, GPU clusters, or specialized laboratory equipment were used.</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Software:</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open-source libraries (PyTorch, MNE-Python, SciPy, NumPy, Matplotlib) — all freely available.</a:t>
            </a:r>
            <a:endParaRPr lang="en-US" sz="1400" dirty="0"/>
          </a:p>
          <a:p>
            <a:pPr algn="l" marL="127000" indent="-127000">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AI-assisted development:</a:t>
            </a:r>
            <a:pPr algn="l" indent="0" marL="0">
              <a:lnSpc>
                <a:spcPts val="1890"/>
              </a:lnSpc>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 Claude Code (Anthropic) was used for code development assistance, debugging, and document preparation. All scientific decisions, research direction, experimental design, data analysis, and interpretation of results were performed by the author.</a:t>
            </a:r>
            <a:endParaRPr lang="en-US" sz="1400" dirty="0"/>
          </a:p>
          <a:p>
            <a:pPr algn="l" marL="127000" indent="-127000">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No institutional lab, university mentor, summer research program, or specialized equipment was used at any stage.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algn="l" indent="0" marL="0">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References / Supplemental Information</a:t>
            </a:r>
            <a:endParaRPr lang="en-US" sz="2200" dirty="0"/>
          </a:p>
        </p:txBody>
      </p:sp>
      <p:sp>
        <p:nvSpPr>
          <p:cNvPr id="3" name="Text 1"/>
          <p:cNvSpPr/>
          <p:nvPr/>
        </p:nvSpPr>
        <p:spPr>
          <a:xfrm>
            <a:off x="685800" y="1199852"/>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References</a:t>
            </a:r>
            <a:endParaRPr lang="en-US" sz="1700" dirty="0"/>
          </a:p>
        </p:txBody>
      </p:sp>
      <p:sp>
        <p:nvSpPr>
          <p:cNvPr id="4" name="Text 2"/>
          <p:cNvSpPr/>
          <p:nvPr/>
        </p:nvSpPr>
        <p:spPr>
          <a:xfrm>
            <a:off x="685800" y="1498253"/>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[1] Iaccarino HG et al. Gamma frequency entrainment attenuates amyloid load. Nature 540, 230–235, 2016.</a:t>
            </a:r>
            <a:endParaRPr lang="en-US" sz="1400" dirty="0"/>
          </a:p>
        </p:txBody>
      </p:sp>
      <p:sp>
        <p:nvSpPr>
          <p:cNvPr id="5" name="Text 3"/>
          <p:cNvSpPr/>
          <p:nvPr/>
        </p:nvSpPr>
        <p:spPr>
          <a:xfrm>
            <a:off x="685800" y="1758553"/>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[2] Murdock MH et al. Multisensory gamma stimulation promotes glymphatic clearance. Nature 627, 149–156, 2024.</a:t>
            </a:r>
            <a:endParaRPr lang="en-US" sz="1400" dirty="0"/>
          </a:p>
        </p:txBody>
      </p:sp>
      <p:sp>
        <p:nvSpPr>
          <p:cNvPr id="6" name="Text 4"/>
          <p:cNvSpPr/>
          <p:nvPr/>
        </p:nvSpPr>
        <p:spPr>
          <a:xfrm>
            <a:off x="685800" y="2018854"/>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[3] Chan D et al. Gamma sensory stimulation in mild AD: open-label extension. Alzheimer’s &amp; Dementia, 2025.</a:t>
            </a:r>
            <a:endParaRPr lang="en-US" sz="1400" dirty="0"/>
          </a:p>
        </p:txBody>
      </p:sp>
      <p:sp>
        <p:nvSpPr>
          <p:cNvPr id="7" name="Text 5"/>
          <p:cNvSpPr/>
          <p:nvPr/>
        </p:nvSpPr>
        <p:spPr>
          <a:xfrm>
            <a:off x="685800" y="2279154"/>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[4] Fortunato C et al. Gamma entrainment for cognitive improvement in neurodegeneration. Front Neurosci 17, 2023.</a:t>
            </a:r>
            <a:endParaRPr lang="en-US" sz="1400" dirty="0"/>
          </a:p>
        </p:txBody>
      </p:sp>
      <p:sp>
        <p:nvSpPr>
          <p:cNvPr id="8" name="Text 6"/>
          <p:cNvSpPr/>
          <p:nvPr/>
        </p:nvSpPr>
        <p:spPr>
          <a:xfrm>
            <a:off x="685800" y="2539454"/>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[5] Lahijanian B et al. Auditory gamma entrainment enhances DMN connectivity in dementia. Sci Rep 14, 2024.</a:t>
            </a:r>
            <a:endParaRPr lang="en-US" sz="1400" dirty="0"/>
          </a:p>
        </p:txBody>
      </p:sp>
      <p:sp>
        <p:nvSpPr>
          <p:cNvPr id="9" name="Text 7"/>
          <p:cNvSpPr/>
          <p:nvPr/>
        </p:nvSpPr>
        <p:spPr>
          <a:xfrm>
            <a:off x="685800" y="2799755"/>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[6] Lawhern VJ et al. EEGNet: compact CNN for EEG-based BCIs. J Neural Eng 15, 056013, 2018.</a:t>
            </a:r>
            <a:endParaRPr lang="en-US" sz="1400" dirty="0"/>
          </a:p>
        </p:txBody>
      </p:sp>
      <p:sp>
        <p:nvSpPr>
          <p:cNvPr id="10" name="Text 8"/>
          <p:cNvSpPr/>
          <p:nvPr/>
        </p:nvSpPr>
        <p:spPr>
          <a:xfrm>
            <a:off x="685800" y="3060055"/>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[7] Tort ABL et al. Measuring phase-amplitude coupling. J Neurophysiology 104, 1195–1210, 2010.</a:t>
            </a:r>
            <a:endParaRPr lang="en-US" sz="1400" dirty="0"/>
          </a:p>
        </p:txBody>
      </p:sp>
      <p:sp>
        <p:nvSpPr>
          <p:cNvPr id="11" name="Text 9"/>
          <p:cNvSpPr/>
          <p:nvPr/>
        </p:nvSpPr>
        <p:spPr>
          <a:xfrm>
            <a:off x="685800" y="3320355"/>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[8] Cabral J et al. AI-driven biofeedback for personalized digital therapeutics. Front Digital Health 7, 2025.</a:t>
            </a:r>
            <a:endParaRPr lang="en-US" sz="1400" dirty="0"/>
          </a:p>
        </p:txBody>
      </p:sp>
      <p:sp>
        <p:nvSpPr>
          <p:cNvPr id="12" name="Text 10"/>
          <p:cNvSpPr/>
          <p:nvPr/>
        </p:nvSpPr>
        <p:spPr>
          <a:xfrm>
            <a:off x="685800" y="3580656"/>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[9] Rosin B et al. Closed-loop DBS for Parkinson’s disease. Neuron 72, 370–384, 2011.</a:t>
            </a:r>
            <a:endParaRPr lang="en-US" sz="1400" dirty="0"/>
          </a:p>
        </p:txBody>
      </p:sp>
      <p:sp>
        <p:nvSpPr>
          <p:cNvPr id="13" name="Text 11"/>
          <p:cNvSpPr/>
          <p:nvPr/>
        </p:nvSpPr>
        <p:spPr>
          <a:xfrm>
            <a:off x="685800" y="3840956"/>
            <a:ext cx="8860536" cy="222200"/>
          </a:xfrm>
          <a:prstGeom prst="rect">
            <a:avLst/>
          </a:prstGeom>
          <a:noFill/>
          <a:ln/>
        </p:spPr>
        <p:txBody>
          <a:bodyPr wrap="square" lIns="0" tIns="0" rIns="0" bIns="0" rtlCol="0" anchor="t"/>
          <a:lstStyle/>
          <a:p>
            <a:pPr algn="l" indent="0" marL="0">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[10] Lacroix A et al. Portiloop: real-time causal sleep spindle detection. PLOS ONE 17, e0269421, 2022.</a:t>
            </a:r>
            <a:endParaRPr lang="en-US" sz="1400" dirty="0"/>
          </a:p>
        </p:txBody>
      </p:sp>
      <p:sp>
        <p:nvSpPr>
          <p:cNvPr id="14" name="Text 12"/>
          <p:cNvSpPr/>
          <p:nvPr/>
        </p:nvSpPr>
        <p:spPr>
          <a:xfrm>
            <a:off x="685800" y="4215557"/>
            <a:ext cx="8860536" cy="247650"/>
          </a:xfrm>
          <a:prstGeom prst="rect">
            <a:avLst/>
          </a:prstGeom>
          <a:noFill/>
          <a:ln/>
        </p:spPr>
        <p:txBody>
          <a:bodyPr wrap="square" lIns="0" tIns="0" rIns="0" bIns="0" rtlCol="0" anchor="t"/>
          <a:lstStyle/>
          <a:p>
            <a:pPr algn="l" indent="0" marL="0">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Supplemental Information</a:t>
            </a:r>
            <a:endParaRPr lang="en-US" sz="1700" dirty="0"/>
          </a:p>
        </p:txBody>
      </p:sp>
      <p:sp>
        <p:nvSpPr>
          <p:cNvPr id="15" name="Text 13"/>
          <p:cNvSpPr/>
          <p:nvPr/>
        </p:nvSpPr>
        <p:spPr>
          <a:xfrm>
            <a:off x="685800" y="4513957"/>
            <a:ext cx="8860536" cy="240060"/>
          </a:xfrm>
          <a:prstGeom prst="rect">
            <a:avLst/>
          </a:prstGeom>
          <a:noFill/>
          <a:ln/>
        </p:spPr>
        <p:txBody>
          <a:bodyPr wrap="square" lIns="0" tIns="0" rIns="0" bIns="0" rtlCol="0" anchor="t"/>
          <a:lstStyle/>
          <a:p>
            <a:pPr algn="l" indent="0" marL="0">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Dataset: </a:t>
            </a:r>
            <a:pPr algn="l" indent="0" marL="0">
              <a:lnSpc>
                <a:spcPts val="1890"/>
              </a:lnSpc>
              <a:spcBef>
                <a:spcPts val="300"/>
              </a:spcBef>
              <a:spcAft>
                <a:spcPts val="600"/>
              </a:spcAft>
              <a:buNone/>
            </a:pPr>
            <a:r>
              <a:rPr lang="en-US" sz="1400" i="1" dirty="0">
                <a:solidFill>
                  <a:srgbClr val="000000"/>
                </a:solidFill>
                <a:latin typeface="Times New Roman" pitchFamily="34" charset="0"/>
                <a:ea typeface="Times New Roman" pitchFamily="34" charset="-122"/>
                <a:cs typeface="Times New Roman" pitchFamily="34" charset="-120"/>
              </a:rPr>
              <a:t>https://openneuro.org/datasets/ds005048</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CSEF 2026 - Closed-Loop 40 Hz Entrainment</dc:title>
  <dc:subject>PptxGenJS Presentation</dc:subject>
  <dc:creator>Amaar Chughtai</dc:creator>
  <cp:lastModifiedBy>Amaar Chughtai</cp:lastModifiedBy>
  <cp:revision>1</cp:revision>
  <dcterms:created xsi:type="dcterms:W3CDTF">2026-03-23T08:17:32Z</dcterms:created>
  <dcterms:modified xsi:type="dcterms:W3CDTF">2026-03-23T08:17:32Z</dcterms:modified>
</cp:coreProperties>
</file>