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38"/>
    <p:restoredTop sz="94610"/>
  </p:normalViewPr>
  <p:slideViewPr>
    <p:cSldViewPr snapToGrid="0" snapToObjects="1">
      <p:cViewPr>
        <p:scale>
          <a:sx n="184" d="100"/>
          <a:sy n="184" d="100"/>
        </p:scale>
        <p:origin x="-88" y="-2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451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286304" y="1180951"/>
            <a:ext cx="7485793" cy="1287661"/>
          </a:xfrm>
          <a:prstGeom prst="rect">
            <a:avLst/>
          </a:prstGeom>
          <a:noFill/>
          <a:ln/>
        </p:spPr>
        <p:txBody>
          <a:bodyPr wrap="square" lIns="0" tIns="0" rIns="0" bIns="0" rtlCol="0" anchor="t"/>
          <a:lstStyle/>
          <a:p>
            <a:pPr marL="0" indent="0" algn="ctr">
              <a:lnSpc>
                <a:spcPts val="3380"/>
              </a:lnSpc>
              <a:spcBef>
                <a:spcPts val="5000"/>
              </a:spcBef>
              <a:spcAft>
                <a:spcPts val="2200"/>
              </a:spcAft>
              <a:buNone/>
            </a:pPr>
            <a:r>
              <a:rPr lang="en-US" sz="2600" dirty="0">
                <a:solidFill>
                  <a:srgbClr val="000000"/>
                </a:solidFill>
                <a:latin typeface="Times New Roman" pitchFamily="34" charset="0"/>
                <a:ea typeface="Times New Roman" pitchFamily="34" charset="-122"/>
                <a:cs typeface="Times New Roman" pitchFamily="34" charset="-120"/>
              </a:rPr>
              <a:t>Personalized Deep Learning Model for Closed-Loop</a:t>
            </a:r>
            <a:r>
              <a:rPr lang="en-US" sz="2600" dirty="0"/>
              <a:t> </a:t>
            </a:r>
            <a:br>
              <a:rPr lang="en-US" sz="2600" dirty="0"/>
            </a:br>
            <a:r>
              <a:rPr lang="en-US" sz="2600" dirty="0">
                <a:solidFill>
                  <a:srgbClr val="000000"/>
                </a:solidFill>
                <a:latin typeface="Times New Roman" pitchFamily="34" charset="0"/>
                <a:ea typeface="Times New Roman" pitchFamily="34" charset="-122"/>
                <a:cs typeface="Times New Roman" pitchFamily="34" charset="-120"/>
              </a:rPr>
              <a:t>40 Hz Entrainment to Optimize Theta–Gamma</a:t>
            </a:r>
            <a:r>
              <a:rPr lang="en-US" sz="2600" dirty="0"/>
              <a:t> </a:t>
            </a:r>
            <a:r>
              <a:rPr lang="en-US" sz="2600" dirty="0">
                <a:solidFill>
                  <a:srgbClr val="000000"/>
                </a:solidFill>
                <a:latin typeface="Times New Roman" pitchFamily="34" charset="0"/>
                <a:ea typeface="Times New Roman" pitchFamily="34" charset="-122"/>
                <a:cs typeface="Times New Roman" pitchFamily="34" charset="-120"/>
              </a:rPr>
              <a:t>Coupling in Alzheimer’s Disease</a:t>
            </a:r>
            <a:endParaRPr lang="en-US" sz="2600" dirty="0"/>
          </a:p>
        </p:txBody>
      </p:sp>
      <p:sp>
        <p:nvSpPr>
          <p:cNvPr id="3" name="Text 1"/>
          <p:cNvSpPr/>
          <p:nvPr/>
        </p:nvSpPr>
        <p:spPr>
          <a:xfrm>
            <a:off x="4255301" y="2570113"/>
            <a:ext cx="1547649" cy="257175"/>
          </a:xfrm>
          <a:prstGeom prst="rect">
            <a:avLst/>
          </a:prstGeom>
          <a:noFill/>
          <a:ln/>
        </p:spPr>
        <p:txBody>
          <a:bodyPr wrap="square" lIns="0" tIns="0" rIns="0" bIns="0" rtlCol="0" anchor="t"/>
          <a:lstStyle/>
          <a:p>
            <a:pPr marL="0" indent="0" algn="ctr">
              <a:spcBef>
                <a:spcPts val="1800"/>
              </a:spcBef>
              <a:spcAft>
                <a:spcPts val="3000"/>
              </a:spcAft>
              <a:buNone/>
            </a:pPr>
            <a:r>
              <a:rPr lang="en-US" sz="1800" dirty="0">
                <a:solidFill>
                  <a:srgbClr val="000000"/>
                </a:solidFill>
                <a:latin typeface="Times New Roman" pitchFamily="34" charset="0"/>
                <a:ea typeface="Times New Roman" pitchFamily="34" charset="-122"/>
                <a:cs typeface="Times New Roman" pitchFamily="34" charset="-120"/>
              </a:rPr>
              <a:t>Amaar Chughtai</a:t>
            </a:r>
            <a:endParaRPr lang="en-US" sz="1800" dirty="0"/>
          </a:p>
        </p:txBody>
      </p:sp>
      <p:sp>
        <p:nvSpPr>
          <p:cNvPr id="4" name="Text 2"/>
          <p:cNvSpPr/>
          <p:nvPr/>
        </p:nvSpPr>
        <p:spPr>
          <a:xfrm>
            <a:off x="4245584" y="3783360"/>
            <a:ext cx="1567232" cy="238125"/>
          </a:xfrm>
          <a:prstGeom prst="rect">
            <a:avLst/>
          </a:prstGeom>
          <a:noFill/>
          <a:ln/>
        </p:spPr>
        <p:txBody>
          <a:bodyPr wrap="square" lIns="0" tIns="0" rIns="0" bIns="0" rtlCol="0" anchor="t"/>
          <a:lstStyle/>
          <a:p>
            <a:pPr marL="0" indent="0" algn="ctr">
              <a:spcBef>
                <a:spcPts val="1328"/>
              </a:spcBef>
              <a:spcAft>
                <a:spcPts val="500"/>
              </a:spcAft>
              <a:buNone/>
            </a:pPr>
            <a:r>
              <a:rPr lang="en-US" sz="1600" b="1" dirty="0">
                <a:solidFill>
                  <a:srgbClr val="000000"/>
                </a:solidFill>
                <a:latin typeface="Times New Roman" pitchFamily="34" charset="0"/>
                <a:ea typeface="Times New Roman" pitchFamily="34" charset="-122"/>
                <a:cs typeface="Times New Roman" pitchFamily="34" charset="-120"/>
              </a:rPr>
              <a:t>Project Summary</a:t>
            </a:r>
            <a:endParaRPr lang="en-US" sz="1600" dirty="0"/>
          </a:p>
        </p:txBody>
      </p:sp>
      <p:sp>
        <p:nvSpPr>
          <p:cNvPr id="5" name="Text 3"/>
          <p:cNvSpPr/>
          <p:nvPr/>
        </p:nvSpPr>
        <p:spPr>
          <a:xfrm>
            <a:off x="685800" y="4122986"/>
            <a:ext cx="8860536" cy="2160538"/>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This project develops a closed-loop deep learning system for personalized 40 Hz auditory entrainment therapy in Alzheimer’s disease. Current clinical protocols deliver stimulation on rigid fixed schedules, ignoring individual variability in neural responses and intra-session habituation. I analyzed EEG recordings from 35 elderly subjects (OpenNeuro ds005048) and discovered that dropping 61 spectral features in favor of 12 PAC-derived and stimulation context features raised forecasting accuracy from test R² = 0.121 (73 features) to 0.606 (5-seed mean, std = 0.032), driven by eliminating subject-specific anatomy from model inputs. The predictive controller matched stimulation to patient need 72.1% versus 64.5% for reactive control (p &lt; 0.001, Hedges’ g = 1.31), targeted 82.6% of low-coupling windows versus 51.7%, and reached 91% of the theoretical oracle. All 35 subjects benefited. A caregiver-facing web application is deployed on Hugging Face Spaces as a path toward clinical translation.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marL="0" indent="0" algn="l">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Introduction</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Research Question</a:t>
            </a:r>
            <a:endParaRPr lang="en-US" sz="1700" dirty="0"/>
          </a:p>
        </p:txBody>
      </p:sp>
      <p:sp>
        <p:nvSpPr>
          <p:cNvPr id="4" name="Text 2"/>
          <p:cNvSpPr/>
          <p:nvPr/>
        </p:nvSpPr>
        <p:spPr>
          <a:xfrm>
            <a:off x="685800" y="1498253"/>
            <a:ext cx="8860536" cy="720179"/>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Can deep learning models trained on EEG derived features forecast theta-gamma phase-amplitude coupling (PAC) dynamics 5–10 seconds into the future, and does integrating such forecasts into a closed-loop controller produce measurable improvements in personalized 40 Hz entrainment therapy for Alzheimer’s disease?</a:t>
            </a:r>
            <a:endParaRPr lang="en-US" sz="1400" dirty="0"/>
          </a:p>
        </p:txBody>
      </p:sp>
      <p:sp>
        <p:nvSpPr>
          <p:cNvPr id="5" name="Text 3"/>
          <p:cNvSpPr/>
          <p:nvPr/>
        </p:nvSpPr>
        <p:spPr>
          <a:xfrm>
            <a:off x="685800" y="2294632"/>
            <a:ext cx="8860536" cy="720179"/>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b="1" dirty="0">
                <a:solidFill>
                  <a:srgbClr val="000000"/>
                </a:solidFill>
                <a:latin typeface="Times New Roman" pitchFamily="34" charset="0"/>
                <a:ea typeface="Times New Roman" pitchFamily="34" charset="-122"/>
                <a:cs typeface="Times New Roman" pitchFamily="34" charset="-120"/>
              </a:rPr>
              <a:t>Hypothesis:</a:t>
            </a:r>
            <a:r>
              <a:rPr lang="en-US" sz="1400" dirty="0">
                <a:solidFill>
                  <a:srgbClr val="000000"/>
                </a:solidFill>
                <a:latin typeface="Times New Roman" pitchFamily="34" charset="0"/>
                <a:ea typeface="Times New Roman" pitchFamily="34" charset="-122"/>
                <a:cs typeface="Times New Roman" pitchFamily="34" charset="-120"/>
              </a:rPr>
              <a:t> A Temporal Convolutional Network trained on 12 causal PAC-derived and stimulation context features can predict future PAC at horizons where baselines fail (beyond ~3 seconds), enabling a predictive controller that outperforms reactive threshold control and approaches the theoretical oracle bound.</a:t>
            </a:r>
            <a:endParaRPr lang="en-US" sz="1400" dirty="0"/>
          </a:p>
        </p:txBody>
      </p:sp>
      <p:sp>
        <p:nvSpPr>
          <p:cNvPr id="6" name="Text 4"/>
          <p:cNvSpPr/>
          <p:nvPr/>
        </p:nvSpPr>
        <p:spPr>
          <a:xfrm>
            <a:off x="685800" y="3167211"/>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Project Origin</a:t>
            </a:r>
            <a:endParaRPr lang="en-US" sz="1700" dirty="0"/>
          </a:p>
        </p:txBody>
      </p:sp>
      <p:sp>
        <p:nvSpPr>
          <p:cNvPr id="7" name="Text 5"/>
          <p:cNvSpPr/>
          <p:nvPr/>
        </p:nvSpPr>
        <p:spPr>
          <a:xfrm>
            <a:off x="685800" y="3465612"/>
            <a:ext cx="8860536" cy="1440359"/>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I became interested in computational approaches to Alzheimer’s therapy after reading about the landmark Iaccarino et al. (2016) Nature study showing that 40 Hz sensory stimulation reduced amyloid-beta plaques in AD mouse models by up to 50%. Looking into human clinical translation, I noticed how all existing protocols deliver stimulation on rigid fixed schedules that ignore individual neural responses. Approximately 30% of patients are non-responders (Fortunato et al., 2023), and habituation degrades entrainment within sessions, yet fixed protocols cannot detect or adapt to these dynamics.</a:t>
            </a:r>
            <a:endParaRPr lang="en-US" sz="1400" dirty="0"/>
          </a:p>
        </p:txBody>
      </p:sp>
      <p:sp>
        <p:nvSpPr>
          <p:cNvPr id="8" name="Text 6"/>
          <p:cNvSpPr/>
          <p:nvPr/>
        </p:nvSpPr>
        <p:spPr>
          <a:xfrm>
            <a:off x="685800" y="4982170"/>
            <a:ext cx="8860536" cy="960239"/>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This observation led to my central question: could machine learning predict when a patient’s brain will lose entrainment, enabling proactive intervention? I began this project in early 2026 using the publicly available OpenNeuro ds005048 EEG dataset. The project concept originated from my independent literature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98450"/>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Continuation</a:t>
            </a:r>
            <a:endParaRPr lang="en-US" sz="1700" dirty="0"/>
          </a:p>
        </p:txBody>
      </p:sp>
      <p:sp>
        <p:nvSpPr>
          <p:cNvPr id="3" name="Text 1"/>
          <p:cNvSpPr/>
          <p:nvPr/>
        </p:nvSpPr>
        <p:spPr>
          <a:xfrm>
            <a:off x="685800" y="996851"/>
            <a:ext cx="8860536" cy="240060"/>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None. This is not a continuation of any previous science fair project.</a:t>
            </a:r>
            <a:endParaRPr lang="en-US" sz="1400" dirty="0"/>
          </a:p>
        </p:txBody>
      </p:sp>
      <p:sp>
        <p:nvSpPr>
          <p:cNvPr id="4" name="Text 2"/>
          <p:cNvSpPr/>
          <p:nvPr/>
        </p:nvSpPr>
        <p:spPr>
          <a:xfrm>
            <a:off x="685800" y="1389311"/>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Work by Others</a:t>
            </a:r>
            <a:endParaRPr lang="en-US" sz="1700" dirty="0"/>
          </a:p>
        </p:txBody>
      </p:sp>
      <p:sp>
        <p:nvSpPr>
          <p:cNvPr id="5" name="Text 3"/>
          <p:cNvSpPr/>
          <p:nvPr/>
        </p:nvSpPr>
        <p:spPr>
          <a:xfrm>
            <a:off x="685800" y="1687711"/>
            <a:ext cx="8860536" cy="240060"/>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Prior work relevant to this project:</a:t>
            </a:r>
            <a:endParaRPr lang="en-US" sz="1400" dirty="0"/>
          </a:p>
        </p:txBody>
      </p:sp>
      <p:sp>
        <p:nvSpPr>
          <p:cNvPr id="6" name="Text 4"/>
          <p:cNvSpPr/>
          <p:nvPr/>
        </p:nvSpPr>
        <p:spPr>
          <a:xfrm>
            <a:off x="685800" y="2003971"/>
            <a:ext cx="8686800" cy="4347716"/>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Iaccarino et al. (2016, Nature):</a:t>
            </a:r>
            <a:r>
              <a:rPr lang="en-US" sz="1400" dirty="0">
                <a:solidFill>
                  <a:srgbClr val="000000"/>
                </a:solidFill>
                <a:latin typeface="Times New Roman" pitchFamily="34" charset="0"/>
                <a:ea typeface="Times New Roman" pitchFamily="34" charset="-122"/>
                <a:cs typeface="Times New Roman" pitchFamily="34" charset="-120"/>
              </a:rPr>
              <a:t> 40 Hz optogenetic and sensory stimulation reduced amyloid-beta by ~50% in AD mouse models through microglial activation. Foundational study for 40 Hz entrainment therapy.</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Murdock et al. (2024, Nature):</a:t>
            </a:r>
            <a:r>
              <a:rPr lang="en-US" sz="1400" dirty="0">
                <a:solidFill>
                  <a:srgbClr val="000000"/>
                </a:solidFill>
                <a:latin typeface="Times New Roman" pitchFamily="34" charset="0"/>
                <a:ea typeface="Times New Roman" pitchFamily="34" charset="-122"/>
                <a:cs typeface="Times New Roman" pitchFamily="34" charset="-120"/>
              </a:rPr>
              <a:t> Identified glymphatic clearance as a key mechanism; multisensory 40 Hz stimulation reduced neocortical plaque volume by 37% in 5XFAD mice.</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Chan et al. (2025, Alzheimer’s &amp; Dementia):</a:t>
            </a:r>
            <a:r>
              <a:rPr lang="en-US" sz="1400" dirty="0">
                <a:solidFill>
                  <a:srgbClr val="000000"/>
                </a:solidFill>
                <a:latin typeface="Times New Roman" pitchFamily="34" charset="0"/>
                <a:ea typeface="Times New Roman" pitchFamily="34" charset="-122"/>
                <a:cs typeface="Times New Roman" pitchFamily="34" charset="-120"/>
              </a:rPr>
              <a:t> Open-label extension study showing sustained EEG entrainment and reduced brain atrophy in mild AD patients with 40 Hz multisensory stimulation.</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Fortunato et al. (2023, Frontiers in Neuroscience):</a:t>
            </a:r>
            <a:r>
              <a:rPr lang="en-US" sz="1400" dirty="0">
                <a:solidFill>
                  <a:srgbClr val="000000"/>
                </a:solidFill>
                <a:latin typeface="Times New Roman" pitchFamily="34" charset="0"/>
                <a:ea typeface="Times New Roman" pitchFamily="34" charset="-122"/>
                <a:cs typeface="Times New Roman" pitchFamily="34" charset="-120"/>
              </a:rPr>
              <a:t> Found ~30% non-responder / fatigue rate in 40 Hz entrainment studies, motivating personalized approaches.</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Lahijanian et al. (2024, Scientific Reports):</a:t>
            </a:r>
            <a:r>
              <a:rPr lang="en-US" sz="1400" dirty="0">
                <a:solidFill>
                  <a:srgbClr val="000000"/>
                </a:solidFill>
                <a:latin typeface="Times New Roman" pitchFamily="34" charset="0"/>
                <a:ea typeface="Times New Roman" pitchFamily="34" charset="-122"/>
                <a:cs typeface="Times New Roman" pitchFamily="34" charset="-120"/>
              </a:rPr>
              <a:t> Created the OpenNeuro ds005048 dataset (35 elderly subjects, 40 Hz auditory entrainment) and showed enhanced default mode network connectivity.</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Lawhern et al. (2018, J Neural Engineering):</a:t>
            </a:r>
            <a:r>
              <a:rPr lang="en-US" sz="1400" dirty="0">
                <a:solidFill>
                  <a:srgbClr val="000000"/>
                </a:solidFill>
                <a:latin typeface="Times New Roman" pitchFamily="34" charset="0"/>
                <a:ea typeface="Times New Roman" pitchFamily="34" charset="-122"/>
                <a:cs typeface="Times New Roman" pitchFamily="34" charset="-120"/>
              </a:rPr>
              <a:t> Developed EEGNet, a compact CNN for brain-computer interfaces, which I adapted as the static PAC estimator.</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Tort et al. (2010, J Neurophysiology):</a:t>
            </a:r>
            <a:r>
              <a:rPr lang="en-US" sz="1400" dirty="0">
                <a:solidFill>
                  <a:srgbClr val="000000"/>
                </a:solidFill>
                <a:latin typeface="Times New Roman" pitchFamily="34" charset="0"/>
                <a:ea typeface="Times New Roman" pitchFamily="34" charset="-122"/>
                <a:cs typeface="Times New Roman" pitchFamily="34" charset="-120"/>
              </a:rPr>
              <a:t> Introduced the Modulation Index for measuring phase-amplitude coupling, used as the entrainment biomarker throughout this work.</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Cabral et al. (2025, Frontiers in Digital Health):</a:t>
            </a:r>
            <a:r>
              <a:rPr lang="en-US" sz="1400" dirty="0">
                <a:solidFill>
                  <a:srgbClr val="000000"/>
                </a:solidFill>
                <a:latin typeface="Times New Roman" pitchFamily="34" charset="0"/>
                <a:ea typeface="Times New Roman" pitchFamily="34" charset="-122"/>
                <a:cs typeface="Times New Roman" pitchFamily="34" charset="-120"/>
              </a:rPr>
              <a:t> Advocated for AI-driven biofeedback as the path toward personalized digital therapeutics for gamma entrainment.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marL="0" indent="0" algn="l">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Methods</a:t>
            </a:r>
            <a:endParaRPr lang="en-US" sz="2200" dirty="0"/>
          </a:p>
        </p:txBody>
      </p:sp>
      <p:sp>
        <p:nvSpPr>
          <p:cNvPr id="3" name="Text 1"/>
          <p:cNvSpPr/>
          <p:nvPr/>
        </p:nvSpPr>
        <p:spPr>
          <a:xfrm>
            <a:off x="685800" y="1174403"/>
            <a:ext cx="8860536" cy="219075"/>
          </a:xfrm>
          <a:prstGeom prst="rect">
            <a:avLst/>
          </a:prstGeom>
          <a:noFill/>
          <a:ln/>
        </p:spPr>
        <p:txBody>
          <a:bodyPr wrap="square" lIns="0" tIns="0" rIns="0" bIns="0" rtlCol="0" anchor="t"/>
          <a:lstStyle/>
          <a:p>
            <a:pPr marL="0" indent="0" algn="l">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Dataset</a:t>
            </a:r>
            <a:endParaRPr lang="en-US" sz="1500" dirty="0"/>
          </a:p>
        </p:txBody>
      </p:sp>
      <p:sp>
        <p:nvSpPr>
          <p:cNvPr id="4" name="Text 2"/>
          <p:cNvSpPr/>
          <p:nvPr/>
        </p:nvSpPr>
        <p:spPr>
          <a:xfrm>
            <a:off x="685800" y="1431578"/>
            <a:ext cx="8686800" cy="1074539"/>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OpenNeuro ds005048 (Lahijanian et al., 2024)</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35 elderly subjects: Alzheimer’s disease (n = 17), MCI (n = 6), healthy controls (n = 10), unspecified (n = 2)</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7 frontal EEG channels (Fp1, Fp2, F7, F3, Fz, F4, F8), sampled at 250 Hz</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Protocol: 40 Hz auditory stimulation (40 s ON / 20 s OFF cycles)</a:t>
            </a:r>
            <a:endParaRPr lang="en-US" sz="1400" dirty="0"/>
          </a:p>
        </p:txBody>
      </p:sp>
      <p:sp>
        <p:nvSpPr>
          <p:cNvPr id="5" name="Text 3"/>
          <p:cNvSpPr/>
          <p:nvPr/>
        </p:nvSpPr>
        <p:spPr>
          <a:xfrm>
            <a:off x="685800" y="2607618"/>
            <a:ext cx="8860536" cy="219075"/>
          </a:xfrm>
          <a:prstGeom prst="rect">
            <a:avLst/>
          </a:prstGeom>
          <a:noFill/>
          <a:ln/>
        </p:spPr>
        <p:txBody>
          <a:bodyPr wrap="square" lIns="0" tIns="0" rIns="0" bIns="0" rtlCol="0" anchor="t"/>
          <a:lstStyle/>
          <a:p>
            <a:pPr marL="0" indent="0" algn="l">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Preprocessing</a:t>
            </a:r>
            <a:endParaRPr lang="en-US" sz="1500" dirty="0"/>
          </a:p>
        </p:txBody>
      </p:sp>
      <p:sp>
        <p:nvSpPr>
          <p:cNvPr id="6" name="Text 4"/>
          <p:cNvSpPr/>
          <p:nvPr/>
        </p:nvSpPr>
        <p:spPr>
          <a:xfrm>
            <a:off x="685800" y="2864793"/>
            <a:ext cx="8686800" cy="1352699"/>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Bandpass filter: 0.5-80 Hz (4th-order Butterworth, zero-phase)</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Notch filter: 50 Hz (Q = 30) for power-line removal</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Artifact rejection: ±100 µV threshold (applied before CAR)</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Common average reference (after artifact rejection)</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Windowing: 2-second windows (500 samples), 1-second hop</a:t>
            </a:r>
            <a:endParaRPr lang="en-US" sz="1400" dirty="0"/>
          </a:p>
        </p:txBody>
      </p:sp>
      <p:sp>
        <p:nvSpPr>
          <p:cNvPr id="7" name="Text 5"/>
          <p:cNvSpPr/>
          <p:nvPr/>
        </p:nvSpPr>
        <p:spPr>
          <a:xfrm>
            <a:off x="685800" y="4318992"/>
            <a:ext cx="8860536" cy="219075"/>
          </a:xfrm>
          <a:prstGeom prst="rect">
            <a:avLst/>
          </a:prstGeom>
          <a:noFill/>
          <a:ln/>
        </p:spPr>
        <p:txBody>
          <a:bodyPr wrap="square" lIns="0" tIns="0" rIns="0" bIns="0" rtlCol="0" anchor="t"/>
          <a:lstStyle/>
          <a:p>
            <a:pPr marL="0" indent="0" algn="l">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Subject-Level Data Splits (No Within-Subject Leakage)</a:t>
            </a:r>
            <a:endParaRPr lang="en-US" sz="1500" dirty="0"/>
          </a:p>
        </p:txBody>
      </p:sp>
      <p:sp>
        <p:nvSpPr>
          <p:cNvPr id="8" name="Text 6"/>
          <p:cNvSpPr/>
          <p:nvPr/>
        </p:nvSpPr>
        <p:spPr>
          <a:xfrm>
            <a:off x="685800" y="4576167"/>
            <a:ext cx="8686800" cy="796379"/>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Training: 24 subjects (11,736 windows)</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Validation: 5 subjects (2,725 windows)</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Test: 6 subjects (2,822 windows)  [never seen during training or hyperparameter selection]</a:t>
            </a:r>
            <a:endParaRPr lang="en-US" sz="1400" dirty="0"/>
          </a:p>
        </p:txBody>
      </p:sp>
      <p:sp>
        <p:nvSpPr>
          <p:cNvPr id="9" name="Text 7"/>
          <p:cNvSpPr/>
          <p:nvPr/>
        </p:nvSpPr>
        <p:spPr>
          <a:xfrm>
            <a:off x="685800" y="5474047"/>
            <a:ext cx="8860536" cy="219075"/>
          </a:xfrm>
          <a:prstGeom prst="rect">
            <a:avLst/>
          </a:prstGeom>
          <a:noFill/>
          <a:ln/>
        </p:spPr>
        <p:txBody>
          <a:bodyPr wrap="square" lIns="0" tIns="0" rIns="0" bIns="0" rtlCol="0" anchor="t"/>
          <a:lstStyle/>
          <a:p>
            <a:pPr marL="0" indent="0" algn="l">
              <a:spcBef>
                <a:spcPts val="800"/>
              </a:spcBef>
              <a:spcAft>
                <a:spcPts val="300"/>
              </a:spcAft>
              <a:buNone/>
            </a:pPr>
            <a:r>
              <a:rPr lang="en-US" sz="1500" b="1" dirty="0">
                <a:solidFill>
                  <a:srgbClr val="000000"/>
                </a:solidFill>
                <a:latin typeface="Times New Roman" pitchFamily="34" charset="0"/>
                <a:ea typeface="Times New Roman" pitchFamily="34" charset="-122"/>
                <a:cs typeface="Times New Roman" pitchFamily="34" charset="-120"/>
              </a:rPr>
              <a:t>Phase-Amplitude Coupling (PAC) Computation</a:t>
            </a:r>
            <a:endParaRPr lang="en-US" sz="1500" dirty="0"/>
          </a:p>
        </p:txBody>
      </p:sp>
      <p:sp>
        <p:nvSpPr>
          <p:cNvPr id="10" name="Text 8"/>
          <p:cNvSpPr/>
          <p:nvPr/>
        </p:nvSpPr>
        <p:spPr>
          <a:xfrm>
            <a:off x="685800" y="5731222"/>
            <a:ext cx="8686800" cy="1314599"/>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Modulation Index (Tort et al., 2010): measures coordination between theta phase (4–8 Hz) and gamma amplitude (38–42 Hz)</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KL divergence from uniform distribution over 18 phase bins (20° each)</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Computed at epoch level (20–40 s); assigned to all constituent 2-second windows within each epoch</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Range: 6e-6 to 7e-4 (dimensionless MI units); mean approx. 4.4e-5</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33400"/>
            <a:ext cx="8860536" cy="209550"/>
          </a:xfrm>
          <a:prstGeom prst="rect">
            <a:avLst/>
          </a:prstGeom>
          <a:noFill/>
          <a:ln/>
        </p:spPr>
        <p:txBody>
          <a:bodyPr wrap="square" lIns="0" tIns="0" rIns="0" bIns="0" rtlCol="0" anchor="t"/>
          <a:lstStyle/>
          <a:p>
            <a:pPr marL="0" indent="0" algn="l">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Feature Engineering: PAC + Stimulation Context (12 Features)</a:t>
            </a:r>
            <a:endParaRPr lang="en-US" sz="1400" dirty="0"/>
          </a:p>
        </p:txBody>
      </p:sp>
      <p:sp>
        <p:nvSpPr>
          <p:cNvPr id="3" name="Text 1"/>
          <p:cNvSpPr/>
          <p:nvPr/>
        </p:nvSpPr>
        <p:spPr>
          <a:xfrm>
            <a:off x="685800" y="768251"/>
            <a:ext cx="8860536" cy="857845"/>
          </a:xfrm>
          <a:prstGeom prst="rect">
            <a:avLst/>
          </a:prstGeom>
          <a:noFill/>
          <a:ln/>
        </p:spPr>
        <p:txBody>
          <a:bodyPr wrap="square" lIns="0" tIns="0" rIns="0" bIns="0" rtlCol="0" anchor="t"/>
          <a:lstStyle/>
          <a:p>
            <a:pPr marL="0" indent="0" algn="l">
              <a:lnSpc>
                <a:spcPts val="1690"/>
              </a:lnSpc>
              <a:spcBef>
                <a:spcPts val="200"/>
              </a:spcBef>
              <a:spcAft>
                <a:spcPts val="400"/>
              </a:spcAft>
              <a:buNone/>
            </a:pPr>
            <a:r>
              <a:rPr lang="en-US" sz="1300" dirty="0">
                <a:solidFill>
                  <a:srgbClr val="000000"/>
                </a:solidFill>
                <a:latin typeface="Times New Roman" pitchFamily="34" charset="0"/>
                <a:ea typeface="Times New Roman" pitchFamily="34" charset="-122"/>
                <a:cs typeface="Times New Roman" pitchFamily="34" charset="-120"/>
              </a:rPr>
              <a:t>A feature ablation study revealed that 61 spectral features encode subject-specific EEG anatomy (skull thickness, electrode impedance, individual oscillation profiles) that does not generalize across subjects. Dropping all spectral features and using only 12 PAC-derived and stimulation context features raised test R² from −0.025 (73 features) to 0.558 (12 features, single seed). The 5-seed mean is R² = 0.606 ± 0.032, a 5× improvement over the prior TCN best of 0.121.</a:t>
            </a:r>
            <a:endParaRPr lang="en-US" sz="1300" dirty="0"/>
          </a:p>
        </p:txBody>
      </p:sp>
      <p:sp>
        <p:nvSpPr>
          <p:cNvPr id="4" name="Text 2"/>
          <p:cNvSpPr/>
          <p:nvPr/>
        </p:nvSpPr>
        <p:spPr>
          <a:xfrm>
            <a:off x="685800" y="3374231"/>
            <a:ext cx="8860536" cy="164902"/>
          </a:xfrm>
          <a:prstGeom prst="rect">
            <a:avLst/>
          </a:prstGeom>
          <a:noFill/>
          <a:ln/>
        </p:spPr>
        <p:txBody>
          <a:bodyPr wrap="square" lIns="0" tIns="0" rIns="0" bIns="0" rtlCol="0" anchor="t"/>
          <a:lstStyle/>
          <a:p>
            <a:pPr marL="0" indent="0" algn="l">
              <a:lnSpc>
                <a:spcPts val="1300"/>
              </a:lnSpc>
              <a:spcBef>
                <a:spcPts val="200"/>
              </a:spcBef>
              <a:spcAft>
                <a:spcPts val="200"/>
              </a:spcAft>
              <a:buNone/>
            </a:pPr>
            <a:r>
              <a:rPr lang="en-US" sz="1000" i="1" dirty="0">
                <a:solidFill>
                  <a:srgbClr val="646464"/>
                </a:solidFill>
                <a:latin typeface="Times New Roman" pitchFamily="34" charset="0"/>
                <a:ea typeface="Times New Roman" pitchFamily="34" charset="-122"/>
                <a:cs typeface="Times New Roman" pitchFamily="34" charset="-120"/>
              </a:rPr>
              <a:t>*Single-seed ablation result. 5-seed mean: R² = 0.606 ± 0.032 (see Results, Table 3).</a:t>
            </a:r>
            <a:endParaRPr lang="en-US" sz="1000" dirty="0"/>
          </a:p>
        </p:txBody>
      </p:sp>
      <p:sp>
        <p:nvSpPr>
          <p:cNvPr id="5" name="Text 3"/>
          <p:cNvSpPr/>
          <p:nvPr/>
        </p:nvSpPr>
        <p:spPr>
          <a:xfrm>
            <a:off x="685800" y="3701951"/>
            <a:ext cx="8860536" cy="643384"/>
          </a:xfrm>
          <a:prstGeom prst="rect">
            <a:avLst/>
          </a:prstGeom>
          <a:noFill/>
          <a:ln/>
        </p:spPr>
        <p:txBody>
          <a:bodyPr wrap="square" lIns="0" tIns="0" rIns="0" bIns="0" rtlCol="0" anchor="t"/>
          <a:lstStyle/>
          <a:p>
            <a:pPr marL="0" indent="0" algn="l">
              <a:lnSpc>
                <a:spcPts val="1690"/>
              </a:lnSpc>
              <a:spcBef>
                <a:spcPts val="200"/>
              </a:spcBef>
              <a:spcAft>
                <a:spcPts val="400"/>
              </a:spcAft>
              <a:buNone/>
            </a:pPr>
            <a:r>
              <a:rPr lang="en-US" sz="1300" dirty="0">
                <a:solidFill>
                  <a:srgbClr val="000000"/>
                </a:solidFill>
                <a:latin typeface="Times New Roman" pitchFamily="34" charset="0"/>
                <a:ea typeface="Times New Roman" pitchFamily="34" charset="-122"/>
                <a:cs typeface="Times New Roman" pitchFamily="34" charset="-120"/>
              </a:rPr>
              <a:t>The 12 PAC+Stim features: PAC current value, causal moving averages (2, 4, 8, 16 windows), first-order and 4-step differences, stim state (binary), time since switch, stim fraction over 20 s, cycle phase (sin + cos encoding). All strictly causal. Z-score normalized on training set only.</a:t>
            </a:r>
            <a:endParaRPr lang="en-US" sz="1300" dirty="0"/>
          </a:p>
        </p:txBody>
      </p:sp>
      <p:sp>
        <p:nvSpPr>
          <p:cNvPr id="6" name="Text 4"/>
          <p:cNvSpPr/>
          <p:nvPr/>
        </p:nvSpPr>
        <p:spPr>
          <a:xfrm>
            <a:off x="685800" y="4421535"/>
            <a:ext cx="8860536" cy="209550"/>
          </a:xfrm>
          <a:prstGeom prst="rect">
            <a:avLst/>
          </a:prstGeom>
          <a:noFill/>
          <a:ln/>
        </p:spPr>
        <p:txBody>
          <a:bodyPr wrap="square" lIns="0" tIns="0" rIns="0" bIns="0" rtlCol="0" anchor="t"/>
          <a:lstStyle/>
          <a:p>
            <a:pPr marL="0" indent="0" algn="l">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Stage 1: EEGNet (Static PAC Estimator)</a:t>
            </a:r>
            <a:endParaRPr lang="en-US" sz="1400" dirty="0"/>
          </a:p>
        </p:txBody>
      </p:sp>
      <p:sp>
        <p:nvSpPr>
          <p:cNvPr id="7" name="Text 5"/>
          <p:cNvSpPr/>
          <p:nvPr/>
        </p:nvSpPr>
        <p:spPr>
          <a:xfrm>
            <a:off x="685800" y="4656385"/>
            <a:ext cx="8686800" cy="933748"/>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Input: (batch, 1, 7, 500) — 7 channels, 2 seconds at 250 Hz</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Block 1: temporal conv (8 filters, 256 ms kernel) + depthwise spatial conv across 7 channels</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Block 2: separable conv (16 filters); FC regression head outputting scalar PAC prediction</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1,457 parameters; MSE loss; Adam optimizer; test R² = 0.287 (data-imposed ceiling; best epoch 53)</a:t>
            </a:r>
            <a:endParaRPr lang="en-US" sz="1300" dirty="0"/>
          </a:p>
        </p:txBody>
      </p:sp>
      <p:sp>
        <p:nvSpPr>
          <p:cNvPr id="8" name="Text 6"/>
          <p:cNvSpPr/>
          <p:nvPr/>
        </p:nvSpPr>
        <p:spPr>
          <a:xfrm>
            <a:off x="685800" y="5666333"/>
            <a:ext cx="8860536" cy="209550"/>
          </a:xfrm>
          <a:prstGeom prst="rect">
            <a:avLst/>
          </a:prstGeom>
          <a:noFill/>
          <a:ln/>
        </p:spPr>
        <p:txBody>
          <a:bodyPr wrap="square" lIns="0" tIns="0" rIns="0" bIns="0" rtlCol="0" anchor="t"/>
          <a:lstStyle/>
          <a:p>
            <a:pPr marL="0" indent="0" algn="l">
              <a:spcBef>
                <a:spcPts val="6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Stage 2: MultiscaleCausalTCN (Temporal Forecasting)</a:t>
            </a:r>
            <a:endParaRPr lang="en-US" sz="1400" dirty="0"/>
          </a:p>
        </p:txBody>
      </p:sp>
      <p:sp>
        <p:nvSpPr>
          <p:cNvPr id="9" name="Text 7"/>
          <p:cNvSpPr/>
          <p:nvPr/>
        </p:nvSpPr>
        <p:spPr>
          <a:xfrm>
            <a:off x="685800" y="5901184"/>
            <a:ext cx="8686800" cy="1173510"/>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Input: (batch, 20, 12) — 20-step lookback (20 s) × 12 PAC+Stim features</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4 causal depthwise-separable conv blocks with dilations [1, 2, 4, 8]; receptive field = 31 steps</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GroupNorm + SiLU activation; attention pooling; dual-head output (future PAC + delta-PAC)</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22,914 params (h = 64); Huber loss; AdamW; early stopping (patience = 20 epochs)</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5 s horizon; test R² = 0.606 (7ch, 5-seed mean 0.606 ± 0.032, range 0.558–0.647); 4ch: 0.430</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751898873"/>
              </p:ext>
            </p:extLst>
          </p:nvPr>
        </p:nvGraphicFramePr>
        <p:xfrm>
          <a:off x="685800" y="1788913"/>
          <a:ext cx="7670751" cy="1524000"/>
        </p:xfrm>
        <a:graphic>
          <a:graphicData uri="http://schemas.openxmlformats.org/drawingml/2006/table">
            <a:tbl>
              <a:tblPr/>
              <a:tblGrid>
                <a:gridCol w="4109331">
                  <a:extLst>
                    <a:ext uri="{9D8B030D-6E8A-4147-A177-3AD203B41FA5}">
                      <a16:colId xmlns:a16="http://schemas.microsoft.com/office/drawing/2014/main" val="20000"/>
                    </a:ext>
                  </a:extLst>
                </a:gridCol>
                <a:gridCol w="1643732">
                  <a:extLst>
                    <a:ext uri="{9D8B030D-6E8A-4147-A177-3AD203B41FA5}">
                      <a16:colId xmlns:a16="http://schemas.microsoft.com/office/drawing/2014/main" val="20001"/>
                    </a:ext>
                  </a:extLst>
                </a:gridCol>
                <a:gridCol w="1917688">
                  <a:extLst>
                    <a:ext uri="{9D8B030D-6E8A-4147-A177-3AD203B41FA5}">
                      <a16:colId xmlns:a16="http://schemas.microsoft.com/office/drawing/2014/main" val="20002"/>
                    </a:ext>
                  </a:extLst>
                </a:gridCol>
              </a:tblGrid>
              <a:tr h="274320">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Feature Subset</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 Features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Test R²</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extLst>
                  <a:ext uri="{0D108BD9-81ED-4DB2-BD59-A6C34878D82A}">
                    <a16:rowId xmlns:a16="http://schemas.microsoft.com/office/drawing/2014/main" val="10000"/>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All (spectral + PAC + stim)</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73</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−0.025</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PAC only</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0.344</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74320">
                <a:tc>
                  <a:txBody>
                    <a:bodyPr/>
                    <a:lstStyle/>
                    <a:p>
                      <a:pPr marL="0" indent="0" algn="l">
                        <a:buNone/>
                      </a:pPr>
                      <a:r>
                        <a:rPr lang="en-US" sz="1400" b="1" dirty="0">
                          <a:solidFill>
                            <a:srgbClr val="000000"/>
                          </a:solidFill>
                          <a:latin typeface="Times New Roman" pitchFamily="34" charset="0"/>
                          <a:ea typeface="Times New Roman" pitchFamily="34" charset="-122"/>
                          <a:cs typeface="Times New Roman" pitchFamily="34" charset="-120"/>
                        </a:rPr>
                        <a:t>PAC + Stim context (final)</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12</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0.558*</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Spectral only</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61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−0.420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20601"/>
            <a:ext cx="8860536" cy="209550"/>
          </a:xfrm>
          <a:prstGeom prst="rect">
            <a:avLst/>
          </a:prstGeom>
          <a:noFill/>
          <a:ln/>
        </p:spPr>
        <p:txBody>
          <a:bodyPr wrap="square" lIns="0" tIns="0" rIns="0" bIns="0" rtlCol="0" anchor="t"/>
          <a:lstStyle/>
          <a:p>
            <a:pPr marL="0" indent="0" algn="l">
              <a:spcBef>
                <a:spcPts val="5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Closed-Loop Controller Design</a:t>
            </a:r>
            <a:endParaRPr lang="en-US" sz="1400" dirty="0"/>
          </a:p>
        </p:txBody>
      </p:sp>
      <p:sp>
        <p:nvSpPr>
          <p:cNvPr id="3" name="Text 1"/>
          <p:cNvSpPr/>
          <p:nvPr/>
        </p:nvSpPr>
        <p:spPr>
          <a:xfrm>
            <a:off x="685800" y="755452"/>
            <a:ext cx="8686800" cy="933748"/>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Personalization:</a:t>
            </a:r>
            <a:r>
              <a:rPr lang="en-US" sz="1300" dirty="0">
                <a:solidFill>
                  <a:srgbClr val="000000"/>
                </a:solidFill>
                <a:latin typeface="Times New Roman" pitchFamily="34" charset="0"/>
                <a:ea typeface="Times New Roman" pitchFamily="34" charset="-122"/>
                <a:cs typeface="Times New Roman" pitchFamily="34" charset="-120"/>
              </a:rPr>
              <a:t> 30-second rolling baseline per subject; z-score = (PAC − μ) / σ</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Decision logic:</a:t>
            </a:r>
            <a:r>
              <a:rPr lang="en-US" sz="1300" dirty="0">
                <a:solidFill>
                  <a:srgbClr val="000000"/>
                </a:solidFill>
                <a:latin typeface="Times New Roman" pitchFamily="34" charset="0"/>
                <a:ea typeface="Times New Roman" pitchFamily="34" charset="-122"/>
                <a:cs typeface="Times New Roman" pitchFamily="34" charset="-120"/>
              </a:rPr>
              <a:t> z &lt; −0.5 → STIMULATE; z &gt; +0.5 → REST; else MAINTAIN</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5-second hysteresis to prevent rapid state oscillation between states</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Variants tested:</a:t>
            </a:r>
            <a:r>
              <a:rPr lang="en-US" sz="1300" dirty="0">
                <a:solidFill>
                  <a:srgbClr val="000000"/>
                </a:solidFill>
                <a:latin typeface="Times New Roman" pitchFamily="34" charset="0"/>
                <a:ea typeface="Times New Roman" pitchFamily="34" charset="-122"/>
                <a:cs typeface="Times New Roman" pitchFamily="34" charset="-120"/>
              </a:rPr>
              <a:t> Fixed Schedule, Reactive Threshold, TCN Predictive, Hybrid, PI Controller, Alignment Oracle</a:t>
            </a:r>
            <a:endParaRPr lang="en-US" sz="1300" dirty="0"/>
          </a:p>
        </p:txBody>
      </p:sp>
      <p:sp>
        <p:nvSpPr>
          <p:cNvPr id="4" name="Text 2"/>
          <p:cNvSpPr/>
          <p:nvPr/>
        </p:nvSpPr>
        <p:spPr>
          <a:xfrm>
            <a:off x="685800" y="1752600"/>
            <a:ext cx="8860536" cy="209550"/>
          </a:xfrm>
          <a:prstGeom prst="rect">
            <a:avLst/>
          </a:prstGeom>
          <a:noFill/>
          <a:ln/>
        </p:spPr>
        <p:txBody>
          <a:bodyPr wrap="square" lIns="0" tIns="0" rIns="0" bIns="0" rtlCol="0" anchor="t"/>
          <a:lstStyle/>
          <a:p>
            <a:pPr marL="0" indent="0" algn="l">
              <a:spcBef>
                <a:spcPts val="500"/>
              </a:spcBef>
              <a:spcAft>
                <a:spcPts val="200"/>
              </a:spcAft>
              <a:buNone/>
            </a:pPr>
            <a:r>
              <a:rPr lang="en-US" sz="1400" b="1" dirty="0">
                <a:solidFill>
                  <a:srgbClr val="000000"/>
                </a:solidFill>
                <a:latin typeface="Times New Roman" pitchFamily="34" charset="0"/>
                <a:ea typeface="Times New Roman" pitchFamily="34" charset="-122"/>
                <a:cs typeface="Times New Roman" pitchFamily="34" charset="-120"/>
              </a:rPr>
              <a:t>Validation Protocol</a:t>
            </a:r>
            <a:endParaRPr lang="en-US" sz="1400" dirty="0"/>
          </a:p>
        </p:txBody>
      </p:sp>
      <p:sp>
        <p:nvSpPr>
          <p:cNvPr id="5" name="Text 3"/>
          <p:cNvSpPr/>
          <p:nvPr/>
        </p:nvSpPr>
        <p:spPr>
          <a:xfrm>
            <a:off x="685800" y="1987451"/>
            <a:ext cx="8686800" cy="933748"/>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Offline counterfactual replay</a:t>
            </a:r>
            <a:r>
              <a:rPr lang="en-US" sz="1300" dirty="0">
                <a:solidFill>
                  <a:srgbClr val="000000"/>
                </a:solidFill>
                <a:latin typeface="Times New Roman" pitchFamily="34" charset="0"/>
                <a:ea typeface="Times New Roman" pitchFamily="34" charset="-122"/>
                <a:cs typeface="Times New Roman" pitchFamily="34" charset="-120"/>
              </a:rPr>
              <a:t> on all 35 subjects’ recorded EEG</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Ground-truth PAC labels used as TCN input to isolate forecaster’s contribution from EEGNet error</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Metrics:</a:t>
            </a:r>
            <a:r>
              <a:rPr lang="en-US" sz="1300" dirty="0">
                <a:solidFill>
                  <a:srgbClr val="000000"/>
                </a:solidFill>
                <a:latin typeface="Times New Roman" pitchFamily="34" charset="0"/>
                <a:ea typeface="Times New Roman" pitchFamily="34" charset="-122"/>
                <a:cs typeface="Times New Roman" pitchFamily="34" charset="-120"/>
              </a:rPr>
              <a:t> Alignment = mean of Low-PAC Stim Rate and High-PAC Rest Rate; PAC Targeting Gap</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Statistics:</a:t>
            </a:r>
            <a:r>
              <a:rPr lang="en-US" sz="1300" dirty="0">
                <a:solidFill>
                  <a:srgbClr val="000000"/>
                </a:solidFill>
                <a:latin typeface="Times New Roman" pitchFamily="34" charset="0"/>
                <a:ea typeface="Times New Roman" pitchFamily="34" charset="-122"/>
                <a:cs typeface="Times New Roman" pitchFamily="34" charset="-120"/>
              </a:rPr>
              <a:t> Wilcoxon signed-rank (paired, N = 35); Hedges’ g with 95% BCa bootstrap CIs (10,000 iterations)</a:t>
            </a:r>
            <a:endParaRPr lang="en-US" sz="1300" dirty="0"/>
          </a:p>
        </p:txBody>
      </p:sp>
      <p:sp>
        <p:nvSpPr>
          <p:cNvPr id="7" name="Text 4"/>
          <p:cNvSpPr/>
          <p:nvPr/>
        </p:nvSpPr>
        <p:spPr>
          <a:xfrm>
            <a:off x="685800" y="5664101"/>
            <a:ext cx="8860536" cy="494705"/>
          </a:xfrm>
          <a:prstGeom prst="rect">
            <a:avLst/>
          </a:prstGeom>
          <a:noFill/>
          <a:ln/>
        </p:spPr>
        <p:txBody>
          <a:bodyPr wrap="square" lIns="0" tIns="0" rIns="0" bIns="0" rtlCol="0" anchor="t"/>
          <a:lstStyle/>
          <a:p>
            <a:pPr marL="0" indent="0" algn="l">
              <a:lnSpc>
                <a:spcPts val="1300"/>
              </a:lnSpc>
              <a:spcBef>
                <a:spcPts val="200"/>
              </a:spcBef>
              <a:spcAft>
                <a:spcPts val="200"/>
              </a:spcAft>
              <a:buNone/>
            </a:pPr>
            <a:r>
              <a:rPr lang="en-US" sz="1000" i="1" dirty="0">
                <a:solidFill>
                  <a:srgbClr val="646464"/>
                </a:solidFill>
                <a:latin typeface="Times New Roman" pitchFamily="34" charset="0"/>
                <a:ea typeface="Times New Roman" pitchFamily="34" charset="-122"/>
                <a:cs typeface="Times New Roman" pitchFamily="34" charset="-120"/>
              </a:rPr>
              <a:t>Figure 1. System architecture: Raw EEG from 7 frontal channels flows through signal processing, EEGNet PAC estimation, 12-feature PAC+Stim engineering, causal TCN forecasting (5 s horizon), and an adaptive controller driving personalized 40 Hz auditory stimulation. Dashed arrow indicates closed-loop feedback. (Diagram created by the author.)</a:t>
            </a:r>
            <a:endParaRPr lang="en-US" sz="1000" dirty="0"/>
          </a:p>
        </p:txBody>
      </p:sp>
      <p:pic>
        <p:nvPicPr>
          <p:cNvPr id="8" name="Picture 7">
            <a:extLst>
              <a:ext uri="{FF2B5EF4-FFF2-40B4-BE49-F238E27FC236}">
                <a16:creationId xmlns:a16="http://schemas.microsoft.com/office/drawing/2014/main" id="{5A40C112-8BB8-684A-044F-CC690D79BA27}"/>
              </a:ext>
            </a:extLst>
          </p:cNvPr>
          <p:cNvPicPr>
            <a:picLocks noChangeAspect="1"/>
          </p:cNvPicPr>
          <p:nvPr/>
        </p:nvPicPr>
        <p:blipFill>
          <a:blip r:embed="rId3"/>
          <a:stretch>
            <a:fillRect/>
          </a:stretch>
        </p:blipFill>
        <p:spPr>
          <a:xfrm>
            <a:off x="1928960" y="3064728"/>
            <a:ext cx="6200480" cy="25993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marL="0" indent="0" algn="l">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Results</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Architecture Search: The R² = 0.287 Static Ceiling</a:t>
            </a:r>
            <a:endParaRPr lang="en-US" sz="1700" dirty="0"/>
          </a:p>
        </p:txBody>
      </p:sp>
      <p:sp>
        <p:nvSpPr>
          <p:cNvPr id="4" name="Text 2"/>
          <p:cNvSpPr/>
          <p:nvPr/>
        </p:nvSpPr>
        <p:spPr>
          <a:xfrm>
            <a:off x="685800" y="1498253"/>
            <a:ext cx="8860536" cy="960239"/>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Eight neural network architectures (1,457 to 1.1 M parameters) were tested for static PAC prediction from 2-second EEG snapshots. All converged to R² ≈ 0.287. This data-imposed ceiling showed that epoch-level PAC cannot be recovered from instantaneous windows. This finding redirected the project toward temporal forecasting. The bottleneck was in the features.</a:t>
            </a:r>
            <a:endParaRPr lang="en-US" sz="1400" dirty="0"/>
          </a:p>
        </p:txBody>
      </p:sp>
      <p:sp>
        <p:nvSpPr>
          <p:cNvPr id="5" name="Text 3"/>
          <p:cNvSpPr/>
          <p:nvPr/>
        </p:nvSpPr>
        <p:spPr>
          <a:xfrm>
            <a:off x="685800" y="2610892"/>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Horizon Sweep: PAC+Stim TCN vs. Baselines</a:t>
            </a:r>
            <a:endParaRPr lang="en-US" sz="1700" dirty="0"/>
          </a:p>
        </p:txBody>
      </p:sp>
      <p:sp>
        <p:nvSpPr>
          <p:cNvPr id="6" name="Text 4"/>
          <p:cNvSpPr/>
          <p:nvPr/>
        </p:nvSpPr>
        <p:spPr>
          <a:xfrm>
            <a:off x="685800" y="2909292"/>
            <a:ext cx="8860536" cy="480120"/>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TCN models trained on 12 PAC+Stim features at horizons 1–10 s (PAC+Stim features only). An inflection point emerges at ≈3 s where persistence collapses but the TCN maintains strong R²:</a:t>
            </a:r>
            <a:endParaRPr lang="en-US" sz="1400" dirty="0"/>
          </a:p>
        </p:txBody>
      </p:sp>
      <p:sp>
        <p:nvSpPr>
          <p:cNvPr id="7" name="Text 5"/>
          <p:cNvSpPr/>
          <p:nvPr/>
        </p:nvSpPr>
        <p:spPr>
          <a:xfrm>
            <a:off x="685800" y="5573762"/>
            <a:ext cx="8860536" cy="565696"/>
          </a:xfrm>
          <a:prstGeom prst="rect">
            <a:avLst/>
          </a:prstGeom>
          <a:noFill/>
          <a:ln/>
        </p:spPr>
        <p:txBody>
          <a:bodyPr wrap="square" lIns="0" tIns="0" rIns="0" bIns="0" rtlCol="0" anchor="t"/>
          <a:lstStyle/>
          <a:p>
            <a:pPr marL="0" indent="0" algn="l">
              <a:lnSpc>
                <a:spcPts val="1485"/>
              </a:lnSpc>
              <a:spcBef>
                <a:spcPts val="400"/>
              </a:spcBef>
              <a:spcAft>
                <a:spcPts val="400"/>
              </a:spcAft>
              <a:buNone/>
            </a:pPr>
            <a:r>
              <a:rPr lang="en-US" sz="1100" i="1" dirty="0">
                <a:solidFill>
                  <a:srgbClr val="646464"/>
                </a:solidFill>
                <a:latin typeface="Times New Roman" pitchFamily="34" charset="0"/>
                <a:ea typeface="Times New Roman" pitchFamily="34" charset="-122"/>
                <a:cs typeface="Times New Roman" pitchFamily="34" charset="-120"/>
              </a:rPr>
              <a:t>Table 1. PAC+Stim TCN horizon sweep (single seed). At 1 s, persistence is competitive. At 3–10 s, persistence collapses while the TCN (7ch) maintains R² = 0.37–0.67 — the operationally actionable regime for proactive neuromodulation. Multi-seed 5-seed mean at horizon 5: R² = 0.606 ± 0.032, range 0.558–0.647.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3465612"/>
          <a:ext cx="8686798" cy="1828800"/>
        </p:xfrm>
        <a:graphic>
          <a:graphicData uri="http://schemas.openxmlformats.org/drawingml/2006/table">
            <a:tbl>
              <a:tblPr/>
              <a:tblGrid>
                <a:gridCol w="1120877">
                  <a:extLst>
                    <a:ext uri="{9D8B030D-6E8A-4147-A177-3AD203B41FA5}">
                      <a16:colId xmlns:a16="http://schemas.microsoft.com/office/drawing/2014/main" val="20000"/>
                    </a:ext>
                  </a:extLst>
                </a:gridCol>
                <a:gridCol w="1961535">
                  <a:extLst>
                    <a:ext uri="{9D8B030D-6E8A-4147-A177-3AD203B41FA5}">
                      <a16:colId xmlns:a16="http://schemas.microsoft.com/office/drawing/2014/main" val="20001"/>
                    </a:ext>
                  </a:extLst>
                </a:gridCol>
                <a:gridCol w="1961535">
                  <a:extLst>
                    <a:ext uri="{9D8B030D-6E8A-4147-A177-3AD203B41FA5}">
                      <a16:colId xmlns:a16="http://schemas.microsoft.com/office/drawing/2014/main" val="20002"/>
                    </a:ext>
                  </a:extLst>
                </a:gridCol>
                <a:gridCol w="1961535">
                  <a:extLst>
                    <a:ext uri="{9D8B030D-6E8A-4147-A177-3AD203B41FA5}">
                      <a16:colId xmlns:a16="http://schemas.microsoft.com/office/drawing/2014/main" val="20003"/>
                    </a:ext>
                  </a:extLst>
                </a:gridCol>
                <a:gridCol w="1681316">
                  <a:extLst>
                    <a:ext uri="{9D8B030D-6E8A-4147-A177-3AD203B41FA5}">
                      <a16:colId xmlns:a16="http://schemas.microsoft.com/office/drawing/2014/main" val="20004"/>
                    </a:ext>
                  </a:extLst>
                </a:gridCol>
              </a:tblGrid>
              <a:tr h="274320">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Horizon</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Persistence R²</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TCN R² (7ch)</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TCN R² (4ch)</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TCN Margin</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extLst>
                  <a:ext uri="{0D108BD9-81ED-4DB2-BD59-A6C34878D82A}">
                    <a16:rowId xmlns:a16="http://schemas.microsoft.com/office/drawing/2014/main" val="10000"/>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1 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0.726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0.725</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0.642</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−0.001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3 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0.178</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0.607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0.391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+0.429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5 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0.104</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0.577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0.398</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+0.473</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8 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−0.007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0.370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0.419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+0.377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10 s</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−0.081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0.669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0.387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+0.750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07950"/>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Controller Comparison (N = 35 Subjects, Real EEG)</a:t>
            </a:r>
            <a:endParaRPr lang="en-US" sz="1500" dirty="0"/>
          </a:p>
        </p:txBody>
      </p:sp>
      <p:sp>
        <p:nvSpPr>
          <p:cNvPr id="3" name="Text 1"/>
          <p:cNvSpPr/>
          <p:nvPr/>
        </p:nvSpPr>
        <p:spPr>
          <a:xfrm>
            <a:off x="685800" y="2349714"/>
            <a:ext cx="8860536" cy="158651"/>
          </a:xfrm>
          <a:prstGeom prst="rect">
            <a:avLst/>
          </a:prstGeom>
          <a:noFill/>
          <a:ln/>
        </p:spPr>
        <p:txBody>
          <a:bodyPr wrap="square" lIns="0" tIns="0" rIns="0" bIns="0" rtlCol="0" anchor="t"/>
          <a:lstStyle/>
          <a:p>
            <a:pPr marL="0" indent="0" algn="l">
              <a:lnSpc>
                <a:spcPts val="1250"/>
              </a:lnSpc>
              <a:spcBef>
                <a:spcPts val="100"/>
              </a:spcBef>
              <a:spcAft>
                <a:spcPts val="100"/>
              </a:spcAft>
              <a:buNone/>
            </a:pPr>
            <a:r>
              <a:rPr lang="en-US" sz="1000" i="1" dirty="0">
                <a:solidFill>
                  <a:srgbClr val="646464"/>
                </a:solidFill>
                <a:latin typeface="Times New Roman" pitchFamily="34" charset="0"/>
                <a:ea typeface="Times New Roman" pitchFamily="34" charset="-122"/>
                <a:cs typeface="Times New Roman" pitchFamily="34" charset="-120"/>
              </a:rPr>
              <a:t>Table 2. Controller comparison on 35 subjects’ real EEG. PAC Gap in x10^-6 MI units. TCN Predictive reaches 91% of oracle.</a:t>
            </a:r>
            <a:endParaRPr lang="en-US" sz="1000" dirty="0"/>
          </a:p>
        </p:txBody>
      </p:sp>
      <p:sp>
        <p:nvSpPr>
          <p:cNvPr id="4" name="Text 2"/>
          <p:cNvSpPr/>
          <p:nvPr/>
        </p:nvSpPr>
        <p:spPr>
          <a:xfrm>
            <a:off x="685800" y="2670259"/>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Multi-Seed Robustness (7ch, horizon = 5 s)</a:t>
            </a:r>
            <a:endParaRPr lang="en-US" sz="1500" dirty="0"/>
          </a:p>
        </p:txBody>
      </p:sp>
      <p:sp>
        <p:nvSpPr>
          <p:cNvPr id="5" name="Text 3"/>
          <p:cNvSpPr/>
          <p:nvPr/>
        </p:nvSpPr>
        <p:spPr>
          <a:xfrm>
            <a:off x="685800" y="2914635"/>
            <a:ext cx="8860536" cy="190500"/>
          </a:xfrm>
          <a:prstGeom prst="rect">
            <a:avLst/>
          </a:prstGeom>
          <a:noFill/>
          <a:ln/>
        </p:spPr>
        <p:txBody>
          <a:bodyPr wrap="square" lIns="0" tIns="0" rIns="0" bIns="0" rtlCol="0" anchor="t"/>
          <a:lstStyle/>
          <a:p>
            <a:pPr marL="0" indent="0" algn="l">
              <a:lnSpc>
                <a:spcPts val="1500"/>
              </a:lnSpc>
              <a:spcBef>
                <a:spcPts val="100"/>
              </a:spcBef>
              <a:spcAft>
                <a:spcPts val="300"/>
              </a:spcAft>
              <a:buNone/>
            </a:pPr>
            <a:r>
              <a:rPr lang="en-US" sz="1200" dirty="0">
                <a:solidFill>
                  <a:srgbClr val="000000"/>
                </a:solidFill>
                <a:latin typeface="Times New Roman" pitchFamily="34" charset="0"/>
                <a:ea typeface="Times New Roman" pitchFamily="34" charset="-122"/>
                <a:cs typeface="Times New Roman" pitchFamily="34" charset="-120"/>
              </a:rPr>
              <a:t>Validated across 5 random seeds (h = 64 TCN, PAC+Stim features):</a:t>
            </a:r>
            <a:endParaRPr lang="en-US" sz="1200" dirty="0"/>
          </a:p>
        </p:txBody>
      </p:sp>
      <p:sp>
        <p:nvSpPr>
          <p:cNvPr id="6" name="Text 4"/>
          <p:cNvSpPr/>
          <p:nvPr/>
        </p:nvSpPr>
        <p:spPr>
          <a:xfrm>
            <a:off x="685800" y="5689416"/>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Statistical Significance (TCN vs. Reactive Threshold)</a:t>
            </a:r>
            <a:endParaRPr lang="en-US" sz="1500" dirty="0"/>
          </a:p>
        </p:txBody>
      </p:sp>
      <p:sp>
        <p:nvSpPr>
          <p:cNvPr id="7" name="Text 5"/>
          <p:cNvSpPr/>
          <p:nvPr/>
        </p:nvSpPr>
        <p:spPr>
          <a:xfrm>
            <a:off x="685800" y="5933791"/>
            <a:ext cx="8686800" cy="1003102"/>
          </a:xfrm>
          <a:prstGeom prst="rect">
            <a:avLst/>
          </a:prstGeom>
          <a:noFill/>
          <a:ln/>
        </p:spPr>
        <p:txBody>
          <a:bodyPr wrap="square" lIns="101600" tIns="0" rIns="0" bIns="0" rtlCol="0" anchor="t"/>
          <a:lstStyle/>
          <a:p>
            <a:pPr marL="101600" indent="-101600" algn="l">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Alignment:</a:t>
            </a:r>
            <a:r>
              <a:rPr lang="en-US" sz="1200" dirty="0">
                <a:solidFill>
                  <a:srgbClr val="000000"/>
                </a:solidFill>
                <a:latin typeface="Times New Roman" pitchFamily="34" charset="0"/>
                <a:ea typeface="Times New Roman" pitchFamily="34" charset="-122"/>
                <a:cs typeface="Times New Roman" pitchFamily="34" charset="-120"/>
              </a:rPr>
              <a:t> 72.1% vs. 64.5% — g = +1.31 [0.75, 1.87], p &lt; 0.001 (large effect)</a:t>
            </a:r>
            <a:endParaRPr lang="en-US" sz="1200" dirty="0"/>
          </a:p>
          <a:p>
            <a:pPr marL="101600" indent="-101600" algn="l">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Low-PAC Stim Rate:</a:t>
            </a:r>
            <a:r>
              <a:rPr lang="en-US" sz="1200" dirty="0">
                <a:solidFill>
                  <a:srgbClr val="000000"/>
                </a:solidFill>
                <a:latin typeface="Times New Roman" pitchFamily="34" charset="0"/>
                <a:ea typeface="Times New Roman" pitchFamily="34" charset="-122"/>
                <a:cs typeface="Times New Roman" pitchFamily="34" charset="-120"/>
              </a:rPr>
              <a:t> 82.6% vs. 51.7% — g = +4.47 [3.33, 5.62], p &lt; 0.001 (very large)</a:t>
            </a:r>
            <a:endParaRPr lang="en-US" sz="1200" dirty="0"/>
          </a:p>
          <a:p>
            <a:pPr marL="101600" indent="-101600" algn="l">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PAC Targeting Gap:</a:t>
            </a:r>
            <a:r>
              <a:rPr lang="en-US" sz="1200" dirty="0">
                <a:solidFill>
                  <a:srgbClr val="000000"/>
                </a:solidFill>
                <a:latin typeface="Times New Roman" pitchFamily="34" charset="0"/>
                <a:ea typeface="Times New Roman" pitchFamily="34" charset="-122"/>
                <a:cs typeface="Times New Roman" pitchFamily="34" charset="-120"/>
              </a:rPr>
              <a:t> 30.5 vs. 21.1 — g = +1.57 [0.98, 2.17], p &lt; 0.001 (large effect)</a:t>
            </a:r>
            <a:endParaRPr lang="en-US" sz="1200" dirty="0"/>
          </a:p>
          <a:p>
            <a:pPr marL="101600" indent="-101600" algn="l">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Universal benefit:</a:t>
            </a:r>
            <a:r>
              <a:rPr lang="en-US" sz="1200" dirty="0">
                <a:solidFill>
                  <a:srgbClr val="000000"/>
                </a:solidFill>
                <a:latin typeface="Times New Roman" pitchFamily="34" charset="0"/>
                <a:ea typeface="Times New Roman" pitchFamily="34" charset="-122"/>
                <a:cs typeface="Times New Roman" pitchFamily="34" charset="-120"/>
              </a:rPr>
              <a:t> 35/35 subjects showed higher alignment with TCN (binomial p &lt; 0.001)</a:t>
            </a:r>
            <a:endParaRPr lang="en-US" sz="1200" dirty="0"/>
          </a:p>
          <a:p>
            <a:pPr marL="101600" indent="-101600" algn="l">
              <a:lnSpc>
                <a:spcPts val="1500"/>
              </a:lnSpc>
              <a:spcAft>
                <a:spcPts val="100"/>
              </a:spcAft>
              <a:buSzPct val="100000"/>
              <a:buChar char="•"/>
            </a:pPr>
            <a:r>
              <a:rPr lang="en-US" sz="1200" b="1" dirty="0">
                <a:solidFill>
                  <a:srgbClr val="000000"/>
                </a:solidFill>
                <a:latin typeface="Times New Roman" pitchFamily="34" charset="0"/>
                <a:ea typeface="Times New Roman" pitchFamily="34" charset="-122"/>
                <a:cs typeface="Times New Roman" pitchFamily="34" charset="-120"/>
              </a:rPr>
              <a:t>Threshold robustness:</a:t>
            </a:r>
            <a:r>
              <a:rPr lang="en-US" sz="1200" dirty="0">
                <a:solidFill>
                  <a:srgbClr val="000000"/>
                </a:solidFill>
                <a:latin typeface="Times New Roman" pitchFamily="34" charset="0"/>
                <a:ea typeface="Times New Roman" pitchFamily="34" charset="-122"/>
                <a:cs typeface="Times New Roman" pitchFamily="34" charset="-120"/>
              </a:rPr>
              <a:t> TCN outperforms reactive at all z-score thresholds 0.2–1.0</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410668435"/>
              </p:ext>
            </p:extLst>
          </p:nvPr>
        </p:nvGraphicFramePr>
        <p:xfrm>
          <a:off x="685800" y="813063"/>
          <a:ext cx="8686801" cy="1524000"/>
        </p:xfrm>
        <a:graphic>
          <a:graphicData uri="http://schemas.openxmlformats.org/drawingml/2006/table">
            <a:tbl>
              <a:tblPr/>
              <a:tblGrid>
                <a:gridCol w="2481943">
                  <a:extLst>
                    <a:ext uri="{9D8B030D-6E8A-4147-A177-3AD203B41FA5}">
                      <a16:colId xmlns:a16="http://schemas.microsoft.com/office/drawing/2014/main" val="20000"/>
                    </a:ext>
                  </a:extLst>
                </a:gridCol>
                <a:gridCol w="1654629">
                  <a:extLst>
                    <a:ext uri="{9D8B030D-6E8A-4147-A177-3AD203B41FA5}">
                      <a16:colId xmlns:a16="http://schemas.microsoft.com/office/drawing/2014/main" val="20001"/>
                    </a:ext>
                  </a:extLst>
                </a:gridCol>
                <a:gridCol w="1758043">
                  <a:extLst>
                    <a:ext uri="{9D8B030D-6E8A-4147-A177-3AD203B41FA5}">
                      <a16:colId xmlns:a16="http://schemas.microsoft.com/office/drawing/2014/main" val="20002"/>
                    </a:ext>
                  </a:extLst>
                </a:gridCol>
                <a:gridCol w="1344386">
                  <a:extLst>
                    <a:ext uri="{9D8B030D-6E8A-4147-A177-3AD203B41FA5}">
                      <a16:colId xmlns:a16="http://schemas.microsoft.com/office/drawing/2014/main" val="20003"/>
                    </a:ext>
                  </a:extLst>
                </a:gridCol>
                <a:gridCol w="1447800">
                  <a:extLst>
                    <a:ext uri="{9D8B030D-6E8A-4147-A177-3AD203B41FA5}">
                      <a16:colId xmlns:a16="http://schemas.microsoft.com/office/drawing/2014/main" val="20004"/>
                    </a:ext>
                  </a:extLst>
                </a:gridCol>
              </a:tblGrid>
              <a:tr h="274320">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Controller</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Alignment</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Low-PAC Stim</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Stim %</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PAC Gap</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extLst>
                  <a:ext uri="{0D108BD9-81ED-4DB2-BD59-A6C34878D82A}">
                    <a16:rowId xmlns:a16="http://schemas.microsoft.com/office/drawing/2014/main" val="10000"/>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Fixed Schedule</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45.0%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61.4%</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66.6%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−6.6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Reactive Threshold</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64.5%</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51.7%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36.7%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+21.1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74320">
                <a:tc>
                  <a:txBody>
                    <a:bodyPr/>
                    <a:lstStyle/>
                    <a:p>
                      <a:pPr marL="0" indent="0" algn="l">
                        <a:buNone/>
                      </a:pPr>
                      <a:r>
                        <a:rPr lang="en-US" sz="1400" b="1" dirty="0">
                          <a:solidFill>
                            <a:srgbClr val="000000"/>
                          </a:solidFill>
                          <a:latin typeface="Times New Roman" pitchFamily="34" charset="0"/>
                          <a:ea typeface="Times New Roman" pitchFamily="34" charset="-122"/>
                          <a:cs typeface="Times New Roman" pitchFamily="34" charset="-120"/>
                        </a:rPr>
                        <a:t>TCN Predictive</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72.1%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82.6%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59.7%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+30.5</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Alignment Oracle</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100%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100%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48.3%</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+33.3</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891654927"/>
              </p:ext>
            </p:extLst>
          </p:nvPr>
        </p:nvGraphicFramePr>
        <p:xfrm>
          <a:off x="685800" y="3191173"/>
          <a:ext cx="6400800" cy="2133600"/>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74320">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Seed</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Val R²</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tc>
                  <a:txBody>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Test R²</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282828"/>
                    </a:solidFill>
                  </a:tcPr>
                </a:tc>
                <a:extLst>
                  <a:ext uri="{0D108BD9-81ED-4DB2-BD59-A6C34878D82A}">
                    <a16:rowId xmlns:a16="http://schemas.microsoft.com/office/drawing/2014/main" val="10000"/>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42</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0.804</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0.558</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123</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0.822</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0.620</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456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0.799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0.597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789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0.831</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0.608</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2743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2024</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0.846</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0.647</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400" b="1" dirty="0">
                          <a:solidFill>
                            <a:srgbClr val="000000"/>
                          </a:solidFill>
                          <a:latin typeface="Times New Roman" pitchFamily="34" charset="0"/>
                          <a:ea typeface="Times New Roman" pitchFamily="34" charset="-122"/>
                          <a:cs typeface="Times New Roman" pitchFamily="34" charset="-120"/>
                        </a:rPr>
                        <a:t>Mean ± Std</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0.820 ± 0.019</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tc>
                  <a:txBody>
                    <a:bodyP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0.606 ± 0.032</a:t>
                      </a:r>
                      <a:endParaRPr lang="en-US" sz="1400" dirty="0">
                        <a:latin typeface="Times New Roman" charset="0"/>
                        <a:ea typeface="Times New Roman" charset="0"/>
                        <a:cs typeface="Times New Roman" charset="0"/>
                      </a:endParaRPr>
                    </a:p>
                  </a:txBody>
                  <a:tcPr>
                    <a:lnL w="6350" cap="flat" cmpd="sng" algn="ctr">
                      <a:solidFill>
                        <a:srgbClr val="999999"/>
                      </a:solidFill>
                      <a:prstDash val="solid"/>
                      <a:round/>
                      <a:headEnd type="none" w="med" len="med"/>
                      <a:tailEnd type="none" w="med" len="med"/>
                    </a:lnL>
                    <a:lnR w="6350" cap="flat" cmpd="sng" algn="ctr">
                      <a:solidFill>
                        <a:srgbClr val="999999"/>
                      </a:solidFill>
                      <a:prstDash val="solid"/>
                      <a:round/>
                      <a:headEnd type="none" w="med" len="med"/>
                      <a:tailEnd type="none" w="med" len="med"/>
                    </a:lnR>
                    <a:lnT w="6350" cap="flat" cmpd="sng" algn="ctr">
                      <a:solidFill>
                        <a:srgbClr val="999999"/>
                      </a:solidFill>
                      <a:prstDash val="solid"/>
                      <a:round/>
                      <a:headEnd type="none" w="med" len="med"/>
                      <a:tailEnd type="none" w="med" len="med"/>
                    </a:lnT>
                    <a:lnB w="6350" cap="flat" cmpd="sng" algn="ctr">
                      <a:solidFill>
                        <a:srgbClr val="999999"/>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4277"/>
            <a:ext cx="8860536" cy="314325"/>
          </a:xfrm>
          <a:prstGeom prst="rect">
            <a:avLst/>
          </a:prstGeom>
          <a:noFill/>
          <a:ln/>
        </p:spPr>
        <p:txBody>
          <a:bodyPr wrap="square" lIns="0" tIns="0" rIns="0" bIns="0" rtlCol="0" anchor="t"/>
          <a:lstStyle/>
          <a:p>
            <a:pPr marL="0" indent="0" algn="l">
              <a:spcBef>
                <a:spcPts val="1474"/>
              </a:spcBef>
              <a:spcAft>
                <a:spcPts val="800"/>
              </a:spcAft>
              <a:buNone/>
            </a:pPr>
            <a:r>
              <a:rPr lang="en-US" sz="2200" b="1" dirty="0">
                <a:solidFill>
                  <a:srgbClr val="000000"/>
                </a:solidFill>
                <a:latin typeface="Times New Roman" pitchFamily="34" charset="0"/>
                <a:ea typeface="Times New Roman" pitchFamily="34" charset="-122"/>
                <a:cs typeface="Times New Roman" pitchFamily="34" charset="-120"/>
              </a:rPr>
              <a:t>Discussion</a:t>
            </a:r>
            <a:endParaRPr lang="en-US" sz="2200" dirty="0"/>
          </a:p>
        </p:txBody>
      </p:sp>
      <p:sp>
        <p:nvSpPr>
          <p:cNvPr id="3" name="Text 1"/>
          <p:cNvSpPr/>
          <p:nvPr/>
        </p:nvSpPr>
        <p:spPr>
          <a:xfrm>
            <a:off x="685800" y="1060103"/>
            <a:ext cx="8860536" cy="238125"/>
          </a:xfrm>
          <a:prstGeom prst="rect">
            <a:avLst/>
          </a:prstGeom>
          <a:noFill/>
          <a:ln/>
        </p:spPr>
        <p:txBody>
          <a:bodyPr wrap="square" lIns="0" tIns="0" rIns="0" bIns="0" rtlCol="0" anchor="t"/>
          <a:lstStyle/>
          <a:p>
            <a:pPr marL="0" indent="0" algn="l">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Interpretation of Results</a:t>
            </a:r>
            <a:endParaRPr lang="en-US" sz="1600" dirty="0"/>
          </a:p>
        </p:txBody>
      </p:sp>
      <p:sp>
        <p:nvSpPr>
          <p:cNvPr id="4" name="Text 2"/>
          <p:cNvSpPr/>
          <p:nvPr/>
        </p:nvSpPr>
        <p:spPr>
          <a:xfrm>
            <a:off x="685800" y="1336328"/>
            <a:ext cx="8686800" cy="2006054"/>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Feature selection matters more than architecture:</a:t>
            </a:r>
            <a:r>
              <a:rPr lang="en-US" sz="1300" dirty="0">
                <a:solidFill>
                  <a:srgbClr val="000000"/>
                </a:solidFill>
                <a:latin typeface="Times New Roman" pitchFamily="34" charset="0"/>
                <a:ea typeface="Times New Roman" pitchFamily="34" charset="-122"/>
                <a:cs typeface="Times New Roman" pitchFamily="34" charset="-120"/>
              </a:rPr>
              <a:t> 8 model families all converged to R² ≈ 0.287 on 73 features; switching to 12 PAC+Stim features raised test R² to 0.606 with the same TCN. The bottleneck was always in the input representation, not the model.</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The ≈3-second inflection point reflects PAC autocorrelation timescale: below 3 s, persistence suffices; above 3 s, state transitions require temporal context that only the TCN captures from the 20-step PAC trajectory.</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Spectral features encode subject-specific EEG anatomy (skull thickness, electrode impedance) that doesn’t generalize: val-test R² gap shrinks from 0.358 (73 feat) to 0.246 (12 feat) when spectral features are removed.</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The 60% improvement in low-PAC targeting (82.6% vs. 51.7%) matters most clinically: the controller concentrates therapy where neural coupling is weakest.</a:t>
            </a:r>
            <a:endParaRPr lang="en-US" sz="1300" dirty="0"/>
          </a:p>
        </p:txBody>
      </p:sp>
      <p:sp>
        <p:nvSpPr>
          <p:cNvPr id="5" name="Text 3"/>
          <p:cNvSpPr/>
          <p:nvPr/>
        </p:nvSpPr>
        <p:spPr>
          <a:xfrm>
            <a:off x="685800" y="3443883"/>
            <a:ext cx="8860536" cy="238125"/>
          </a:xfrm>
          <a:prstGeom prst="rect">
            <a:avLst/>
          </a:prstGeom>
          <a:noFill/>
          <a:ln/>
        </p:spPr>
        <p:txBody>
          <a:bodyPr wrap="square" lIns="0" tIns="0" rIns="0" bIns="0" rtlCol="0" anchor="t"/>
          <a:lstStyle/>
          <a:p>
            <a:pPr marL="0" indent="0" algn="l">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Comparison to Prior Work</a:t>
            </a:r>
            <a:endParaRPr lang="en-US" sz="1600" dirty="0"/>
          </a:p>
        </p:txBody>
      </p:sp>
      <p:sp>
        <p:nvSpPr>
          <p:cNvPr id="6" name="Text 4"/>
          <p:cNvSpPr/>
          <p:nvPr/>
        </p:nvSpPr>
        <p:spPr>
          <a:xfrm>
            <a:off x="685800" y="3720108"/>
            <a:ext cx="8686800" cy="1122908"/>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Analogous to closed-loop DBS for Parkinson’s disease (Rosin et al., 2011): adaptive stimulation concentrates therapy on periods of genuine need.</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Extends beyond spindle detection (Portiloop, Lacroix et al., 2022) to multi-step forecasting — necessary when proactive intervention requires advance lead time.</a:t>
            </a:r>
            <a:endParaRPr lang="en-US" sz="1300" dirty="0"/>
          </a:p>
          <a:p>
            <a:pPr marL="114300" indent="-114300" algn="l">
              <a:lnSpc>
                <a:spcPts val="1690"/>
              </a:lnSpc>
              <a:spcAft>
                <a:spcPts val="200"/>
              </a:spcAft>
              <a:buSzPct val="100000"/>
              <a:buChar char="•"/>
            </a:pPr>
            <a:r>
              <a:rPr lang="en-US" sz="1300" dirty="0">
                <a:solidFill>
                  <a:srgbClr val="000000"/>
                </a:solidFill>
                <a:latin typeface="Times New Roman" pitchFamily="34" charset="0"/>
                <a:ea typeface="Times New Roman" pitchFamily="34" charset="-122"/>
                <a:cs typeface="Times New Roman" pitchFamily="34" charset="-120"/>
              </a:rPr>
              <a:t>First system targeting PAC dynamics specifically for 40 Hz gamma entrainment optimization at 5–10 s horizons.</a:t>
            </a:r>
            <a:endParaRPr lang="en-US" sz="1300" dirty="0"/>
          </a:p>
        </p:txBody>
      </p:sp>
      <p:sp>
        <p:nvSpPr>
          <p:cNvPr id="7" name="Text 5"/>
          <p:cNvSpPr/>
          <p:nvPr/>
        </p:nvSpPr>
        <p:spPr>
          <a:xfrm>
            <a:off x="685800" y="4944517"/>
            <a:ext cx="8860536" cy="238125"/>
          </a:xfrm>
          <a:prstGeom prst="rect">
            <a:avLst/>
          </a:prstGeom>
          <a:noFill/>
          <a:ln/>
        </p:spPr>
        <p:txBody>
          <a:bodyPr wrap="square" lIns="0" tIns="0" rIns="0" bIns="0" rtlCol="0" anchor="t"/>
          <a:lstStyle/>
          <a:p>
            <a:pPr marL="0" indent="0" algn="l">
              <a:spcBef>
                <a:spcPts val="800"/>
              </a:spcBef>
              <a:spcAft>
                <a:spcPts val="300"/>
              </a:spcAft>
              <a:buNone/>
            </a:pPr>
            <a:r>
              <a:rPr lang="en-US" sz="1600" b="1" dirty="0">
                <a:solidFill>
                  <a:srgbClr val="000000"/>
                </a:solidFill>
                <a:latin typeface="Times New Roman" pitchFamily="34" charset="0"/>
                <a:ea typeface="Times New Roman" pitchFamily="34" charset="-122"/>
                <a:cs typeface="Times New Roman" pitchFamily="34" charset="-120"/>
              </a:rPr>
              <a:t>Limitations and Possible Errors</a:t>
            </a:r>
            <a:endParaRPr lang="en-US" sz="1600" dirty="0"/>
          </a:p>
        </p:txBody>
      </p:sp>
      <p:sp>
        <p:nvSpPr>
          <p:cNvPr id="8" name="Text 6"/>
          <p:cNvSpPr/>
          <p:nvPr/>
        </p:nvSpPr>
        <p:spPr>
          <a:xfrm>
            <a:off x="685800" y="5220742"/>
            <a:ext cx="8686800" cy="1577132"/>
          </a:xfrm>
          <a:prstGeom prst="rect">
            <a:avLst/>
          </a:prstGeom>
          <a:noFill/>
          <a:ln/>
        </p:spPr>
        <p:txBody>
          <a:bodyPr wrap="square" lIns="114300" tIns="0" rIns="0" bIns="0" rtlCol="0" anchor="t"/>
          <a:lstStyle/>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Offline counterfactual replay</a:t>
            </a:r>
            <a:r>
              <a:rPr lang="en-US" sz="1300" dirty="0">
                <a:solidFill>
                  <a:srgbClr val="000000"/>
                </a:solidFill>
                <a:latin typeface="Times New Roman" pitchFamily="34" charset="0"/>
                <a:ea typeface="Times New Roman" pitchFamily="34" charset="-122"/>
                <a:cs typeface="Times New Roman" pitchFamily="34" charset="-120"/>
              </a:rPr>
              <a:t>, not live closed-loop: measures decision quality, not realized therapeutic benefit. Live validation with real-time EEG streaming is required.</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EEGNet not in the validation loop:</a:t>
            </a:r>
            <a:r>
              <a:rPr lang="en-US" sz="1300" dirty="0">
                <a:solidFill>
                  <a:srgbClr val="000000"/>
                </a:solidFill>
                <a:latin typeface="Times New Roman" pitchFamily="34" charset="0"/>
                <a:ea typeface="Times New Roman" pitchFamily="34" charset="-122"/>
                <a:cs typeface="Times New Roman" pitchFamily="34" charset="-120"/>
              </a:rPr>
              <a:t> ground-truth PAC was used as TCN input; a deployed system would propagate EEGNet estimation error (R² = 0.287) into forecasts.</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Single-site dataset</a:t>
            </a:r>
            <a:r>
              <a:rPr lang="en-US" sz="1300" dirty="0">
                <a:solidFill>
                  <a:srgbClr val="000000"/>
                </a:solidFill>
                <a:latin typeface="Times New Roman" pitchFamily="34" charset="0"/>
                <a:ea typeface="Times New Roman" pitchFamily="34" charset="-122"/>
                <a:cs typeface="Times New Roman" pitchFamily="34" charset="-120"/>
              </a:rPr>
              <a:t> (Tehran memory clinic): generalizability to other populations, stimulation modalities, and EEG equipment is unknown.</a:t>
            </a:r>
            <a:endParaRPr lang="en-US" sz="1300" dirty="0"/>
          </a:p>
          <a:p>
            <a:pPr marL="114300" indent="-114300" algn="l">
              <a:lnSpc>
                <a:spcPts val="1690"/>
              </a:lnSpc>
              <a:spcAft>
                <a:spcPts val="200"/>
              </a:spcAft>
              <a:buSzPct val="100000"/>
              <a:buChar char="•"/>
            </a:pPr>
            <a:r>
              <a:rPr lang="en-US" sz="1300" b="1" dirty="0">
                <a:solidFill>
                  <a:srgbClr val="000000"/>
                </a:solidFill>
                <a:latin typeface="Times New Roman" pitchFamily="34" charset="0"/>
                <a:ea typeface="Times New Roman" pitchFamily="34" charset="-122"/>
                <a:cs typeface="Times New Roman" pitchFamily="34" charset="-120"/>
              </a:rPr>
              <a:t>7 frontal channels only:</a:t>
            </a:r>
            <a:r>
              <a:rPr lang="en-US" sz="1300" dirty="0">
                <a:solidFill>
                  <a:srgbClr val="000000"/>
                </a:solidFill>
                <a:latin typeface="Times New Roman" pitchFamily="34" charset="0"/>
                <a:ea typeface="Times New Roman" pitchFamily="34" charset="-122"/>
                <a:cs typeface="Times New Roman" pitchFamily="34" charset="-120"/>
              </a:rPr>
              <a:t> relevant theta–gamma coupling in parietal and temporal regions is not captured by this montage.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644277"/>
            <a:ext cx="8860536" cy="314325"/>
          </a:xfrm>
          <a:prstGeom prst="rect">
            <a:avLst/>
          </a:prstGeom>
          <a:noFill/>
          <a:ln/>
        </p:spPr>
        <p:txBody>
          <a:bodyPr wrap="square" lIns="0" tIns="0" rIns="0" bIns="0" rtlCol="0" anchor="t"/>
          <a:lstStyle/>
          <a:p>
            <a:pPr marL="0" indent="0" algn="l">
              <a:spcBef>
                <a:spcPts val="1474"/>
              </a:spcBef>
              <a:spcAft>
                <a:spcPts val="600"/>
              </a:spcAft>
              <a:buNone/>
            </a:pPr>
            <a:r>
              <a:rPr lang="en-US" sz="2200" b="1" dirty="0">
                <a:solidFill>
                  <a:srgbClr val="000000"/>
                </a:solidFill>
                <a:latin typeface="Times New Roman" pitchFamily="34" charset="0"/>
                <a:ea typeface="Times New Roman" pitchFamily="34" charset="-122"/>
                <a:cs typeface="Times New Roman" pitchFamily="34" charset="-120"/>
              </a:rPr>
              <a:t>Conclusions</a:t>
            </a:r>
            <a:endParaRPr lang="en-US" sz="2200" dirty="0"/>
          </a:p>
        </p:txBody>
      </p:sp>
      <p:sp>
        <p:nvSpPr>
          <p:cNvPr id="3" name="Text 1"/>
          <p:cNvSpPr/>
          <p:nvPr/>
        </p:nvSpPr>
        <p:spPr>
          <a:xfrm>
            <a:off x="685800" y="1034802"/>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Key Findings</a:t>
            </a:r>
            <a:endParaRPr lang="en-US" sz="1500" dirty="0"/>
          </a:p>
        </p:txBody>
      </p:sp>
      <p:sp>
        <p:nvSpPr>
          <p:cNvPr id="4" name="Text 2"/>
          <p:cNvSpPr/>
          <p:nvPr/>
        </p:nvSpPr>
        <p:spPr>
          <a:xfrm>
            <a:off x="685800" y="1279178"/>
            <a:ext cx="8686800" cy="1836093"/>
          </a:xfrm>
          <a:prstGeom prst="rect">
            <a:avLst/>
          </a:prstGeom>
          <a:noFill/>
          <a:ln/>
        </p:spPr>
        <p:txBody>
          <a:bodyPr wrap="square" lIns="101600" tIns="0" rIns="0" bIns="0" rtlCol="0" anchor="t"/>
          <a:lstStyle/>
          <a:p>
            <a:pPr marL="101600" indent="-101600" algn="l">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Eight architectures (1,457 to 1.1 M parameters) all converge to R² = 0.287 for static PAC prediction — a data-imposed ceiling proving the bottleneck is the feature representation, not the model.</a:t>
            </a:r>
            <a:endParaRPr lang="en-US" sz="1250" dirty="0"/>
          </a:p>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Feature discovery:</a:t>
            </a:r>
            <a:r>
              <a:rPr lang="en-US" sz="1250" dirty="0">
                <a:solidFill>
                  <a:srgbClr val="000000"/>
                </a:solidFill>
                <a:latin typeface="Times New Roman" pitchFamily="34" charset="0"/>
                <a:ea typeface="Times New Roman" pitchFamily="34" charset="-122"/>
                <a:cs typeface="Times New Roman" pitchFamily="34" charset="-120"/>
              </a:rPr>
              <a:t> replacing 73 spectral features with 12 PAC+Stim features raised temporal test R² from −0.025 to 0.606 (5-seed mean; 4ch: 0.430). Feature selection mattered more than any architectural change.</a:t>
            </a:r>
            <a:endParaRPr lang="en-US" sz="1250" dirty="0"/>
          </a:p>
          <a:p>
            <a:pPr marL="101600" indent="-101600" algn="l">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The TCN maintains R² = 0.37–0.67 at 3–10 s horizons where persistence collapses to negative R², defining the operationally actionable regime for proactive neuromodulation.</a:t>
            </a:r>
            <a:endParaRPr lang="en-US" sz="1250" dirty="0"/>
          </a:p>
          <a:p>
            <a:pPr marL="101600" indent="-101600" algn="l">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The predictive controller achieves 72.1% alignment, 82.6% low-PAC targeting, and 91% of the theoretical oracle bound (all p &lt; 0.001 vs. reactive; Hedges’ g = 1.31–4.47).</a:t>
            </a:r>
            <a:endParaRPr lang="en-US" sz="1250" dirty="0"/>
          </a:p>
          <a:p>
            <a:pPr marL="101600" indent="-101600" algn="l">
              <a:lnSpc>
                <a:spcPts val="1562"/>
              </a:lnSpc>
              <a:spcAft>
                <a:spcPts val="100"/>
              </a:spcAft>
              <a:buSzPct val="100000"/>
              <a:buChar char="•"/>
            </a:pPr>
            <a:r>
              <a:rPr lang="en-US" sz="1250" dirty="0">
                <a:solidFill>
                  <a:srgbClr val="000000"/>
                </a:solidFill>
                <a:latin typeface="Times New Roman" pitchFamily="34" charset="0"/>
                <a:ea typeface="Times New Roman" pitchFamily="34" charset="-122"/>
                <a:cs typeface="Times New Roman" pitchFamily="34" charset="-120"/>
              </a:rPr>
              <a:t>Universal benefit across all 35 subjects, including 6 held-out test subjects never seen during training.</a:t>
            </a:r>
            <a:endParaRPr lang="en-US" sz="1250" dirty="0"/>
          </a:p>
        </p:txBody>
      </p:sp>
      <p:sp>
        <p:nvSpPr>
          <p:cNvPr id="5" name="Text 3"/>
          <p:cNvSpPr/>
          <p:nvPr/>
        </p:nvSpPr>
        <p:spPr>
          <a:xfrm>
            <a:off x="685800" y="3191470"/>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Context</a:t>
            </a:r>
            <a:endParaRPr lang="en-US" sz="1500" dirty="0"/>
          </a:p>
        </p:txBody>
      </p:sp>
      <p:sp>
        <p:nvSpPr>
          <p:cNvPr id="6" name="Text 4"/>
          <p:cNvSpPr/>
          <p:nvPr/>
        </p:nvSpPr>
        <p:spPr>
          <a:xfrm>
            <a:off x="685800" y="3435846"/>
            <a:ext cx="8860536" cy="595164"/>
          </a:xfrm>
          <a:prstGeom prst="rect">
            <a:avLst/>
          </a:prstGeom>
          <a:noFill/>
          <a:ln/>
        </p:spPr>
        <p:txBody>
          <a:bodyPr wrap="square" lIns="0" tIns="0" rIns="0" bIns="0" rtlCol="0" anchor="t"/>
          <a:lstStyle/>
          <a:p>
            <a:pPr marL="0" indent="0" algn="l">
              <a:lnSpc>
                <a:spcPts val="1562"/>
              </a:lnSpc>
              <a:spcBef>
                <a:spcPts val="100"/>
              </a:spcBef>
              <a:spcAft>
                <a:spcPts val="300"/>
              </a:spcAft>
              <a:buNone/>
            </a:pPr>
            <a:r>
              <a:rPr lang="en-US" sz="1250" dirty="0">
                <a:solidFill>
                  <a:srgbClr val="000000"/>
                </a:solidFill>
                <a:latin typeface="Times New Roman" pitchFamily="34" charset="0"/>
                <a:ea typeface="Times New Roman" pitchFamily="34" charset="-122"/>
                <a:cs typeface="Times New Roman" pitchFamily="34" charset="-120"/>
              </a:rPr>
              <a:t>These results show that temporal PAC forecasting can drive proactive closed-loop control that outperforms both fixed-schedule and reactive protocols. No prior system has attempted PAC-specific temporal prediction for personalized gamma entrainment control. This work is a computational validation; live closed-loop trials are needed to confirm clinical translation.</a:t>
            </a:r>
            <a:endParaRPr lang="en-US" sz="1250" dirty="0"/>
          </a:p>
        </p:txBody>
      </p:sp>
      <p:sp>
        <p:nvSpPr>
          <p:cNvPr id="7" name="Text 5"/>
          <p:cNvSpPr/>
          <p:nvPr/>
        </p:nvSpPr>
        <p:spPr>
          <a:xfrm>
            <a:off x="685800" y="4107210"/>
            <a:ext cx="8860536" cy="219075"/>
          </a:xfrm>
          <a:prstGeom prst="rect">
            <a:avLst/>
          </a:prstGeom>
          <a:noFill/>
          <a:ln/>
        </p:spPr>
        <p:txBody>
          <a:bodyPr wrap="square" lIns="0" tIns="0" rIns="0" bIns="0" rtlCol="0" anchor="t"/>
          <a:lstStyle/>
          <a:p>
            <a:pPr marL="0" indent="0" algn="l">
              <a:spcBef>
                <a:spcPts val="600"/>
              </a:spcBef>
              <a:spcAft>
                <a:spcPts val="200"/>
              </a:spcAft>
              <a:buNone/>
            </a:pPr>
            <a:r>
              <a:rPr lang="en-US" sz="1500" b="1" dirty="0">
                <a:solidFill>
                  <a:srgbClr val="000000"/>
                </a:solidFill>
                <a:latin typeface="Times New Roman" pitchFamily="34" charset="0"/>
                <a:ea typeface="Times New Roman" pitchFamily="34" charset="-122"/>
                <a:cs typeface="Times New Roman" pitchFamily="34" charset="-120"/>
              </a:rPr>
              <a:t>Productization and Clinical Roadmap</a:t>
            </a:r>
            <a:endParaRPr lang="en-US" sz="1500" dirty="0"/>
          </a:p>
        </p:txBody>
      </p:sp>
      <p:sp>
        <p:nvSpPr>
          <p:cNvPr id="8" name="Text 6"/>
          <p:cNvSpPr/>
          <p:nvPr/>
        </p:nvSpPr>
        <p:spPr>
          <a:xfrm>
            <a:off x="685800" y="4351586"/>
            <a:ext cx="8686800" cy="1836093"/>
          </a:xfrm>
          <a:prstGeom prst="rect">
            <a:avLst/>
          </a:prstGeom>
          <a:noFill/>
          <a:ln/>
        </p:spPr>
        <p:txBody>
          <a:bodyPr wrap="square" lIns="101600" tIns="0" rIns="0" bIns="0" rtlCol="0" anchor="t"/>
          <a:lstStyle/>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Caregiver web application:</a:t>
            </a:r>
            <a:r>
              <a:rPr lang="en-US" sz="1250" dirty="0">
                <a:solidFill>
                  <a:srgbClr val="000000"/>
                </a:solidFill>
                <a:latin typeface="Times New Roman" pitchFamily="34" charset="0"/>
                <a:ea typeface="Times New Roman" pitchFamily="34" charset="-122"/>
                <a:cs typeface="Times New Roman" pitchFamily="34" charset="-120"/>
              </a:rPr>
              <a:t> deployed on Hugging Face Spaces (Streamlit); PAC monitoring, real-time stimulation control, personalized session tracking — the basis for a consumer neuromodulation device.</a:t>
            </a:r>
            <a:endParaRPr lang="en-US" sz="1250" dirty="0"/>
          </a:p>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1 — Observational (now):</a:t>
            </a:r>
            <a:r>
              <a:rPr lang="en-US" sz="1250" dirty="0">
                <a:solidFill>
                  <a:srgbClr val="000000"/>
                </a:solidFill>
                <a:latin typeface="Times New Roman" pitchFamily="34" charset="0"/>
                <a:ea typeface="Times New Roman" pitchFamily="34" charset="-122"/>
                <a:cs typeface="Times New Roman" pitchFamily="34" charset="-120"/>
              </a:rPr>
              <a:t> collect real-world EEG + PAC data via app to characterize inter-session habituation patterns.</a:t>
            </a:r>
            <a:endParaRPr lang="en-US" sz="1250" dirty="0"/>
          </a:p>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2 — Feasibility (12–18 mo):</a:t>
            </a:r>
            <a:r>
              <a:rPr lang="en-US" sz="1250" dirty="0">
                <a:solidFill>
                  <a:srgbClr val="000000"/>
                </a:solidFill>
                <a:latin typeface="Times New Roman" pitchFamily="34" charset="0"/>
                <a:ea typeface="Times New Roman" pitchFamily="34" charset="-122"/>
                <a:cs typeface="Times New Roman" pitchFamily="34" charset="-120"/>
              </a:rPr>
              <a:t> IRB-approved within-subject pilot (N = 5–10) comparing adaptive TCN vs. fixed-schedule 40 Hz stimulation.</a:t>
            </a:r>
            <a:endParaRPr lang="en-US" sz="1250" dirty="0"/>
          </a:p>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Phase 3 — Comparative (3–5 yr):</a:t>
            </a:r>
            <a:r>
              <a:rPr lang="en-US" sz="1250" dirty="0">
                <a:solidFill>
                  <a:srgbClr val="000000"/>
                </a:solidFill>
                <a:latin typeface="Times New Roman" pitchFamily="34" charset="0"/>
                <a:ea typeface="Times New Roman" pitchFamily="34" charset="-122"/>
                <a:cs typeface="Times New Roman" pitchFamily="34" charset="-120"/>
              </a:rPr>
              <a:t> RCT in mild AD patients (N ≈ 20) comparing personalized adaptive vs. fixed protocol. Primary endpoint: maintained entrainment at 12-week follow-up.</a:t>
            </a:r>
            <a:endParaRPr lang="en-US" sz="1250" dirty="0"/>
          </a:p>
          <a:p>
            <a:pPr marL="101600" indent="-101600" algn="l">
              <a:lnSpc>
                <a:spcPts val="1562"/>
              </a:lnSpc>
              <a:spcAft>
                <a:spcPts val="100"/>
              </a:spcAft>
              <a:buSzPct val="100000"/>
              <a:buChar char="•"/>
            </a:pPr>
            <a:r>
              <a:rPr lang="en-US" sz="1250" b="1" dirty="0">
                <a:solidFill>
                  <a:srgbClr val="000000"/>
                </a:solidFill>
                <a:latin typeface="Times New Roman" pitchFamily="34" charset="0"/>
                <a:ea typeface="Times New Roman" pitchFamily="34" charset="-122"/>
                <a:cs typeface="Times New Roman" pitchFamily="34" charset="-120"/>
              </a:rPr>
              <a:t>Near-term technical:</a:t>
            </a:r>
            <a:r>
              <a:rPr lang="en-US" sz="1250" dirty="0">
                <a:solidFill>
                  <a:srgbClr val="000000"/>
                </a:solidFill>
                <a:latin typeface="Times New Roman" pitchFamily="34" charset="0"/>
                <a:ea typeface="Times New Roman" pitchFamily="34" charset="-122"/>
                <a:cs typeface="Times New Roman" pitchFamily="34" charset="-120"/>
              </a:rPr>
              <a:t> end-to-end validation (raw EEG → EEGNet → TCN → controller); per-subject online fine-tuning; 4-channel Muse-compatible deployment.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marL="0" indent="0" algn="l">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Scope of Work</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New Work by Author</a:t>
            </a:r>
            <a:endParaRPr lang="en-US" sz="1700" dirty="0"/>
          </a:p>
        </p:txBody>
      </p:sp>
      <p:sp>
        <p:nvSpPr>
          <p:cNvPr id="4" name="Text 2"/>
          <p:cNvSpPr/>
          <p:nvPr/>
        </p:nvSpPr>
        <p:spPr>
          <a:xfrm>
            <a:off x="685800" y="1498253"/>
            <a:ext cx="8686800" cy="3071217"/>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Independently identified the research gap (fixed-schedule limitation in 40 Hz entrainment) through literature review.</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Designed and implemented the full computational pipeline: EEG preprocessing, PAC computation, architecture search across 8 neural network families, feature ablation study (73 → 12 PAC+Stim features), and MultiscaleCausalTCN design.</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Discovered the R² = 0.287 data ceiling through experimentation, the ≈3-second prediction horizon inflection point, and the feature selection breakthrough (12 PAC+Stim features raising R² from −0.025 to 0.606) — all novel empirical findings.</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Designed the closed-loop controller with personalization module, hysteresis logic, and multi-strategy comparison framework including alignment oracle upper bound.</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Conducted all statistical analyses: Wilcoxon signed-rank tests, Hedges’ g effect sizes with 95% bootstrap CIs, binomial sign tests, threshold sensitivity sweeps.</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Validated the complete system on 35 real patient EEG recordings through offline counterfactual replay.</a:t>
            </a:r>
            <a:endParaRPr lang="en-US" sz="1400" dirty="0"/>
          </a:p>
        </p:txBody>
      </p:sp>
      <p:sp>
        <p:nvSpPr>
          <p:cNvPr id="5" name="Text 3"/>
          <p:cNvSpPr/>
          <p:nvPr/>
        </p:nvSpPr>
        <p:spPr>
          <a:xfrm>
            <a:off x="685800" y="4721870"/>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Professional, Institutional, and Academic Resources and Support</a:t>
            </a:r>
            <a:endParaRPr lang="en-US" sz="1700" dirty="0"/>
          </a:p>
        </p:txBody>
      </p:sp>
      <p:sp>
        <p:nvSpPr>
          <p:cNvPr id="6" name="Text 4"/>
          <p:cNvSpPr/>
          <p:nvPr/>
        </p:nvSpPr>
        <p:spPr>
          <a:xfrm>
            <a:off x="685800" y="5020270"/>
            <a:ext cx="8686800" cy="2072878"/>
          </a:xfrm>
          <a:prstGeom prst="rect">
            <a:avLst/>
          </a:prstGeom>
          <a:noFill/>
          <a:ln/>
        </p:spPr>
        <p:txBody>
          <a:bodyPr wrap="square" lIns="127000" tIns="0" rIns="0" bIns="0" rtlCol="0" anchor="t"/>
          <a:lstStyle/>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Data:</a:t>
            </a:r>
            <a:r>
              <a:rPr lang="en-US" sz="1400" dirty="0">
                <a:solidFill>
                  <a:srgbClr val="000000"/>
                </a:solidFill>
                <a:latin typeface="Times New Roman" pitchFamily="34" charset="0"/>
                <a:ea typeface="Times New Roman" pitchFamily="34" charset="-122"/>
                <a:cs typeface="Times New Roman" pitchFamily="34" charset="-120"/>
              </a:rPr>
              <a:t> OpenNeuro ds005048 — publicly available EEG dataset accessible to anyone at no cost.</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Computing:</a:t>
            </a:r>
            <a:r>
              <a:rPr lang="en-US" sz="1400" dirty="0">
                <a:solidFill>
                  <a:srgbClr val="000000"/>
                </a:solidFill>
                <a:latin typeface="Times New Roman" pitchFamily="34" charset="0"/>
                <a:ea typeface="Times New Roman" pitchFamily="34" charset="-122"/>
                <a:cs typeface="Times New Roman" pitchFamily="34" charset="-120"/>
              </a:rPr>
              <a:t> personal Apple Silicon MacBook; no institutional computing resources, GPU clusters, or specialized laboratory equipment were used.</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Software:</a:t>
            </a:r>
            <a:r>
              <a:rPr lang="en-US" sz="1400" dirty="0">
                <a:solidFill>
                  <a:srgbClr val="000000"/>
                </a:solidFill>
                <a:latin typeface="Times New Roman" pitchFamily="34" charset="0"/>
                <a:ea typeface="Times New Roman" pitchFamily="34" charset="-122"/>
                <a:cs typeface="Times New Roman" pitchFamily="34" charset="-120"/>
              </a:rPr>
              <a:t> open-source libraries (PyTorch, MNE-Python, SciPy, NumPy, Matplotlib) — all freely available.</a:t>
            </a:r>
            <a:endParaRPr lang="en-US" sz="1400" dirty="0"/>
          </a:p>
          <a:p>
            <a:pPr marL="127000" indent="-127000" algn="l">
              <a:lnSpc>
                <a:spcPts val="1890"/>
              </a:lnSpc>
              <a:spcAft>
                <a:spcPts val="300"/>
              </a:spcAft>
              <a:buSzPct val="100000"/>
              <a:buChar char="•"/>
            </a:pPr>
            <a:r>
              <a:rPr lang="en-US" sz="1400" b="1" dirty="0">
                <a:solidFill>
                  <a:srgbClr val="000000"/>
                </a:solidFill>
                <a:latin typeface="Times New Roman" pitchFamily="34" charset="0"/>
                <a:ea typeface="Times New Roman" pitchFamily="34" charset="-122"/>
                <a:cs typeface="Times New Roman" pitchFamily="34" charset="-120"/>
              </a:rPr>
              <a:t>AI-assisted development:</a:t>
            </a:r>
            <a:r>
              <a:rPr lang="en-US" sz="1400" dirty="0">
                <a:solidFill>
                  <a:srgbClr val="000000"/>
                </a:solidFill>
                <a:latin typeface="Times New Roman" pitchFamily="34" charset="0"/>
                <a:ea typeface="Times New Roman" pitchFamily="34" charset="-122"/>
                <a:cs typeface="Times New Roman" pitchFamily="34" charset="-120"/>
              </a:rPr>
              <a:t> All scientific development, decisions, research direction, experimental design, data analysis, and interpretation of results were performed by the author.</a:t>
            </a:r>
            <a:endParaRPr lang="en-US" sz="1400" dirty="0"/>
          </a:p>
          <a:p>
            <a:pPr marL="127000" indent="-127000" algn="l">
              <a:lnSpc>
                <a:spcPts val="1890"/>
              </a:lnSpc>
              <a:spcAft>
                <a:spcPts val="3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No institutional lab, university mentor, summer research program, or specialized equipment was used at any stage.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33127"/>
            <a:ext cx="8860536" cy="314325"/>
          </a:xfrm>
          <a:prstGeom prst="rect">
            <a:avLst/>
          </a:prstGeom>
          <a:noFill/>
          <a:ln/>
        </p:spPr>
        <p:txBody>
          <a:bodyPr wrap="square" lIns="0" tIns="0" rIns="0" bIns="0" rtlCol="0" anchor="t"/>
          <a:lstStyle/>
          <a:p>
            <a:pPr marL="0" indent="0" algn="l">
              <a:spcBef>
                <a:spcPts val="1474"/>
              </a:spcBef>
              <a:spcAft>
                <a:spcPts val="1000"/>
              </a:spcAft>
              <a:buNone/>
            </a:pPr>
            <a:r>
              <a:rPr lang="en-US" sz="2200" b="1" dirty="0">
                <a:solidFill>
                  <a:srgbClr val="000000"/>
                </a:solidFill>
                <a:latin typeface="Times New Roman" pitchFamily="34" charset="0"/>
                <a:ea typeface="Times New Roman" pitchFamily="34" charset="-122"/>
                <a:cs typeface="Times New Roman" pitchFamily="34" charset="-120"/>
              </a:rPr>
              <a:t>References / Supplemental Information</a:t>
            </a:r>
            <a:endParaRPr lang="en-US" sz="2200" dirty="0"/>
          </a:p>
        </p:txBody>
      </p:sp>
      <p:sp>
        <p:nvSpPr>
          <p:cNvPr id="3" name="Text 1"/>
          <p:cNvSpPr/>
          <p:nvPr/>
        </p:nvSpPr>
        <p:spPr>
          <a:xfrm>
            <a:off x="685800" y="1199852"/>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References</a:t>
            </a:r>
            <a:endParaRPr lang="en-US" sz="1700" dirty="0"/>
          </a:p>
        </p:txBody>
      </p:sp>
      <p:sp>
        <p:nvSpPr>
          <p:cNvPr id="4" name="Text 2"/>
          <p:cNvSpPr/>
          <p:nvPr/>
        </p:nvSpPr>
        <p:spPr>
          <a:xfrm>
            <a:off x="685800" y="1498253"/>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[1] Iaccarino HG et al. Gamma frequency entrainment attenuates amyloid load. Nature 540, 230–235, 2016.</a:t>
            </a:r>
            <a:endParaRPr lang="en-US" sz="1400" dirty="0"/>
          </a:p>
        </p:txBody>
      </p:sp>
      <p:sp>
        <p:nvSpPr>
          <p:cNvPr id="5" name="Text 3"/>
          <p:cNvSpPr/>
          <p:nvPr/>
        </p:nvSpPr>
        <p:spPr>
          <a:xfrm>
            <a:off x="685800" y="1758553"/>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[2] Murdock MH et al. Multisensory gamma stimulation promotes glymphatic clearance. Nature 627, 149–156, 2024.</a:t>
            </a:r>
            <a:endParaRPr lang="en-US" sz="1400" dirty="0"/>
          </a:p>
        </p:txBody>
      </p:sp>
      <p:sp>
        <p:nvSpPr>
          <p:cNvPr id="6" name="Text 4"/>
          <p:cNvSpPr/>
          <p:nvPr/>
        </p:nvSpPr>
        <p:spPr>
          <a:xfrm>
            <a:off x="685800" y="2018854"/>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[3] Chan D et al. Gamma sensory stimulation in mild AD: open-label extension. Alzheimer’s &amp; Dementia, 2025.</a:t>
            </a:r>
            <a:endParaRPr lang="en-US" sz="1400" dirty="0"/>
          </a:p>
        </p:txBody>
      </p:sp>
      <p:sp>
        <p:nvSpPr>
          <p:cNvPr id="7" name="Text 5"/>
          <p:cNvSpPr/>
          <p:nvPr/>
        </p:nvSpPr>
        <p:spPr>
          <a:xfrm>
            <a:off x="685800" y="2279154"/>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[4] Fortunato C et al. Gamma entrainment for cognitive improvement in neurodegeneration. Front Neurosci 17, 2023.</a:t>
            </a:r>
            <a:endParaRPr lang="en-US" sz="1400" dirty="0"/>
          </a:p>
        </p:txBody>
      </p:sp>
      <p:sp>
        <p:nvSpPr>
          <p:cNvPr id="8" name="Text 6"/>
          <p:cNvSpPr/>
          <p:nvPr/>
        </p:nvSpPr>
        <p:spPr>
          <a:xfrm>
            <a:off x="685800" y="2539454"/>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[5] Lahijanian B et al. Auditory gamma entrainment enhances DMN connectivity in dementia. Sci Rep 14, 2024.</a:t>
            </a:r>
            <a:endParaRPr lang="en-US" sz="1400" dirty="0"/>
          </a:p>
        </p:txBody>
      </p:sp>
      <p:sp>
        <p:nvSpPr>
          <p:cNvPr id="9" name="Text 7"/>
          <p:cNvSpPr/>
          <p:nvPr/>
        </p:nvSpPr>
        <p:spPr>
          <a:xfrm>
            <a:off x="685800" y="2799755"/>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[6] Lawhern VJ et al. EEGNet: compact CNN for EEG-based BCIs. J Neural Eng 15, 056013, 2018.</a:t>
            </a:r>
            <a:endParaRPr lang="en-US" sz="1400" dirty="0"/>
          </a:p>
        </p:txBody>
      </p:sp>
      <p:sp>
        <p:nvSpPr>
          <p:cNvPr id="10" name="Text 8"/>
          <p:cNvSpPr/>
          <p:nvPr/>
        </p:nvSpPr>
        <p:spPr>
          <a:xfrm>
            <a:off x="685800" y="3060055"/>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[7] Tort ABL et al. Measuring phase-amplitude coupling. J Neurophysiology 104, 1195–1210, 2010.</a:t>
            </a:r>
            <a:endParaRPr lang="en-US" sz="1400" dirty="0"/>
          </a:p>
        </p:txBody>
      </p:sp>
      <p:sp>
        <p:nvSpPr>
          <p:cNvPr id="11" name="Text 9"/>
          <p:cNvSpPr/>
          <p:nvPr/>
        </p:nvSpPr>
        <p:spPr>
          <a:xfrm>
            <a:off x="685800" y="3320355"/>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[8] Cabral J et al. AI-driven biofeedback for personalized digital therapeutics. Front Digital Health 7, 2025.</a:t>
            </a:r>
            <a:endParaRPr lang="en-US" sz="1400" dirty="0"/>
          </a:p>
        </p:txBody>
      </p:sp>
      <p:sp>
        <p:nvSpPr>
          <p:cNvPr id="12" name="Text 10"/>
          <p:cNvSpPr/>
          <p:nvPr/>
        </p:nvSpPr>
        <p:spPr>
          <a:xfrm>
            <a:off x="685800" y="3580656"/>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[9] Rosin B et al. Closed-loop DBS for Parkinson’s disease. Neuron 72, 370–384, 2011.</a:t>
            </a:r>
            <a:endParaRPr lang="en-US" sz="1400" dirty="0"/>
          </a:p>
        </p:txBody>
      </p:sp>
      <p:sp>
        <p:nvSpPr>
          <p:cNvPr id="13" name="Text 11"/>
          <p:cNvSpPr/>
          <p:nvPr/>
        </p:nvSpPr>
        <p:spPr>
          <a:xfrm>
            <a:off x="685800" y="3840956"/>
            <a:ext cx="8860536" cy="222200"/>
          </a:xfrm>
          <a:prstGeom prst="rect">
            <a:avLst/>
          </a:prstGeom>
          <a:noFill/>
          <a:ln/>
        </p:spPr>
        <p:txBody>
          <a:bodyPr wrap="square" lIns="0" tIns="0" rIns="0" bIns="0" rtlCol="0" anchor="t"/>
          <a:lstStyle/>
          <a:p>
            <a:pPr marL="0" indent="0" algn="l">
              <a:lnSpc>
                <a:spcPts val="1750"/>
              </a:lnSpc>
              <a:spcBef>
                <a:spcPts val="100"/>
              </a:spcBef>
              <a:spcAft>
                <a:spcPts val="300"/>
              </a:spcAft>
              <a:buNone/>
            </a:pPr>
            <a:r>
              <a:rPr lang="en-US" sz="1400" dirty="0">
                <a:solidFill>
                  <a:srgbClr val="000000"/>
                </a:solidFill>
                <a:latin typeface="Times New Roman" pitchFamily="34" charset="0"/>
                <a:ea typeface="Times New Roman" pitchFamily="34" charset="-122"/>
                <a:cs typeface="Times New Roman" pitchFamily="34" charset="-120"/>
              </a:rPr>
              <a:t>[10] Lacroix A et al. Portiloop: real-time causal sleep spindle detection. PLOS ONE 17, e0269421, 2022.</a:t>
            </a:r>
            <a:endParaRPr lang="en-US" sz="1400" dirty="0"/>
          </a:p>
        </p:txBody>
      </p:sp>
      <p:sp>
        <p:nvSpPr>
          <p:cNvPr id="14" name="Text 12"/>
          <p:cNvSpPr/>
          <p:nvPr/>
        </p:nvSpPr>
        <p:spPr>
          <a:xfrm>
            <a:off x="685800" y="4215557"/>
            <a:ext cx="8860536" cy="247650"/>
          </a:xfrm>
          <a:prstGeom prst="rect">
            <a:avLst/>
          </a:prstGeom>
          <a:noFill/>
          <a:ln/>
        </p:spPr>
        <p:txBody>
          <a:bodyPr wrap="square" lIns="0" tIns="0" rIns="0" bIns="0" rtlCol="0" anchor="t"/>
          <a:lstStyle/>
          <a:p>
            <a:pPr marL="0" indent="0" algn="l">
              <a:spcBef>
                <a:spcPts val="1200"/>
              </a:spcBef>
              <a:spcAft>
                <a:spcPts val="400"/>
              </a:spcAft>
              <a:buNone/>
            </a:pPr>
            <a:r>
              <a:rPr lang="en-US" sz="1700" b="1" dirty="0">
                <a:solidFill>
                  <a:srgbClr val="000000"/>
                </a:solidFill>
                <a:latin typeface="Times New Roman" pitchFamily="34" charset="0"/>
                <a:ea typeface="Times New Roman" pitchFamily="34" charset="-122"/>
                <a:cs typeface="Times New Roman" pitchFamily="34" charset="-120"/>
              </a:rPr>
              <a:t>Supplemental Information</a:t>
            </a:r>
            <a:endParaRPr lang="en-US" sz="1700" dirty="0"/>
          </a:p>
        </p:txBody>
      </p:sp>
      <p:sp>
        <p:nvSpPr>
          <p:cNvPr id="15" name="Text 13"/>
          <p:cNvSpPr/>
          <p:nvPr/>
        </p:nvSpPr>
        <p:spPr>
          <a:xfrm>
            <a:off x="685800" y="4513957"/>
            <a:ext cx="8860536" cy="240060"/>
          </a:xfrm>
          <a:prstGeom prst="rect">
            <a:avLst/>
          </a:prstGeom>
          <a:noFill/>
          <a:ln/>
        </p:spPr>
        <p:txBody>
          <a:bodyPr wrap="square" lIns="0" tIns="0" rIns="0" bIns="0" rtlCol="0" anchor="t"/>
          <a:lstStyle/>
          <a:p>
            <a:pPr marL="0" indent="0" algn="l">
              <a:lnSpc>
                <a:spcPts val="1890"/>
              </a:lnSpc>
              <a:spcBef>
                <a:spcPts val="300"/>
              </a:spcBef>
              <a:spcAft>
                <a:spcPts val="600"/>
              </a:spcAft>
              <a:buNone/>
            </a:pPr>
            <a:r>
              <a:rPr lang="en-US" sz="1400" dirty="0">
                <a:solidFill>
                  <a:srgbClr val="000000"/>
                </a:solidFill>
                <a:latin typeface="Times New Roman" pitchFamily="34" charset="0"/>
                <a:ea typeface="Times New Roman" pitchFamily="34" charset="-122"/>
                <a:cs typeface="Times New Roman" pitchFamily="34" charset="-120"/>
              </a:rPr>
              <a:t>Dataset: </a:t>
            </a:r>
            <a:r>
              <a:rPr lang="en-US" sz="1400" i="1" dirty="0">
                <a:solidFill>
                  <a:srgbClr val="000000"/>
                </a:solidFill>
                <a:latin typeface="Times New Roman" pitchFamily="34" charset="0"/>
                <a:ea typeface="Times New Roman" pitchFamily="34" charset="-122"/>
                <a:cs typeface="Times New Roman" pitchFamily="34" charset="-120"/>
              </a:rPr>
              <a:t>https://openneuro.org/datasets/ds005048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697</TotalTime>
  <Words>3267</Words>
  <Application>Microsoft Macintosh PowerPoint</Application>
  <PresentationFormat>Custom</PresentationFormat>
  <Paragraphs>247</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CSEF 2026 - Closed-Loop 40 Hz Entrainment</dc:title>
  <dc:subject>PptxGenJS Presentation</dc:subject>
  <dc:creator>Amaar Chughtai</dc:creator>
  <cp:lastModifiedBy>Amaar Chughtai</cp:lastModifiedBy>
  <cp:revision>2</cp:revision>
  <dcterms:created xsi:type="dcterms:W3CDTF">2026-03-23T08:17:32Z</dcterms:created>
  <dcterms:modified xsi:type="dcterms:W3CDTF">2026-03-23T19:55:59Z</dcterms:modified>
</cp:coreProperties>
</file>