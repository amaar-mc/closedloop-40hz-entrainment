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2926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1396960" cy="2377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2048256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Personalized Deep Learning Model for Closed-Loop 40 Hz</a:t>
            </a:r>
            <a:br/>
            <a:r>
              <a:t>Entrainment to Optimize Theta-Gamma Coupling</a:t>
            </a:r>
            <a:br/>
            <a:r>
              <a:t>in Alzheimer's Disease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20482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Amaar M. Chughtai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834640"/>
            <a:ext cx="6976872" cy="457200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880360"/>
            <a:ext cx="670255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383280"/>
            <a:ext cx="6976872" cy="813816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474720"/>
            <a:ext cx="6702552" cy="7955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Alzheimer's disease affects 55 million people worldwide with no cure. Emerging research shows 40 Hz auditory stimulation drives gamma brain rhythms that promote clearance of toxic amyloid-β plaques through microglial activation and glymphatic fluid exchange (Iaccarino et al., 2016; Murdock et al., 2024).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Current clinical protocols deliver stimulation on a fixed schedule — the same for every patient. This ignores two critical problems: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~30% of patients habituate within minutes (Fortunato et al., 2023)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Responding patients still lose entrainment periodically, wasting stimulation during strong coupling and missing periods of genuine need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[FIGURE: Fixed vs. Adaptive comparison diagram]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Research Question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Can deep learning models forecast theta-gamma PAC dynamics 5–10 seconds into the future, and does integrating such forecasts into a closed-loop controller improve personalized 40 Hz entrainment therapy?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Hypothesis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A causal TCN can forecast PAC at horizons beyond 3 seconds where simpler baselines fail, and integrating these forecasts into a closed-loop controller will outperform reactive threshold control.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79792" y="2834640"/>
            <a:ext cx="6976872" cy="457200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880360"/>
            <a:ext cx="670255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9792" y="3383280"/>
            <a:ext cx="6976872" cy="813816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54112" y="3657600"/>
            <a:ext cx="6428232" cy="457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700" b="0" i="1">
                <a:solidFill>
                  <a:srgbClr val="666666"/>
                </a:solidFill>
                <a:latin typeface="Arial"/>
              </a:defRPr>
            </a:pPr>
            <a:r>
              <a:t>[INSERT: System architecture diagram — Figure 1]</a:t>
            </a:r>
            <a:br/>
            <a:br/>
            <a:r>
              <a:t>Use results/figures/system_block_diagram.png</a:t>
            </a:r>
            <a:br/>
            <a:r>
              <a:t>or the author-generated diagram from the presentation.</a:t>
            </a:r>
            <a:br/>
            <a:br/>
            <a:r>
              <a:t>EEG → Preprocessing → EEGNet (1,457 params) →</a:t>
            </a:r>
            <a:br/>
            <a:r>
              <a:t>PAC Estimate → 12-Feature Extraction →</a:t>
            </a:r>
            <a:br/>
            <a:r>
              <a:t>Causal TCN (22,914 params, 5s horizon) →</a:t>
            </a:r>
            <a:br/>
            <a:r>
              <a:t>Controller (z-score ±0.5, 5s hysteresis) →</a:t>
            </a:r>
            <a:br/>
            <a:r>
              <a:t>STIMULATE / REST / MAINTAIN → 40 Hz Audio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62672" y="8503920"/>
            <a:ext cx="6611112" cy="25603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2" y="8595360"/>
            <a:ext cx="633679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1B2A4A"/>
                </a:solidFill>
                <a:latin typeface="Arial"/>
              </a:defRPr>
            </a:pPr>
            <a:r>
              <a:t>KEY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2" y="8961120"/>
            <a:ext cx="6336792" cy="1920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1B2A4A"/>
                </a:solidFill>
                <a:latin typeface="Arial"/>
              </a:defRPr>
            </a:pPr>
            <a:r>
              <a:t>Dropping 61 spectral features and keeping only 12 PAC-trajectory and stimulation-context features raised test R² from −0.025 to 0.606 (5-seed mean ± 0.032). Spectral features encoded patient-specific anatomy, not generalizable dynamics. Feature selection mattered more than model architecture — 8 architectures all converged at R² = 0.287 on spectral features.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85263" y="2834640"/>
            <a:ext cx="6976872" cy="457200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822423" y="2880360"/>
            <a:ext cx="670255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METHODS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85263" y="3383280"/>
            <a:ext cx="6976872" cy="813816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822423" y="3474720"/>
            <a:ext cx="6702552" cy="7955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20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Dataset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OpenNeuro ds005048 (Lahijanian et al., 2024)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35 elderly subjects: 17 AD, 6 MCI, 10 controls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7 frontal EEG channels (Fp1, Fp2, F7, F3, Fz, F4, F8)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250 Hz sampling rate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Protocol: 40 Hz auditory stimulation (40s ON / 20s OFF)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Preprocessing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Bandpass: 0.5–80 Hz (4th-order Butterworth, zero-phase)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Notch: 50 Hz (Q = 30) for power-line removal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Artifact rejection: ±100 µV threshold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Common average reference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2-second windows (500 samples), 1-second hop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PAC Computation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Modulation Index (Tort et al., 2010)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Theta phase (4–8 Hz) × gamma amplitude (38–42 Hz)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KL divergence over 18 phase bins (20°)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Computed at epoch level (20–40s blocks)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Model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MultiscaleCausalTCN: 22,914 parameters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4 causal depthwise-separable conv blocks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Dilations [1, 2, 4, 8], receptive field = 31 steps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GroupNorm + SiLU, attention pooling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Huber loss, AdamW, early stopping (patience = 20)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12 input features: 7 PAC-derived + 5 stim context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Data Splits (subject-level, no leakage)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Train: 24 subjects (11,736 windows)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Validation: 5 subjects (2,725 windows)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Test: 6 subjects (2,822 windows)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Validation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Offline counterfactual replay on all 35 subjects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Ground-truth PAC labels used as TCN input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6 controller variants compared incl. oracle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Wilcoxon signed-rank, Hedges’ g, BCa bootstrap CIs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1750040"/>
            <a:ext cx="10588752" cy="457200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11795760"/>
            <a:ext cx="1031443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2298680"/>
            <a:ext cx="10588752" cy="1042416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12481560"/>
            <a:ext cx="10040112" cy="3840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700" b="0" i="1">
                <a:solidFill>
                  <a:srgbClr val="666666"/>
                </a:solidFill>
                <a:latin typeface="Arial"/>
              </a:defRPr>
            </a:pPr>
            <a:r>
              <a:t>[INSERT: Figure 2 — Controller Comparison Bar Chart]</a:t>
            </a:r>
            <a:br/>
            <a:br/>
            <a:r>
              <a:t>Use results/figures/controller_comparison.png</a:t>
            </a:r>
            <a:br/>
            <a:r>
              <a:t>Resize to fill ~11" x 4.2" in this box</a:t>
            </a:r>
            <a:br/>
            <a:br/>
            <a:r>
              <a:t>Shows all 6 controllers: Fixed, PI, Reactive, TCN, Hybrid, Oracle</a:t>
            </a:r>
            <a:br/>
            <a:r>
              <a:t>across Alignment, Low-PAC Stim Rate, High-PAC Rest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12481560"/>
            <a:ext cx="1004011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650" b="0" i="1">
                <a:solidFill>
                  <a:srgbClr val="000000"/>
                </a:solidFill>
                <a:latin typeface="Arial"/>
              </a:defRPr>
            </a:pPr>
            <a:r>
              <a:t>Figure 2. Controller comparison on 35 subjects’ real EEG. TCN achieves 72.1% alignment vs 64.5% reactive (g = 1.31, p &lt; 0.001).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16596360"/>
            <a:ext cx="4754880" cy="3017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700" b="0" i="1">
                <a:solidFill>
                  <a:srgbClr val="666666"/>
                </a:solidFill>
                <a:latin typeface="Arial"/>
              </a:defRPr>
            </a:pPr>
            <a:r>
              <a:t>[INSERT: Figure 3 — Horizon Sweep]</a:t>
            </a:r>
            <a:br/>
            <a:br/>
            <a:r>
              <a:t>results/figures/horizon_sweep.png</a:t>
            </a:r>
            <a:br/>
            <a:r>
              <a:t>R² across 1–10s horizons</a:t>
            </a:r>
            <a:br/>
            <a:r>
              <a:t>TCN maintains 0.37–0.67</a:t>
            </a:r>
            <a:br/>
            <a:r>
              <a:t>Baselines collapse beyond 3s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16596360"/>
            <a:ext cx="4754880" cy="3017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700" b="0" i="1">
                <a:solidFill>
                  <a:srgbClr val="666666"/>
                </a:solidFill>
                <a:latin typeface="Arial"/>
              </a:defRPr>
            </a:pPr>
            <a:r>
              <a:t>[INSERT: Figure 4 — Per-Subject Scatter]</a:t>
            </a:r>
            <a:br/>
            <a:br/>
            <a:r>
              <a:t>results/figures/per_subject_utility.png</a:t>
            </a:r>
            <a:br/>
            <a:r>
              <a:t>All 35 dots above diagonal</a:t>
            </a:r>
            <a:br/>
            <a:r>
              <a:t>Train/Val/Test splits marked</a:t>
            </a:r>
            <a:br/>
            <a:r>
              <a:t>Binomial p &lt; 0.001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0071080"/>
            <a:ext cx="3200400" cy="16459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016252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1" i="0">
                <a:solidFill>
                  <a:srgbClr val="1B2A4A"/>
                </a:solidFill>
                <a:latin typeface="Arial"/>
              </a:defRPr>
            </a:pPr>
            <a:r>
              <a:t>72.1%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075688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800" b="1" i="0">
                <a:solidFill>
                  <a:srgbClr val="1B2A4A"/>
                </a:solidFill>
                <a:latin typeface="Arial"/>
              </a:defRPr>
            </a:pPr>
            <a:r>
              <a:t>Alignment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10312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700" b="0" i="0">
                <a:solidFill>
                  <a:srgbClr val="1B2A4A"/>
                </a:solidFill>
                <a:latin typeface="Arial"/>
              </a:defRPr>
            </a:pPr>
            <a:r>
              <a:t>vs 64.5% reactive</a:t>
            </a:r>
            <a:br/>
            <a:r>
              <a:t>g = 1.31, p &lt; 0.001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22776" y="20071080"/>
            <a:ext cx="3200400" cy="16459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14216" y="2016252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1" i="0">
                <a:solidFill>
                  <a:srgbClr val="1B2A4A"/>
                </a:solidFill>
                <a:latin typeface="Arial"/>
              </a:defRPr>
            </a:pPr>
            <a:r>
              <a:t>82.6%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14216" y="2075688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800" b="1" i="0">
                <a:solidFill>
                  <a:srgbClr val="1B2A4A"/>
                </a:solidFill>
                <a:latin typeface="Arial"/>
              </a:defRPr>
            </a:pPr>
            <a:r>
              <a:t>Low-PAC Targeting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14216" y="210312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700" b="0" i="0">
                <a:solidFill>
                  <a:srgbClr val="1B2A4A"/>
                </a:solidFill>
                <a:latin typeface="Arial"/>
              </a:defRPr>
            </a:pPr>
            <a:r>
              <a:t>vs 51.7% reactive</a:t>
            </a:r>
            <a:br/>
            <a:r>
              <a:t>g = 4.47, p &lt; 0.001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20071080"/>
            <a:ext cx="3200400" cy="16459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9792" y="2016252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1" i="0">
                <a:solidFill>
                  <a:srgbClr val="1B2A4A"/>
                </a:solidFill>
                <a:latin typeface="Arial"/>
              </a:defRPr>
            </a:pPr>
            <a:r>
              <a:t>35 / 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9792" y="2075688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800" b="1" i="0">
                <a:solidFill>
                  <a:srgbClr val="1B2A4A"/>
                </a:solidFill>
                <a:latin typeface="Arial"/>
              </a:defRPr>
            </a:pPr>
            <a:r>
              <a:t>Subjects Benefited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9792" y="210312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700" b="0" i="0">
                <a:solidFill>
                  <a:srgbClr val="1B2A4A"/>
                </a:solidFill>
                <a:latin typeface="Arial"/>
              </a:defRPr>
            </a:pPr>
            <a:r>
              <a:t>binomial p &lt; 0.001</a:t>
            </a:r>
            <a:br/>
            <a:r>
              <a:t>91% of oracle gap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1854160"/>
            <a:ext cx="1004011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750" b="1" i="0">
                <a:solidFill>
                  <a:srgbClr val="000000"/>
                </a:solidFill>
                <a:latin typeface="Arial"/>
              </a:defRPr>
            </a:pPr>
            <a:r>
              <a:t>The predictive controller reaches 91% of the theoretical oracle’s targeting gap, demonstrating that 5-second PAC forecasting enables personalized therapy outperforming both fixed and reactive protocols.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091672" y="11750040"/>
            <a:ext cx="10588752" cy="457200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28832" y="11795760"/>
            <a:ext cx="1031443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CONCLUSIONS &amp; FUTURE DIRECTIONS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091672" y="12298680"/>
            <a:ext cx="10588752" cy="1042416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228832" y="12390120"/>
            <a:ext cx="10314432" cy="10241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20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Conclusions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The predictive controller reaches 91% of the theoretical oracle’s targeting gap across all 35 subjects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Feature selection was the breakthrough: 12 PAC-trajectory features outperform 73 spectral features five-fold (R² = 0.606 vs. −0.025)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Eight neural network architectures (1,457 to 1.1M params) all converged at R² = 0.287 on spectral features — the bottleneck was data representation, not model capacity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The TCN maintains R² = 0.37–0.67 at 3–10s horizons where all baselines collapse to negative R²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All 35 subjects benefited, including 6 held-out test subjects never seen during training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Advantage is robust across z-score thresholds 0.2–1.0 and four fatigue model assumptions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Statistical Validation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TCN vs. Reactive Threshold (N = 35, paired):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  Alignment:        g = 1.31 [0.75, 1.87]    p &lt; 0.001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  Low-PAC targeting: g = 4.47 [3.33, 5.62]    p &lt; 0.001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  PAC Gap:           g = 1.57 [0.98, 2.17]    p &lt; 0.001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Wilcoxon signed-rank tests (non-parametric, paired)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Hedges’ g with 95% BCa bootstrap CIs (10,000 iterations)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5-seed TCN validation: R² = 0.606 ± 0.032 (range 0.558–0.647)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Future Directions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Deploy with live EEG streaming for real-time closed-loop validation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IRB-approved observational pilot at regional memory care facilities (N = 5–10)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Crossover feasibility study: adaptive vs. fixed stimulation with cognitive outcome measures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Complete system cost under $250 per patient (consumer EEG headset + standard headphones)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Extend to multi-biomarker control (PAC + spectral power + connectivity)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Broader Impact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>
                <a:solidFill>
                  <a:srgbClr val="000000"/>
                </a:solidFill>
                <a:latin typeface="Arial"/>
              </a:defRPr>
            </a:pPr>
            <a:r>
              <a:t>The closed-loop control framework generalizes beyond 40 Hz entrainment. The principle — using a biomarker forecast to time interventions proactively — applies to any brain stimulation paradigm where response is variable and predictable. Adaptive DBS for Parkinson’s disease, FDA-approved in February 2025, validates this approach in a different modality.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22951440"/>
            <a:ext cx="21396960" cy="457200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22997160"/>
            <a:ext cx="21122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ACKNOWLEDGEMENTS &amp; REFERENCES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23500080"/>
            <a:ext cx="21396960" cy="50292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23591520"/>
            <a:ext cx="10241280" cy="4846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20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Acknowledgements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700">
                <a:solidFill>
                  <a:srgbClr val="000000"/>
                </a:solidFill>
                <a:latin typeface="Arial"/>
              </a:defRPr>
            </a:pPr>
            <a:r>
              <a:t>My AP Statistics teacher was consulted on statistical test selection. All other work — literature review, software development, experimental design, and analysis — was conducted independently.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70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700">
                <a:solidFill>
                  <a:srgbClr val="000000"/>
                </a:solidFill>
                <a:latin typeface="Arial"/>
              </a:defRPr>
            </a:pPr>
            <a:r>
              <a:t>Computing: personal Apple Silicon MacBook and personal RTX 3080 GPU. No institutional lab, university mentor, or summer research program was used.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70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700">
                <a:solidFill>
                  <a:srgbClr val="000000"/>
                </a:solidFill>
                <a:latin typeface="Arial"/>
              </a:defRPr>
            </a:pPr>
            <a:r>
              <a:t>Data: OpenNeuro ds005048, used under open access license.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700">
                <a:solidFill>
                  <a:srgbClr val="000000"/>
                </a:solidFill>
                <a:latin typeface="Arial"/>
              </a:defRPr>
            </a:pPr>
            <a:r>
              <a:t>All diagrams created by the author unless otherwise noted.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23591520"/>
            <a:ext cx="10424160" cy="4846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20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References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50">
                <a:solidFill>
                  <a:srgbClr val="000000"/>
                </a:solidFill>
                <a:latin typeface="Arial"/>
              </a:defRPr>
            </a:pPr>
            <a:r>
              <a:t>[1] Iaccarino HG et al. Gamma frequency entrainment attenuates amyloid load. Nature 540, 230–235, 2016.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50">
                <a:solidFill>
                  <a:srgbClr val="000000"/>
                </a:solidFill>
                <a:latin typeface="Arial"/>
              </a:defRPr>
            </a:pPr>
            <a:r>
              <a:t>[2] Murdock MH et al. Multisensory gamma stimulation promotes glymphatic clearance. Nature 627, 149–156, 2024.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50">
                <a:solidFill>
                  <a:srgbClr val="000000"/>
                </a:solidFill>
                <a:latin typeface="Arial"/>
              </a:defRPr>
            </a:pPr>
            <a:r>
              <a:t>[3] Chan D et al. Gamma sensory stimulation in mild Alzheimer’s dementia: open-label extension. Alzheimer’s &amp; Dementia 21(10), e70792, 2025.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50">
                <a:solidFill>
                  <a:srgbClr val="000000"/>
                </a:solidFill>
                <a:latin typeface="Arial"/>
              </a:defRPr>
            </a:pPr>
            <a:r>
              <a:t>[4] Fortunato C et al. Gamma entrainment for cognitive improvement in neurodegeneration. Front Neurosci 17, 2023.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50">
                <a:solidFill>
                  <a:srgbClr val="000000"/>
                </a:solidFill>
                <a:latin typeface="Arial"/>
              </a:defRPr>
            </a:pPr>
            <a:r>
              <a:t>[5] Lahijanian B et al. Auditory gamma entrainment enhances DMN connectivity in dementia. Sci Rep 14, 2024.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50">
                <a:solidFill>
                  <a:srgbClr val="000000"/>
                </a:solidFill>
                <a:latin typeface="Arial"/>
              </a:defRPr>
            </a:pPr>
            <a:r>
              <a:t>[6] Lawhern VJ et al. EEGNet: compact CNN for EEG-based BCIs. J Neural Eng 15, 056013, 2018.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50">
                <a:solidFill>
                  <a:srgbClr val="000000"/>
                </a:solidFill>
                <a:latin typeface="Arial"/>
              </a:defRPr>
            </a:pPr>
            <a:r>
              <a:t>[7] Tort ABL et al. Measuring phase-amplitude coupling. J Neurophysiol 104, 1195–1210, 2010.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50">
                <a:solidFill>
                  <a:srgbClr val="000000"/>
                </a:solidFill>
                <a:latin typeface="Arial"/>
              </a:defRPr>
            </a:pPr>
            <a:r>
              <a:t>[8] Rosin B et al. Closed-loop DBS for Parkinson’s disease. Neuron 72, 370–384, 2011.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8620720"/>
            <a:ext cx="2139696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28620720"/>
            <a:ext cx="21396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600" b="0" i="0">
                <a:solidFill>
                  <a:srgbClr val="FFFFFF"/>
                </a:solidFill>
                <a:latin typeface="Arial"/>
              </a:defRPr>
            </a:pPr>
            <a:r>
              <a:t>California Science and Engineering Fair 2026  •  Medicine &amp; Physiology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