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varScale="1">
        <p:scale>
          <a:sx n="102" d="100"/>
          <a:sy n="102" d="100"/>
        </p:scale>
        <p:origin x="192" y="6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7836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Amaar Chughtai, from Valley Christian High School. My grandmother had dementia, which is how I started reading about 40-hertz sound. The bars are one strong responder's session: red is sound, gray is silence.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stimulus: a one-millisecond beep, forty times a second. In mice, 40-hertz light and sound reduced Alzheimer's-like pathology. But replication has been mixed, and benefit in patients hasn't been established.
And some brains barely follow the sound. To tailor stimulation to a person, you'd have to decide while the session is still running.
So my question: within one session, does the response in the first two minutes track the response a few minutes later?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public EEG from 35 people referred to a memory clinic, about half with Alzheimer's. Each cycle is 40 seconds of sound, then 20 of silence. In every cycle shown, the group's synchronization is higher with sound than in the silence after.
Eight people had only five full cycles. So I compared cycles one and two, the first two minutes, with four and five, the latest pair everyone has, and left cycle three out so the two windows never touch.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signal is one frontal electrode minus one posterior electrode, like the two lines on this head. *(point at the head)* I filter both around 40 hertz and track their timing difference.
The bars show where that difference landed. With sound, it piles up on one side; in silence, it spreads around. Make each moment an arrow and average them: arrows that agree give a long average, near one; scattered arrows, near zero. That length is the phase-locking value: point four two versus point one six. I average it over 200 pairs that never share an electrode.
Then I subtract silence from sound, cycle by cycle. That's the contrast, C. Why subtract? Raw PLV correlates early to late at every frequency, even where the sound barely changes it, so it mostly describes the person. Subtracting their own silence removes most of that.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one person. People with a bigger early contrast had a bigger later contrast. The correlation is 0.78, *(pause)* with a 95 percent confidence interval of 0.57 to 0.89.
The dots sit around the dashed line, where later equals early, so it's agreement, not just the same ranking. Individuals still moved around. And no single person drives it: without the most influential point, *(point at the top-right dot)* up here, it's still 0.75.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I tried to break it.
First: anything general about a person's recording would show up at neighboring frequencies too. They show much less: minus 0.1 to 0.26, against 0.78.
Second: PLV can be fooled when one source reaches both electrodes at once. The phase lag index and its weighted version discount that zero-lag part, and still give 0.78 and 0.66.
Third: I picked cycles four and five after looking, and they gave the highest r. The other windows gave 0.61 to 0.77, all significant after correction.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back to my question: here, the first two minutes did track three to five minutes in. That's enough to justify a prospective test, and no more. I picked the later window after looking, the data were cleaned offline, silence always followed sound with no sham control, and scalp EEG can't rule out a shared response or an artifact. Repeat sessions, guiding stimulation, and clinical benefit are all untested.
Next is a preregistered, real-time test with a sham or counterbalanced order. Thank you.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914400"/>
          </a:xfrm>
          <a:prstGeom prst="rect">
            <a:avLst/>
          </a:prstGeom>
          <a:noFill/>
          <a:ln/>
        </p:spPr>
        <p:txBody>
          <a:bodyPr wrap="square" rtlCol="0"/>
          <a:lstStyle>
            <a:lvl1pPr marL="0" indent="0" algn="l">
              <a:buNone/>
              <a:defRPr lang="en-US" sz="3000" b="1" dirty="0">
                <a:solidFill>
                  <a:srgbClr val="235078"/>
                </a:solidFill>
                <a:latin typeface="Arial" pitchFamily="34" charset="0"/>
                <a:ea typeface="Arial" pitchFamily="34" charset="-122"/>
                <a:cs typeface="Arial" pitchFamily="34" charset="-120"/>
              </a:defRPr>
            </a:lvl1pPr>
          </a:lstStyle>
          <a:p>
            <a:pPr marL="0" indent="0" algn="l">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777240"/>
            <a:ext cx="9875520" cy="1463040"/>
          </a:xfrm>
          <a:prstGeom prst="rect">
            <a:avLst/>
          </a:prstGeom>
          <a:noFill/>
          <a:ln/>
        </p:spPr>
        <p:txBody>
          <a:bodyPr wrap="square" lIns="0" tIns="0" rIns="0" bIns="0" rtlCol="0" anchor="t"/>
          <a:lstStyle/>
          <a:p>
            <a:pPr marL="0" indent="0" algn="l">
              <a:lnSpc>
                <a:spcPct val="100000"/>
              </a:lnSpc>
              <a:buNone/>
            </a:pPr>
            <a:r>
              <a:rPr lang="en-US" sz="4000" b="1" dirty="0">
                <a:solidFill>
                  <a:srgbClr val="235078"/>
                </a:solidFill>
                <a:latin typeface="Arial" pitchFamily="34" charset="0"/>
                <a:ea typeface="Arial" pitchFamily="34" charset="-122"/>
                <a:cs typeface="Arial" pitchFamily="34" charset="-120"/>
              </a:rPr>
              <a:t>Early and Later EEG Synchronization During 40-Hz Auditory Stimulation</a:t>
            </a:r>
            <a:endParaRPr lang="en-US" sz="4000" dirty="0"/>
          </a:p>
        </p:txBody>
      </p:sp>
      <p:sp>
        <p:nvSpPr>
          <p:cNvPr id="3" name="Text 1"/>
          <p:cNvSpPr txBox="1"/>
          <p:nvPr/>
        </p:nvSpPr>
        <p:spPr>
          <a:xfrm>
            <a:off x="548640" y="2514600"/>
            <a:ext cx="7315200" cy="411480"/>
          </a:xfrm>
          <a:prstGeom prst="rect">
            <a:avLst/>
          </a:prstGeom>
          <a:noFill/>
          <a:ln/>
        </p:spPr>
        <p:txBody>
          <a:bodyPr wrap="square" lIns="0" tIns="0" rIns="0" bIns="0" rtlCol="0" anchor="t"/>
          <a:lstStyle/>
          <a:p>
            <a:pPr marL="0" indent="0" algn="l">
              <a:lnSpc>
                <a:spcPct val="108000"/>
              </a:lnSpc>
              <a:buNone/>
            </a:pPr>
            <a:r>
              <a:rPr lang="en-US" sz="2400" b="1" dirty="0">
                <a:solidFill>
                  <a:srgbClr val="222222"/>
                </a:solidFill>
                <a:latin typeface="Arial" pitchFamily="34" charset="0"/>
                <a:ea typeface="Arial" pitchFamily="34" charset="-122"/>
                <a:cs typeface="Arial" pitchFamily="34" charset="-120"/>
              </a:rPr>
              <a:t>Amaar Chughtai</a:t>
            </a:r>
            <a:endParaRPr lang="en-US" sz="2400" dirty="0"/>
          </a:p>
        </p:txBody>
      </p:sp>
      <p:sp>
        <p:nvSpPr>
          <p:cNvPr id="4" name="Text 2"/>
          <p:cNvSpPr txBox="1"/>
          <p:nvPr/>
        </p:nvSpPr>
        <p:spPr>
          <a:xfrm>
            <a:off x="548640" y="2944368"/>
            <a:ext cx="8229600" cy="365760"/>
          </a:xfrm>
          <a:prstGeom prst="rect">
            <a:avLst/>
          </a:prstGeom>
          <a:noFill/>
          <a:ln/>
        </p:spPr>
        <p:txBody>
          <a:bodyPr wrap="square" lIns="0" tIns="0" rIns="0" bIns="0" rtlCol="0" anchor="t"/>
          <a:lstStyle/>
          <a:p>
            <a:pPr marL="0" indent="0" algn="l">
              <a:lnSpc>
                <a:spcPct val="108000"/>
              </a:lnSpc>
              <a:buNone/>
            </a:pPr>
            <a:r>
              <a:rPr lang="en-US" sz="2000" dirty="0">
                <a:solidFill>
                  <a:srgbClr val="444444"/>
                </a:solidFill>
                <a:latin typeface="Arial" pitchFamily="34" charset="0"/>
                <a:ea typeface="Arial" pitchFamily="34" charset="-122"/>
                <a:cs typeface="Arial" pitchFamily="34" charset="-120"/>
              </a:rPr>
              <a:t>Valley Christian High School, San Jose, California</a:t>
            </a:r>
            <a:endParaRPr lang="en-US" sz="2000" dirty="0"/>
          </a:p>
        </p:txBody>
      </p:sp>
      <p:sp>
        <p:nvSpPr>
          <p:cNvPr id="5" name="Text 3"/>
          <p:cNvSpPr txBox="1"/>
          <p:nvPr/>
        </p:nvSpPr>
        <p:spPr>
          <a:xfrm>
            <a:off x="548640" y="3364992"/>
            <a:ext cx="8229600" cy="365760"/>
          </a:xfrm>
          <a:prstGeom prst="rect">
            <a:avLst/>
          </a:prstGeom>
          <a:noFill/>
          <a:ln/>
        </p:spPr>
        <p:txBody>
          <a:bodyPr wrap="square" lIns="0" tIns="0" rIns="0" bIns="0" rtlCol="0" anchor="t"/>
          <a:lstStyle/>
          <a:p>
            <a:pPr marL="0" indent="0" algn="l">
              <a:lnSpc>
                <a:spcPct val="108000"/>
              </a:lnSpc>
              <a:buNone/>
            </a:pPr>
            <a:r>
              <a:rPr lang="en-US" sz="1600" dirty="0">
                <a:solidFill>
                  <a:srgbClr val="444444"/>
                </a:solidFill>
                <a:latin typeface="Arial" pitchFamily="34" charset="0"/>
                <a:ea typeface="Arial" pitchFamily="34" charset="-122"/>
                <a:cs typeface="Arial" pitchFamily="34" charset="-120"/>
              </a:rPr>
              <a:t>IEEE MIT URTC 2026</a:t>
            </a:r>
            <a:endParaRPr lang="en-US" sz="1600" dirty="0"/>
          </a:p>
        </p:txBody>
      </p:sp>
      <p:pic>
        <p:nvPicPr>
          <p:cNvPr id="6" name="Image 0" descr="40-Hz phase-locking value in each 20-second window of one participant's session"/>
          <p:cNvPicPr>
            <a:picLocks noChangeAspect="1"/>
          </p:cNvPicPr>
          <p:nvPr/>
        </p:nvPicPr>
        <p:blipFill>
          <a:blip r:embed="rId3"/>
          <a:stretch>
            <a:fillRect/>
          </a:stretch>
        </p:blipFill>
        <p:spPr>
          <a:xfrm>
            <a:off x="502920" y="4069080"/>
            <a:ext cx="7680960" cy="2148840"/>
          </a:xfrm>
          <a:prstGeom prst="rect">
            <a:avLst/>
          </a:prstGeom>
        </p:spPr>
      </p:pic>
      <p:sp>
        <p:nvSpPr>
          <p:cNvPr id="7" name="Text 4"/>
          <p:cNvSpPr txBox="1"/>
          <p:nvPr/>
        </p:nvSpPr>
        <p:spPr>
          <a:xfrm>
            <a:off x="548640" y="6263640"/>
            <a:ext cx="7680960" cy="320040"/>
          </a:xfrm>
          <a:prstGeom prst="rect">
            <a:avLst/>
          </a:prstGeom>
          <a:noFill/>
          <a:ln/>
        </p:spPr>
        <p:txBody>
          <a:bodyPr wrap="square" lIns="0" tIns="0" rIns="0" bIns="0" rtlCol="0" anchor="t"/>
          <a:lstStyle/>
          <a:p>
            <a:pPr marL="0" indent="0" algn="l">
              <a:lnSpc>
                <a:spcPct val="108000"/>
              </a:lnSpc>
              <a:buNone/>
            </a:pPr>
            <a:r>
              <a:rPr lang="en-US" sz="1200" dirty="0">
                <a:solidFill>
                  <a:srgbClr val="666666"/>
                </a:solidFill>
                <a:latin typeface="Arial" pitchFamily="34" charset="0"/>
                <a:ea typeface="Arial" pitchFamily="34" charset="-122"/>
                <a:cs typeface="Arial" pitchFamily="34" charset="-120"/>
              </a:rPr>
              <a:t>One participant's session (sub-32, stronger responder)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914400"/>
          </a:xfrm>
          <a:prstGeom prst="rect">
            <a:avLst/>
          </a:prstGeom>
          <a:noFill/>
          <a:ln/>
        </p:spPr>
        <p:txBody>
          <a:bodyPr wrap="square" lIns="0" tIns="0" rIns="0" bIns="0" rtlCol="0" anchor="t"/>
          <a:lstStyle/>
          <a:p>
            <a:pPr marL="0" indent="0" algn="l">
              <a:buNone/>
            </a:pPr>
            <a:r>
              <a:rPr lang="en-US" sz="3000" b="1" dirty="0">
                <a:solidFill>
                  <a:srgbClr val="235078"/>
                </a:solidFill>
                <a:latin typeface="Arial" pitchFamily="34" charset="0"/>
                <a:ea typeface="Arial" pitchFamily="34" charset="-122"/>
                <a:cs typeface="Arial" pitchFamily="34" charset="-120"/>
              </a:rPr>
              <a:t>Does the EEG response in the first two minutes track the response a few minutes later?</a:t>
            </a:r>
            <a:endParaRPr lang="en-US" sz="3000" dirty="0"/>
          </a:p>
        </p:txBody>
      </p:sp>
      <p:sp>
        <p:nvSpPr>
          <p:cNvPr id="4" name="Text 1"/>
          <p:cNvSpPr txBox="1"/>
          <p:nvPr/>
        </p:nvSpPr>
        <p:spPr>
          <a:xfrm>
            <a:off x="548640" y="1874520"/>
            <a:ext cx="5577840" cy="3840480"/>
          </a:xfrm>
          <a:prstGeom prst="rect">
            <a:avLst/>
          </a:prstGeom>
          <a:noFill/>
          <a:ln/>
        </p:spPr>
        <p:txBody>
          <a:bodyPr wrap="square" lIns="0" tIns="0" rIns="0" bIns="0" rtlCol="0" anchor="t"/>
          <a:lstStyle/>
          <a:p>
            <a:pPr marL="0" indent="0" algn="l">
              <a:lnSpc>
                <a:spcPct val="112000"/>
              </a:lnSpc>
              <a:spcAft>
                <a:spcPts val="1600"/>
              </a:spcAft>
              <a:buNone/>
            </a:pPr>
            <a:r>
              <a:rPr lang="en-US" sz="2000" dirty="0">
                <a:solidFill>
                  <a:srgbClr val="222222"/>
                </a:solidFill>
                <a:latin typeface="Arial" pitchFamily="34" charset="0"/>
                <a:ea typeface="Arial" pitchFamily="34" charset="-122"/>
                <a:cs typeface="Arial" pitchFamily="34" charset="-120"/>
              </a:rPr>
              <a:t>In mice, 40-Hz light and sound reduced Alzheimer's-like pathology.</a:t>
            </a:r>
            <a:r>
              <a:rPr lang="en-US" sz="2000" baseline="30000" dirty="0">
                <a:solidFill>
                  <a:srgbClr val="222222"/>
                </a:solidFill>
                <a:latin typeface="Arial" pitchFamily="34" charset="0"/>
                <a:ea typeface="Arial" pitchFamily="34" charset="-122"/>
                <a:cs typeface="Arial" pitchFamily="34" charset="-120"/>
              </a:rPr>
              <a:t>1,2</a:t>
            </a:r>
            <a:r>
              <a:rPr lang="en-US" sz="2000" dirty="0">
                <a:solidFill>
                  <a:srgbClr val="222222"/>
                </a:solidFill>
                <a:latin typeface="Arial" pitchFamily="34" charset="0"/>
                <a:ea typeface="Arial" pitchFamily="34" charset="-122"/>
                <a:cs typeface="Arial" pitchFamily="34" charset="-120"/>
              </a:rPr>
              <a:t> Replication has been mixed,</a:t>
            </a:r>
            <a:r>
              <a:rPr lang="en-US" sz="2000" baseline="30000" dirty="0">
                <a:solidFill>
                  <a:srgbClr val="222222"/>
                </a:solidFill>
                <a:latin typeface="Arial" pitchFamily="34" charset="0"/>
                <a:ea typeface="Arial" pitchFamily="34" charset="-122"/>
                <a:cs typeface="Arial" pitchFamily="34" charset="-120"/>
              </a:rPr>
              <a:t>3</a:t>
            </a:r>
            <a:r>
              <a:rPr lang="en-US" sz="2000" dirty="0">
                <a:solidFill>
                  <a:srgbClr val="222222"/>
                </a:solidFill>
                <a:latin typeface="Arial" pitchFamily="34" charset="0"/>
                <a:ea typeface="Arial" pitchFamily="34" charset="-122"/>
                <a:cs typeface="Arial" pitchFamily="34" charset="-120"/>
              </a:rPr>
              <a:t> and benefit in patients hasn't been established.</a:t>
            </a:r>
            <a:r>
              <a:rPr lang="en-US" sz="2000" baseline="30000" dirty="0">
                <a:solidFill>
                  <a:srgbClr val="222222"/>
                </a:solidFill>
                <a:latin typeface="Arial" pitchFamily="34" charset="0"/>
                <a:ea typeface="Arial" pitchFamily="34" charset="-122"/>
                <a:cs typeface="Arial" pitchFamily="34" charset="-120"/>
              </a:rPr>
              <a:t>4,5</a:t>
            </a:r>
            <a:endParaRPr lang="en-US" sz="2000" dirty="0"/>
          </a:p>
          <a:p>
            <a:pPr marL="0" indent="0" algn="l">
              <a:lnSpc>
                <a:spcPct val="112000"/>
              </a:lnSpc>
              <a:spcAft>
                <a:spcPts val="1600"/>
              </a:spcAft>
              <a:buNone/>
            </a:pPr>
            <a:r>
              <a:rPr lang="en-US" sz="2000" dirty="0">
                <a:solidFill>
                  <a:srgbClr val="222222"/>
                </a:solidFill>
                <a:latin typeface="Arial" pitchFamily="34" charset="0"/>
                <a:ea typeface="Arial" pitchFamily="34" charset="-122"/>
                <a:cs typeface="Arial" pitchFamily="34" charset="-120"/>
              </a:rPr>
              <a:t>Not every brain follows a fixed-schedule 40-Hz sound.</a:t>
            </a:r>
            <a:r>
              <a:rPr lang="en-US" sz="2000" baseline="30000" dirty="0">
                <a:solidFill>
                  <a:srgbClr val="222222"/>
                </a:solidFill>
                <a:latin typeface="Arial" pitchFamily="34" charset="0"/>
                <a:ea typeface="Arial" pitchFamily="34" charset="-122"/>
                <a:cs typeface="Arial" pitchFamily="34" charset="-120"/>
              </a:rPr>
              <a:t>6</a:t>
            </a:r>
            <a:r>
              <a:rPr lang="en-US" sz="2000" dirty="0">
                <a:solidFill>
                  <a:srgbClr val="222222"/>
                </a:solidFill>
                <a:latin typeface="Arial" pitchFamily="34" charset="0"/>
                <a:ea typeface="Arial" pitchFamily="34" charset="-122"/>
                <a:cs typeface="Arial" pitchFamily="34" charset="-120"/>
              </a:rPr>
              <a:t> To maximize auditory therapy, we must tailor stimulation by person, meaning we must decide when to stimulate </a:t>
            </a:r>
            <a:r>
              <a:rPr lang="en-US" sz="2000" i="1" dirty="0">
                <a:solidFill>
                  <a:srgbClr val="222222"/>
                </a:solidFill>
                <a:latin typeface="Arial" pitchFamily="34" charset="0"/>
                <a:ea typeface="Arial" pitchFamily="34" charset="-122"/>
                <a:cs typeface="Arial" pitchFamily="34" charset="-120"/>
              </a:rPr>
              <a:t>while </a:t>
            </a:r>
            <a:r>
              <a:rPr lang="en-US" sz="2000" dirty="0">
                <a:solidFill>
                  <a:srgbClr val="222222"/>
                </a:solidFill>
                <a:latin typeface="Arial" pitchFamily="34" charset="0"/>
                <a:ea typeface="Arial" pitchFamily="34" charset="-122"/>
                <a:cs typeface="Arial" pitchFamily="34" charset="-120"/>
              </a:rPr>
              <a:t>the session is still running. That only works if the </a:t>
            </a:r>
            <a:r>
              <a:rPr lang="en-US" sz="2000" i="1" dirty="0">
                <a:solidFill>
                  <a:srgbClr val="222222"/>
                </a:solidFill>
                <a:latin typeface="Arial" pitchFamily="34" charset="0"/>
                <a:ea typeface="Arial" pitchFamily="34" charset="-122"/>
                <a:cs typeface="Arial" pitchFamily="34" charset="-120"/>
              </a:rPr>
              <a:t>early</a:t>
            </a:r>
            <a:r>
              <a:rPr lang="en-US" sz="2000" dirty="0">
                <a:solidFill>
                  <a:srgbClr val="222222"/>
                </a:solidFill>
                <a:latin typeface="Arial" pitchFamily="34" charset="0"/>
                <a:ea typeface="Arial" pitchFamily="34" charset="-122"/>
                <a:cs typeface="Arial" pitchFamily="34" charset="-120"/>
              </a:rPr>
              <a:t> EEG responses contains information about later ones.</a:t>
            </a:r>
            <a:endParaRPr lang="en-US" sz="2000" dirty="0"/>
          </a:p>
        </p:txBody>
      </p:sp>
      <p:pic>
        <p:nvPicPr>
          <p:cNvPr id="5" name="Image 0" descr="A 40-Hz train of 1-ms, 5-kHz tone pips"/>
          <p:cNvPicPr>
            <a:picLocks noChangeAspect="1"/>
          </p:cNvPicPr>
          <p:nvPr/>
        </p:nvPicPr>
        <p:blipFill>
          <a:blip r:embed="rId3"/>
          <a:stretch>
            <a:fillRect/>
          </a:stretch>
        </p:blipFill>
        <p:spPr>
          <a:xfrm>
            <a:off x="6446520" y="1828800"/>
            <a:ext cx="5212080" cy="2377440"/>
          </a:xfrm>
          <a:prstGeom prst="rect">
            <a:avLst/>
          </a:prstGeom>
        </p:spPr>
      </p:pic>
      <p:sp>
        <p:nvSpPr>
          <p:cNvPr id="6" name="Text 2"/>
          <p:cNvSpPr txBox="1"/>
          <p:nvPr/>
        </p:nvSpPr>
        <p:spPr>
          <a:xfrm>
            <a:off x="6583680" y="4343400"/>
            <a:ext cx="4937760" cy="822960"/>
          </a:xfrm>
          <a:prstGeom prst="rect">
            <a:avLst/>
          </a:prstGeom>
          <a:noFill/>
          <a:ln/>
        </p:spPr>
        <p:txBody>
          <a:bodyPr wrap="square" lIns="0" tIns="0" rIns="0" bIns="0" rtlCol="0" anchor="t"/>
          <a:lstStyle/>
          <a:p>
            <a:pPr marL="0" indent="0" algn="l">
              <a:lnSpc>
                <a:spcPct val="108000"/>
              </a:lnSpc>
              <a:buNone/>
            </a:pPr>
            <a:r>
              <a:rPr lang="en-US" sz="1400" dirty="0">
                <a:solidFill>
                  <a:srgbClr val="444444"/>
                </a:solidFill>
                <a:latin typeface="Arial" pitchFamily="34" charset="0"/>
                <a:ea typeface="Arial" pitchFamily="34" charset="-122"/>
                <a:cs typeface="Arial" pitchFamily="34" charset="-120"/>
              </a:rPr>
              <a:t>The stimulus: a 1-ms, 5-kHz tone pip every 25 ms, so 40 per second, played from two loudspeakers.</a:t>
            </a:r>
            <a:r>
              <a:rPr lang="en-US" sz="1400" baseline="30000" dirty="0">
                <a:solidFill>
                  <a:srgbClr val="444444"/>
                </a:solidFill>
                <a:latin typeface="Arial" pitchFamily="34" charset="0"/>
                <a:ea typeface="Arial" pitchFamily="34" charset="-122"/>
                <a:cs typeface="Arial" pitchFamily="34" charset="-120"/>
              </a:rPr>
              <a:t>6</a:t>
            </a:r>
            <a:endParaRPr lang="en-US" sz="1400" dirty="0"/>
          </a:p>
        </p:txBody>
      </p:sp>
      <p:sp>
        <p:nvSpPr>
          <p:cNvPr id="7" name="Text 3"/>
          <p:cNvSpPr txBox="1"/>
          <p:nvPr/>
        </p:nvSpPr>
        <p:spPr>
          <a:xfrm>
            <a:off x="548640" y="6199632"/>
            <a:ext cx="11064240" cy="502920"/>
          </a:xfrm>
          <a:prstGeom prst="rect">
            <a:avLst/>
          </a:prstGeom>
          <a:noFill/>
          <a:ln/>
        </p:spPr>
        <p:txBody>
          <a:bodyPr wrap="square" lIns="0" tIns="0" rIns="0" bIns="0" rtlCol="0" anchor="t"/>
          <a:lstStyle/>
          <a:p>
            <a:pPr marL="0" indent="0" algn="l">
              <a:lnSpc>
                <a:spcPct val="105000"/>
              </a:lnSpc>
              <a:buNone/>
            </a:pPr>
            <a:r>
              <a:rPr lang="en-US" sz="1100" baseline="30000" dirty="0">
                <a:solidFill>
                  <a:srgbClr val="666666"/>
                </a:solidFill>
                <a:latin typeface="Arial" pitchFamily="34" charset="0"/>
                <a:ea typeface="Arial" pitchFamily="34" charset="-122"/>
                <a:cs typeface="Arial" pitchFamily="34" charset="-120"/>
              </a:rPr>
              <a:t>1</a:t>
            </a:r>
            <a:r>
              <a:rPr lang="en-US" sz="1100" dirty="0">
                <a:solidFill>
                  <a:srgbClr val="666666"/>
                </a:solidFill>
                <a:latin typeface="Arial" pitchFamily="34" charset="0"/>
                <a:ea typeface="Arial" pitchFamily="34" charset="-122"/>
                <a:cs typeface="Arial" pitchFamily="34" charset="-120"/>
              </a:rPr>
              <a:t>Iaccarino et al., Nature 2016.  </a:t>
            </a:r>
            <a:r>
              <a:rPr lang="en-US" sz="1100" baseline="30000" dirty="0">
                <a:solidFill>
                  <a:srgbClr val="666666"/>
                </a:solidFill>
                <a:latin typeface="Arial" pitchFamily="34" charset="0"/>
                <a:ea typeface="Arial" pitchFamily="34" charset="-122"/>
                <a:cs typeface="Arial" pitchFamily="34" charset="-120"/>
              </a:rPr>
              <a:t>2</a:t>
            </a:r>
            <a:r>
              <a:rPr lang="en-US" sz="1100" dirty="0">
                <a:solidFill>
                  <a:srgbClr val="666666"/>
                </a:solidFill>
                <a:latin typeface="Arial" pitchFamily="34" charset="0"/>
                <a:ea typeface="Arial" pitchFamily="34" charset="-122"/>
                <a:cs typeface="Arial" pitchFamily="34" charset="-120"/>
              </a:rPr>
              <a:t>Martorell et al., Cell 2019.  </a:t>
            </a:r>
            <a:r>
              <a:rPr lang="en-US" sz="1100" baseline="30000" dirty="0">
                <a:solidFill>
                  <a:srgbClr val="666666"/>
                </a:solidFill>
                <a:latin typeface="Arial" pitchFamily="34" charset="0"/>
                <a:ea typeface="Arial" pitchFamily="34" charset="-122"/>
                <a:cs typeface="Arial" pitchFamily="34" charset="-120"/>
              </a:rPr>
              <a:t>3</a:t>
            </a:r>
            <a:r>
              <a:rPr lang="en-US" sz="1100" dirty="0">
                <a:solidFill>
                  <a:srgbClr val="666666"/>
                </a:solidFill>
                <a:latin typeface="Arial" pitchFamily="34" charset="0"/>
                <a:ea typeface="Arial" pitchFamily="34" charset="-122"/>
                <a:cs typeface="Arial" pitchFamily="34" charset="-120"/>
              </a:rPr>
              <a:t>Soula et al., Nat Neurosci 2023.  </a:t>
            </a:r>
            <a:r>
              <a:rPr lang="en-US" sz="1100" baseline="30000" dirty="0">
                <a:solidFill>
                  <a:srgbClr val="666666"/>
                </a:solidFill>
                <a:latin typeface="Arial" pitchFamily="34" charset="0"/>
                <a:ea typeface="Arial" pitchFamily="34" charset="-122"/>
                <a:cs typeface="Arial" pitchFamily="34" charset="-120"/>
              </a:rPr>
              <a:t>4</a:t>
            </a:r>
            <a:r>
              <a:rPr lang="en-US" sz="1100" dirty="0">
                <a:solidFill>
                  <a:srgbClr val="666666"/>
                </a:solidFill>
                <a:latin typeface="Arial" pitchFamily="34" charset="0"/>
                <a:ea typeface="Arial" pitchFamily="34" charset="-122"/>
                <a:cs typeface="Arial" pitchFamily="34" charset="-120"/>
              </a:rPr>
              <a:t>Chan et al., PLOS ONE 2022.  </a:t>
            </a:r>
            <a:r>
              <a:rPr lang="en-US" sz="1100" baseline="30000" dirty="0">
                <a:solidFill>
                  <a:srgbClr val="666666"/>
                </a:solidFill>
                <a:latin typeface="Arial" pitchFamily="34" charset="0"/>
                <a:ea typeface="Arial" pitchFamily="34" charset="-122"/>
                <a:cs typeface="Arial" pitchFamily="34" charset="-120"/>
              </a:rPr>
              <a:t>5</a:t>
            </a:r>
            <a:r>
              <a:rPr lang="en-US" sz="1100" dirty="0">
                <a:solidFill>
                  <a:srgbClr val="666666"/>
                </a:solidFill>
                <a:latin typeface="Arial" pitchFamily="34" charset="0"/>
                <a:ea typeface="Arial" pitchFamily="34" charset="-122"/>
                <a:cs typeface="Arial" pitchFamily="34" charset="-120"/>
              </a:rPr>
              <a:t>Hajós et al., Front Neurol 2024.  </a:t>
            </a:r>
            <a:r>
              <a:rPr lang="en-US" sz="1100" baseline="30000" dirty="0">
                <a:solidFill>
                  <a:srgbClr val="666666"/>
                </a:solidFill>
                <a:latin typeface="Arial" pitchFamily="34" charset="0"/>
                <a:ea typeface="Arial" pitchFamily="34" charset="-122"/>
                <a:cs typeface="Arial" pitchFamily="34" charset="-120"/>
              </a:rPr>
              <a:t>6</a:t>
            </a:r>
            <a:r>
              <a:rPr lang="en-US" sz="1100" dirty="0">
                <a:solidFill>
                  <a:srgbClr val="666666"/>
                </a:solidFill>
                <a:latin typeface="Arial" pitchFamily="34" charset="0"/>
                <a:ea typeface="Arial" pitchFamily="34" charset="-122"/>
                <a:cs typeface="Arial" pitchFamily="34" charset="-120"/>
              </a:rPr>
              <a:t>Lahijanian et al., Sci Rep 2024.</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914400"/>
          </a:xfrm>
          <a:prstGeom prst="rect">
            <a:avLst/>
          </a:prstGeom>
          <a:noFill/>
          <a:ln/>
        </p:spPr>
        <p:txBody>
          <a:bodyPr wrap="square" lIns="0" tIns="0" rIns="0" bIns="0" rtlCol="0" anchor="t"/>
          <a:lstStyle/>
          <a:p>
            <a:pPr marL="0" indent="0" algn="l">
              <a:buNone/>
            </a:pPr>
            <a:r>
              <a:rPr lang="en-US" sz="3000" b="1" dirty="0">
                <a:solidFill>
                  <a:srgbClr val="235078"/>
                </a:solidFill>
                <a:latin typeface="Arial" pitchFamily="34" charset="0"/>
                <a:ea typeface="Arial" pitchFamily="34" charset="-122"/>
                <a:cs typeface="Arial" pitchFamily="34" charset="-120"/>
              </a:rPr>
              <a:t>Dataset: 35 people, 40s of sound, 20s of silence</a:t>
            </a:r>
            <a:endParaRPr lang="en-US" sz="3000" dirty="0"/>
          </a:p>
        </p:txBody>
      </p:sp>
      <p:sp>
        <p:nvSpPr>
          <p:cNvPr id="4" name="Text 1"/>
          <p:cNvSpPr txBox="1"/>
          <p:nvPr/>
        </p:nvSpPr>
        <p:spPr>
          <a:xfrm>
            <a:off x="548640" y="1097280"/>
            <a:ext cx="11064240" cy="731520"/>
          </a:xfrm>
          <a:prstGeom prst="rect">
            <a:avLst/>
          </a:prstGeom>
          <a:noFill/>
          <a:ln/>
        </p:spPr>
        <p:txBody>
          <a:bodyPr wrap="square" lIns="0" tIns="0" rIns="0" bIns="0" rtlCol="0" anchor="t"/>
          <a:lstStyle/>
          <a:p>
            <a:pPr marL="0" indent="0" algn="l">
              <a:lnSpc>
                <a:spcPct val="108000"/>
              </a:lnSpc>
              <a:buNone/>
            </a:pPr>
            <a:r>
              <a:rPr lang="en-US" sz="1800" dirty="0">
                <a:solidFill>
                  <a:srgbClr val="444444"/>
                </a:solidFill>
                <a:latin typeface="Arial" pitchFamily="34" charset="0"/>
                <a:ea typeface="Arial" pitchFamily="34" charset="-122"/>
                <a:cs typeface="Arial" pitchFamily="34" charset="-120"/>
              </a:rPr>
              <a:t>Public EEG from a memory clinic in Tehran (OpenNeuro ds005048). 10 people were cognitively normal, 6 had mild cognitive impairment, 17 had Alzheimer's disease, and 2 were unclassified.</a:t>
            </a:r>
            <a:endParaRPr lang="en-US" sz="1800" dirty="0"/>
          </a:p>
        </p:txBody>
      </p:sp>
      <p:pic>
        <p:nvPicPr>
          <p:cNvPr id="5" name="Image 0" descr="Protocol timeline and group-mean 40-Hz PLV in every 20-second window"/>
          <p:cNvPicPr>
            <a:picLocks noChangeAspect="1"/>
          </p:cNvPicPr>
          <p:nvPr/>
        </p:nvPicPr>
        <p:blipFill>
          <a:blip r:embed="rId3"/>
          <a:stretch>
            <a:fillRect/>
          </a:stretch>
        </p:blipFill>
        <p:spPr>
          <a:xfrm>
            <a:off x="411480" y="2011680"/>
            <a:ext cx="8229600" cy="3657600"/>
          </a:xfrm>
          <a:prstGeom prst="rect">
            <a:avLst/>
          </a:prstGeom>
        </p:spPr>
      </p:pic>
      <p:sp>
        <p:nvSpPr>
          <p:cNvPr id="6" name="Text 2"/>
          <p:cNvSpPr txBox="1"/>
          <p:nvPr/>
        </p:nvSpPr>
        <p:spPr>
          <a:xfrm>
            <a:off x="8915400" y="2514600"/>
            <a:ext cx="2743200" cy="3291840"/>
          </a:xfrm>
          <a:prstGeom prst="rect">
            <a:avLst/>
          </a:prstGeom>
          <a:noFill/>
          <a:ln/>
        </p:spPr>
        <p:txBody>
          <a:bodyPr wrap="square" lIns="0" tIns="0" rIns="0" bIns="0" rtlCol="0" anchor="t"/>
          <a:lstStyle/>
          <a:p>
            <a:pPr marL="0" indent="0" algn="l">
              <a:lnSpc>
                <a:spcPct val="108000"/>
              </a:lnSpc>
              <a:spcAft>
                <a:spcPts val="1400"/>
              </a:spcAft>
              <a:buNone/>
            </a:pPr>
            <a:r>
              <a:rPr lang="en-US" sz="1700" dirty="0">
                <a:solidFill>
                  <a:srgbClr val="222222"/>
                </a:solidFill>
                <a:latin typeface="Arial" pitchFamily="34" charset="0"/>
                <a:ea typeface="Arial" pitchFamily="34" charset="-122"/>
                <a:cs typeface="Arial" pitchFamily="34" charset="-120"/>
              </a:rPr>
              <a:t>In every cycle shown, the group's 40-Hz PLV was higher with sound than in the silence right after it.</a:t>
            </a:r>
            <a:endParaRPr lang="en-US" sz="1700" dirty="0"/>
          </a:p>
          <a:p>
            <a:pPr marL="0" indent="0" algn="l">
              <a:lnSpc>
                <a:spcPct val="108000"/>
              </a:lnSpc>
              <a:spcAft>
                <a:spcPts val="1400"/>
              </a:spcAft>
              <a:buNone/>
            </a:pPr>
            <a:r>
              <a:rPr lang="en-US" sz="1700" dirty="0">
                <a:solidFill>
                  <a:srgbClr val="222222"/>
                </a:solidFill>
                <a:latin typeface="Arial" pitchFamily="34" charset="0"/>
                <a:ea typeface="Arial" pitchFamily="34" charset="-122"/>
                <a:cs typeface="Arial" pitchFamily="34" charset="-120"/>
              </a:rPr>
              <a:t>Over the whole session, sound minus silence was +0.077 (95% CI 0.045 to 0.112), and it was higher with sound in 27 of 35 people.</a:t>
            </a:r>
            <a:endParaRPr lang="en-US" sz="1700" dirty="0"/>
          </a:p>
        </p:txBody>
      </p:sp>
      <p:sp>
        <p:nvSpPr>
          <p:cNvPr id="7" name="Text 3"/>
          <p:cNvSpPr txBox="1"/>
          <p:nvPr/>
        </p:nvSpPr>
        <p:spPr>
          <a:xfrm>
            <a:off x="548640" y="5989320"/>
            <a:ext cx="11064240" cy="502920"/>
          </a:xfrm>
          <a:prstGeom prst="rect">
            <a:avLst/>
          </a:prstGeom>
          <a:noFill/>
          <a:ln/>
        </p:spPr>
        <p:txBody>
          <a:bodyPr wrap="square" lIns="0" tIns="0" rIns="0" bIns="0" rtlCol="0" anchor="t"/>
          <a:lstStyle/>
          <a:p>
            <a:pPr marL="0" indent="0" algn="l">
              <a:lnSpc>
                <a:spcPct val="105000"/>
              </a:lnSpc>
              <a:buNone/>
            </a:pPr>
            <a:r>
              <a:rPr lang="en-US" sz="1100" dirty="0">
                <a:solidFill>
                  <a:srgbClr val="666666"/>
                </a:solidFill>
                <a:latin typeface="Arial" pitchFamily="34" charset="0"/>
                <a:ea typeface="Arial" pitchFamily="34" charset="-122"/>
                <a:cs typeface="Arial" pitchFamily="34" charset="-120"/>
              </a:rPr>
              <a:t>Bands show ±1 standard error across people. Each 40-s sound block is split into two 20-s windows. Sessions had 5 (</a:t>
            </a:r>
            <a:r>
              <a:rPr lang="en-US" sz="1100" i="1" dirty="0">
                <a:solidFill>
                  <a:srgbClr val="666666"/>
                </a:solidFill>
                <a:latin typeface="Arial" pitchFamily="34" charset="0"/>
                <a:ea typeface="Arial" pitchFamily="34" charset="-122"/>
                <a:cs typeface="Arial" pitchFamily="34" charset="-120"/>
              </a:rPr>
              <a:t>n</a:t>
            </a:r>
            <a:r>
              <a:rPr lang="en-US" sz="1100" dirty="0">
                <a:solidFill>
                  <a:srgbClr val="666666"/>
                </a:solidFill>
                <a:latin typeface="Arial" pitchFamily="34" charset="0"/>
                <a:ea typeface="Arial" pitchFamily="34" charset="-122"/>
                <a:cs typeface="Arial" pitchFamily="34" charset="-120"/>
              </a:rPr>
              <a:t> = 8) or 9 (</a:t>
            </a:r>
            <a:r>
              <a:rPr lang="en-US" sz="1100" i="1" dirty="0">
                <a:solidFill>
                  <a:srgbClr val="666666"/>
                </a:solidFill>
                <a:latin typeface="Arial" pitchFamily="34" charset="0"/>
                <a:ea typeface="Arial" pitchFamily="34" charset="-122"/>
                <a:cs typeface="Arial" pitchFamily="34" charset="-120"/>
              </a:rPr>
              <a:t>n</a:t>
            </a:r>
            <a:r>
              <a:rPr lang="en-US" sz="1100" dirty="0">
                <a:solidFill>
                  <a:srgbClr val="666666"/>
                </a:solidFill>
                <a:latin typeface="Arial" pitchFamily="34" charset="0"/>
                <a:ea typeface="Arial" pitchFamily="34" charset="-122"/>
                <a:cs typeface="Arial" pitchFamily="34" charset="-120"/>
              </a:rPr>
              <a:t> = 27) complete cycles, because the last silence of each recording is cut short. 19-channel EEG at 250 Hz, cleaned by the dataset authors (Lahijanian, Aghajan &amp; Vahabi, Sci Rep 2024).</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914400"/>
          </a:xfrm>
          <a:prstGeom prst="rect">
            <a:avLst/>
          </a:prstGeom>
          <a:noFill/>
          <a:ln/>
        </p:spPr>
        <p:txBody>
          <a:bodyPr wrap="square" lIns="0" tIns="0" rIns="0" bIns="0" rtlCol="0" anchor="t"/>
          <a:lstStyle/>
          <a:p>
            <a:pPr marL="0" indent="0" algn="l">
              <a:buNone/>
            </a:pPr>
            <a:r>
              <a:rPr lang="en-US" sz="3000" b="1" dirty="0">
                <a:solidFill>
                  <a:srgbClr val="235078"/>
                </a:solidFill>
                <a:latin typeface="Arial" pitchFamily="34" charset="0"/>
                <a:ea typeface="Arial" pitchFamily="34" charset="-122"/>
                <a:cs typeface="Arial" pitchFamily="34" charset="-120"/>
              </a:rPr>
              <a:t>Synchronization quantification</a:t>
            </a:r>
            <a:endParaRPr lang="en-US" sz="3000" dirty="0"/>
          </a:p>
        </p:txBody>
      </p:sp>
      <p:pic>
        <p:nvPicPr>
          <p:cNvPr id="4" name="Image 0" descr="Distribution of phase differences and their mean arrow, during sound and during silence"/>
          <p:cNvPicPr>
            <a:picLocks noChangeAspect="1"/>
          </p:cNvPicPr>
          <p:nvPr/>
        </p:nvPicPr>
        <p:blipFill>
          <a:blip r:embed="rId3"/>
          <a:stretch>
            <a:fillRect/>
          </a:stretch>
        </p:blipFill>
        <p:spPr>
          <a:xfrm>
            <a:off x="502920" y="1188720"/>
            <a:ext cx="4937760" cy="2852928"/>
          </a:xfrm>
          <a:prstGeom prst="rect">
            <a:avLst/>
          </a:prstGeom>
        </p:spPr>
      </p:pic>
      <p:sp>
        <p:nvSpPr>
          <p:cNvPr id="5" name="Text 1"/>
          <p:cNvSpPr txBox="1"/>
          <p:nvPr/>
        </p:nvSpPr>
        <p:spPr>
          <a:xfrm>
            <a:off x="594360" y="4069080"/>
            <a:ext cx="5212080" cy="566928"/>
          </a:xfrm>
          <a:prstGeom prst="rect">
            <a:avLst/>
          </a:prstGeom>
          <a:noFill/>
          <a:ln/>
        </p:spPr>
        <p:txBody>
          <a:bodyPr wrap="square" lIns="0" tIns="0" rIns="0" bIns="0" rtlCol="0" anchor="t"/>
          <a:lstStyle/>
          <a:p>
            <a:pPr marL="0" indent="0" algn="l">
              <a:lnSpc>
                <a:spcPct val="108000"/>
              </a:lnSpc>
              <a:buNone/>
            </a:pPr>
            <a:r>
              <a:rPr lang="en-US" sz="1300" dirty="0">
                <a:solidFill>
                  <a:srgbClr val="666666"/>
                </a:solidFill>
                <a:latin typeface="Arial" pitchFamily="34" charset="0"/>
                <a:ea typeface="Arial" pitchFamily="34" charset="-122"/>
                <a:cs typeface="Arial" pitchFamily="34" charset="-120"/>
              </a:rPr>
              <a:t>One pair of signals from sub-01 (largest early contrast), cycle 1, the median of its 200 pairs. The bars show where the phase difference fell over the 20-s window.</a:t>
            </a:r>
            <a:endParaRPr lang="en-US" sz="1300" dirty="0"/>
          </a:p>
        </p:txBody>
      </p:sp>
      <mc:AlternateContent xmlns:mc="http://schemas.openxmlformats.org/markup-compatibility/2006" xmlns:a14="http://schemas.microsoft.com/office/drawing/2010/main">
        <mc:Choice Requires="a14">
          <p:sp>
            <p:nvSpPr>
              <p:cNvPr id="6" name="Text 2"/>
              <p:cNvSpPr txBox="1"/>
              <p:nvPr/>
            </p:nvSpPr>
            <p:spPr>
              <a:xfrm>
                <a:off x="594360" y="4663440"/>
                <a:ext cx="5212080" cy="868680"/>
              </a:xfrm>
              <a:prstGeom prst="rect">
                <a:avLst/>
              </a:prstGeom>
              <a:noFill/>
              <a:ln/>
            </p:spPr>
            <p:txBody>
              <a:bodyPr wrap="square" lIns="0" tIns="0" rIns="0" bIns="0" rtlCol="0" anchor="ctr"/>
              <a:lstStyle/>
              <a:p>
                <a:pPr/>
                <a14:m>
                  <m:oMathPara xmlns:m="http://schemas.openxmlformats.org/officeDocument/2006/math">
                    <m:oMathParaPr>
                      <m:jc m:val="left"/>
                    </m:oMathParaPr>
                    <m:oMath xmlns:m="http://schemas.openxmlformats.org/officeDocument/2006/math">
                      <m:sSub>
                        <m:sSubPr>
                          <m:ctrlPr>
                            <a:rPr lang="en-US" sz="1800" b="0" dirty="0">
                              <a:solidFill>
                                <a:srgbClr val="16202A"/>
                              </a:solidFill>
                              <a:latin typeface="Cambria Math" panose="02040503050406030204" pitchFamily="18" charset="0"/>
                            </a:rPr>
                          </m:ctrlPr>
                        </m:sSubPr>
                        <m:e>
                          <m:r>
                            <m:rPr>
                              <m:sty m:val="p"/>
                            </m:rPr>
                            <a:rPr lang="en-US" sz="1800" b="0" i="0" dirty="0">
                              <a:solidFill>
                                <a:srgbClr val="16202A"/>
                              </a:solidFill>
                              <a:latin typeface="Cambria Math" panose="02040503050406030204" pitchFamily="18" charset="0"/>
                            </a:rPr>
                            <m:t>PLV</m:t>
                          </m:r>
                        </m:e>
                        <m:sub>
                          <m:r>
                            <a:rPr lang="en-US" sz="1800" b="0" i="1" dirty="0">
                              <a:solidFill>
                                <a:srgbClr val="16202A"/>
                              </a:solidFill>
                              <a:latin typeface="Cambria Math" panose="02040503050406030204" pitchFamily="18" charset="0"/>
                            </a:rPr>
                            <m:t>𝑎𝑏</m:t>
                          </m:r>
                        </m:sub>
                      </m:sSub>
                      <m:r>
                        <a:rPr lang="en-US" sz="1800" b="0" i="0" dirty="0">
                          <a:solidFill>
                            <a:srgbClr val="16202A"/>
                          </a:solidFill>
                          <a:latin typeface="Cambria Math" panose="02040503050406030204" pitchFamily="18" charset="0"/>
                        </a:rPr>
                        <m:t>=</m:t>
                      </m:r>
                      <m:d>
                        <m:dPr>
                          <m:begChr m:val="|"/>
                          <m:endChr m:val="|"/>
                          <m:ctrlPr>
                            <a:rPr lang="en-US" sz="1800" b="0" i="1" dirty="0">
                              <a:solidFill>
                                <a:srgbClr val="16202A"/>
                              </a:solidFill>
                              <a:latin typeface="Cambria Math" panose="02040503050406030204" pitchFamily="18" charset="0"/>
                            </a:rPr>
                          </m:ctrlPr>
                        </m:dPr>
                        <m:e>
                          <m:f>
                            <m:fPr>
                              <m:ctrlPr>
                                <a:rPr lang="en-US" sz="1800" b="0" i="1" dirty="0">
                                  <a:solidFill>
                                    <a:srgbClr val="16202A"/>
                                  </a:solidFill>
                                  <a:latin typeface="Cambria Math" panose="02040503050406030204" pitchFamily="18" charset="0"/>
                                </a:rPr>
                              </m:ctrlPr>
                            </m:fPr>
                            <m:num>
                              <m:r>
                                <a:rPr lang="en-US" sz="1800" b="0" i="0" dirty="0">
                                  <a:solidFill>
                                    <a:srgbClr val="16202A"/>
                                  </a:solidFill>
                                  <a:latin typeface="Cambria Math" panose="02040503050406030204" pitchFamily="18" charset="0"/>
                                </a:rPr>
                                <m:t>1</m:t>
                              </m:r>
                            </m:num>
                            <m:den>
                              <m:r>
                                <a:rPr lang="en-US" sz="1800" b="0" i="1" dirty="0">
                                  <a:solidFill>
                                    <a:srgbClr val="16202A"/>
                                  </a:solidFill>
                                  <a:latin typeface="Cambria Math" panose="02040503050406030204" pitchFamily="18" charset="0"/>
                                </a:rPr>
                                <m:t>𝑁</m:t>
                              </m:r>
                            </m:den>
                          </m:f>
                          <m:nary>
                            <m:naryPr>
                              <m:chr m:val="∑"/>
                              <m:limLoc m:val="undOvr"/>
                              <m:ctrlPr>
                                <a:rPr lang="en-US" sz="1800" b="0" i="1" dirty="0">
                                  <a:solidFill>
                                    <a:srgbClr val="16202A"/>
                                  </a:solidFill>
                                  <a:latin typeface="Cambria Math" panose="02040503050406030204" pitchFamily="18" charset="0"/>
                                </a:rPr>
                              </m:ctrlPr>
                            </m:naryPr>
                            <m:sub>
                              <m:r>
                                <a:rPr lang="en-US" sz="1800" b="0" i="1" dirty="0">
                                  <a:solidFill>
                                    <a:srgbClr val="16202A"/>
                                  </a:solidFill>
                                  <a:latin typeface="Cambria Math" panose="02040503050406030204" pitchFamily="18" charset="0"/>
                                </a:rPr>
                                <m:t>𝑛</m:t>
                              </m:r>
                              <m:r>
                                <a:rPr lang="en-US" sz="1800" b="0" i="0" dirty="0">
                                  <a:solidFill>
                                    <a:srgbClr val="16202A"/>
                                  </a:solidFill>
                                  <a:latin typeface="Cambria Math" panose="02040503050406030204" pitchFamily="18" charset="0"/>
                                </a:rPr>
                                <m:t>=1</m:t>
                              </m:r>
                            </m:sub>
                            <m:sup>
                              <m:r>
                                <a:rPr lang="en-US" sz="1800" b="0" i="1" dirty="0">
                                  <a:solidFill>
                                    <a:srgbClr val="16202A"/>
                                  </a:solidFill>
                                  <a:latin typeface="Cambria Math" panose="02040503050406030204" pitchFamily="18" charset="0"/>
                                </a:rPr>
                                <m:t>𝑁</m:t>
                              </m:r>
                            </m:sup>
                            <m:e>
                              <m:sSup>
                                <m:sSupPr>
                                  <m:ctrlPr>
                                    <a:rPr lang="en-US" sz="1800" b="0" i="1" dirty="0">
                                      <a:solidFill>
                                        <a:srgbClr val="16202A"/>
                                      </a:solidFill>
                                      <a:latin typeface="Cambria Math" panose="02040503050406030204" pitchFamily="18" charset="0"/>
                                    </a:rPr>
                                  </m:ctrlPr>
                                </m:sSupPr>
                                <m:e>
                                  <m:r>
                                    <a:rPr lang="en-US" sz="1800" b="0" i="1" dirty="0">
                                      <a:solidFill>
                                        <a:srgbClr val="16202A"/>
                                      </a:solidFill>
                                      <a:latin typeface="Cambria Math" panose="02040503050406030204" pitchFamily="18" charset="0"/>
                                    </a:rPr>
                                    <m:t>𝑒</m:t>
                                  </m:r>
                                </m:e>
                                <m:sup>
                                  <m:r>
                                    <m:rPr>
                                      <m:sty m:val="p"/>
                                    </m:rPr>
                                    <a:rPr lang="en-US" sz="1800" b="0" i="0" dirty="0">
                                      <a:solidFill>
                                        <a:srgbClr val="16202A"/>
                                      </a:solidFill>
                                      <a:latin typeface="Cambria Math" panose="02040503050406030204" pitchFamily="18" charset="0"/>
                                    </a:rPr>
                                    <m:t>iΔ</m:t>
                                  </m:r>
                                  <m:sSub>
                                    <m:sSubPr>
                                      <m:ctrlPr>
                                        <a:rPr lang="en-US" sz="1800" b="0" i="1" dirty="0">
                                          <a:solidFill>
                                            <a:srgbClr val="16202A"/>
                                          </a:solidFill>
                                          <a:latin typeface="Cambria Math" panose="02040503050406030204" pitchFamily="18" charset="0"/>
                                        </a:rPr>
                                      </m:ctrlPr>
                                    </m:sSubPr>
                                    <m:e>
                                      <m:r>
                                        <a:rPr lang="en-US" sz="1800" b="0" i="1" dirty="0">
                                          <a:solidFill>
                                            <a:srgbClr val="16202A"/>
                                          </a:solidFill>
                                          <a:latin typeface="Cambria Math" panose="02040503050406030204" pitchFamily="18" charset="0"/>
                                        </a:rPr>
                                        <m:t>𝜙</m:t>
                                      </m:r>
                                    </m:e>
                                    <m:sub>
                                      <m:r>
                                        <a:rPr lang="en-US" sz="1800" b="0" i="1" dirty="0">
                                          <a:solidFill>
                                            <a:srgbClr val="16202A"/>
                                          </a:solidFill>
                                          <a:latin typeface="Cambria Math" panose="02040503050406030204" pitchFamily="18" charset="0"/>
                                        </a:rPr>
                                        <m:t>𝑎𝑏</m:t>
                                      </m:r>
                                    </m:sub>
                                  </m:sSub>
                                  <m:d>
                                    <m:dPr>
                                      <m:ctrlPr>
                                        <a:rPr lang="en-US" sz="1800" b="0" i="1" dirty="0">
                                          <a:solidFill>
                                            <a:srgbClr val="16202A"/>
                                          </a:solidFill>
                                          <a:latin typeface="Cambria Math" panose="02040503050406030204" pitchFamily="18" charset="0"/>
                                        </a:rPr>
                                      </m:ctrlPr>
                                    </m:dPr>
                                    <m:e>
                                      <m:r>
                                        <a:rPr lang="en-US" sz="1800" b="0" i="1" dirty="0">
                                          <a:solidFill>
                                            <a:srgbClr val="16202A"/>
                                          </a:solidFill>
                                          <a:latin typeface="Cambria Math" panose="02040503050406030204" pitchFamily="18" charset="0"/>
                                        </a:rPr>
                                        <m:t>𝑛</m:t>
                                      </m:r>
                                    </m:e>
                                  </m:d>
                                </m:sup>
                              </m:sSup>
                            </m:e>
                          </m:nary>
                        </m:e>
                      </m:d>
                    </m:oMath>
                  </m:oMathPara>
                </a14:m>
                <a:endParaRPr/>
              </a:p>
            </p:txBody>
          </p:sp>
        </mc:Choice>
        <mc:Fallback xmlns="">
          <p:sp>
            <p:nvSpPr>
              <p:cNvPr id="6" name="Text 2"/>
              <p:cNvSpPr txBox="1"/>
              <p:nvPr/>
            </p:nvSpPr>
            <p:spPr>
              <a:xfrm>
                <a:off x="594360" y="4663440"/>
                <a:ext cx="5212080" cy="868680"/>
              </a:xfrm>
              <a:prstGeom prst="rect">
                <a:avLst/>
              </a:prstGeom>
              <a:noFill/>
              <a:ln/>
            </p:spPr>
            <p:txBody>
              <a:bodyPr wrap="square" lIns="0" tIns="0" rIns="0" bIns="0" rtlCol="0" anchor="ctr"/>
              <a:lstStyle/>
              <a:p>
                <a:pPr indent="0" marL="0">
                  <a:buNone/>
                </a:pPr>
                <a:r>
                  <a:rPr lang="en-US" sz="1800" dirty="0">
                    <a:solidFill>
                      <a:srgbClr val="222222"/>
                    </a:solidFill>
                    <a:latin typeface="Cambria Math" pitchFamily="34" charset="0"/>
                    <a:ea typeface="Cambria Math" pitchFamily="34" charset="-122"/>
                    <a:cs typeface="Cambria Math" pitchFamily="34" charset="-120"/>
                  </a:rPr>
                  <a:t>PLV_ab = |(1/N) Σ_{n=1..N} e^(i Δϕ_ab(n))|</a:t>
                </a:r>
                <a:endParaRPr lang="en-US" sz="1800" dirty="0"/>
              </a:p>
            </p:txBody>
          </p:sp>
        </mc:Fallback>
      </mc:AlternateContent>
      <p:sp>
        <p:nvSpPr>
          <p:cNvPr id="7" name="Text 3"/>
          <p:cNvSpPr txBox="1"/>
          <p:nvPr/>
        </p:nvSpPr>
        <p:spPr>
          <a:xfrm>
            <a:off x="594360" y="5577840"/>
            <a:ext cx="5212080" cy="274320"/>
          </a:xfrm>
          <a:prstGeom prst="rect">
            <a:avLst/>
          </a:prstGeom>
          <a:noFill/>
          <a:ln/>
        </p:spPr>
        <p:txBody>
          <a:bodyPr wrap="square" lIns="0" tIns="0" rIns="0" bIns="0" rtlCol="0" anchor="t"/>
          <a:lstStyle/>
          <a:p>
            <a:pPr marL="0" indent="0" algn="l">
              <a:lnSpc>
                <a:spcPct val="108000"/>
              </a:lnSpc>
              <a:buNone/>
            </a:pPr>
            <a:r>
              <a:rPr lang="en-US" sz="1300" i="1" dirty="0">
                <a:solidFill>
                  <a:srgbClr val="666666"/>
                </a:solidFill>
                <a:latin typeface="Arial" pitchFamily="34" charset="0"/>
                <a:ea typeface="Arial" pitchFamily="34" charset="-122"/>
                <a:cs typeface="Arial" pitchFamily="34" charset="-120"/>
              </a:rPr>
              <a:t>N</a:t>
            </a:r>
            <a:r>
              <a:rPr lang="en-US" sz="1300" dirty="0">
                <a:solidFill>
                  <a:srgbClr val="666666"/>
                </a:solidFill>
                <a:latin typeface="Arial" pitchFamily="34" charset="0"/>
                <a:ea typeface="Arial" pitchFamily="34" charset="-122"/>
                <a:cs typeface="Arial" pitchFamily="34" charset="-120"/>
              </a:rPr>
              <a:t> = 5000 samples per window. The reported PLV is the mean over all 200 pairs.</a:t>
            </a:r>
            <a:endParaRPr lang="en-US" sz="1300" dirty="0"/>
          </a:p>
        </p:txBody>
      </p:sp>
      <p:pic>
        <p:nvPicPr>
          <p:cNvPr id="8" name="Image 1" descr="Electrode map: five frontal and five posterior electrodes, with the example pair"/>
          <p:cNvPicPr>
            <a:picLocks noChangeAspect="1"/>
          </p:cNvPicPr>
          <p:nvPr/>
        </p:nvPicPr>
        <p:blipFill>
          <a:blip r:embed="rId4"/>
          <a:stretch>
            <a:fillRect/>
          </a:stretch>
        </p:blipFill>
        <p:spPr>
          <a:xfrm>
            <a:off x="6172200" y="1143000"/>
            <a:ext cx="2560320" cy="2734056"/>
          </a:xfrm>
          <a:prstGeom prst="rect">
            <a:avLst/>
          </a:prstGeom>
        </p:spPr>
      </p:pic>
      <p:sp>
        <p:nvSpPr>
          <p:cNvPr id="9" name="Text 4"/>
          <p:cNvSpPr txBox="1"/>
          <p:nvPr/>
        </p:nvSpPr>
        <p:spPr>
          <a:xfrm>
            <a:off x="8869680" y="1554480"/>
            <a:ext cx="2834640" cy="2194560"/>
          </a:xfrm>
          <a:prstGeom prst="rect">
            <a:avLst/>
          </a:prstGeom>
          <a:noFill/>
          <a:ln/>
        </p:spPr>
        <p:txBody>
          <a:bodyPr wrap="square" lIns="0" tIns="0" rIns="0" bIns="0" rtlCol="0" anchor="t"/>
          <a:lstStyle/>
          <a:p>
            <a:pPr marL="0" indent="0" algn="l">
              <a:lnSpc>
                <a:spcPct val="108000"/>
              </a:lnSpc>
              <a:buNone/>
            </a:pPr>
            <a:r>
              <a:rPr lang="en-US" sz="1400" dirty="0">
                <a:solidFill>
                  <a:srgbClr val="444444"/>
                </a:solidFill>
                <a:latin typeface="Arial" pitchFamily="34" charset="0"/>
                <a:ea typeface="Arial" pitchFamily="34" charset="-122"/>
                <a:cs typeface="Arial" pitchFamily="34" charset="-120"/>
              </a:rPr>
              <a:t>Each signal is one frontal minus one posterior electrode. 25 signals make 200 pairs that share no electrode. The two lines are the example pair, Fp2‑Pz and F4‑O2.</a:t>
            </a:r>
            <a:endParaRPr lang="en-US" sz="1400" dirty="0"/>
          </a:p>
        </p:txBody>
      </p:sp>
      <p:sp>
        <p:nvSpPr>
          <p:cNvPr id="10" name="Text 5"/>
          <p:cNvSpPr txBox="1"/>
          <p:nvPr/>
        </p:nvSpPr>
        <p:spPr>
          <a:xfrm>
            <a:off x="6217920" y="4023360"/>
            <a:ext cx="5486400" cy="365760"/>
          </a:xfrm>
          <a:prstGeom prst="rect">
            <a:avLst/>
          </a:prstGeom>
          <a:noFill/>
          <a:ln/>
        </p:spPr>
        <p:txBody>
          <a:bodyPr wrap="square" lIns="0" tIns="0" rIns="0" bIns="0" rtlCol="0" anchor="t"/>
          <a:lstStyle/>
          <a:p>
            <a:pPr marL="0" indent="0" algn="l">
              <a:lnSpc>
                <a:spcPct val="108000"/>
              </a:lnSpc>
              <a:buNone/>
            </a:pPr>
            <a:r>
              <a:rPr lang="en-US" sz="1600" dirty="0">
                <a:solidFill>
                  <a:srgbClr val="222222"/>
                </a:solidFill>
                <a:latin typeface="Arial" pitchFamily="34" charset="0"/>
                <a:ea typeface="Arial" pitchFamily="34" charset="-122"/>
                <a:cs typeface="Arial" pitchFamily="34" charset="-120"/>
              </a:rPr>
              <a:t>For each cycle </a:t>
            </a:r>
            <a:r>
              <a:rPr lang="en-US" sz="1600" i="1" dirty="0">
                <a:solidFill>
                  <a:srgbClr val="222222"/>
                </a:solidFill>
                <a:latin typeface="Arial" pitchFamily="34" charset="0"/>
                <a:ea typeface="Arial" pitchFamily="34" charset="-122"/>
                <a:cs typeface="Arial" pitchFamily="34" charset="-120"/>
              </a:rPr>
              <a:t>k</a:t>
            </a:r>
            <a:r>
              <a:rPr lang="en-US" sz="1600" dirty="0">
                <a:solidFill>
                  <a:srgbClr val="222222"/>
                </a:solidFill>
                <a:latin typeface="Arial" pitchFamily="34" charset="0"/>
                <a:ea typeface="Arial" pitchFamily="34" charset="-122"/>
                <a:cs typeface="Arial" pitchFamily="34" charset="-120"/>
              </a:rPr>
              <a:t>, I subtract the silence right after:</a:t>
            </a:r>
            <a:endParaRPr lang="en-US" sz="1600" dirty="0"/>
          </a:p>
        </p:txBody>
      </p:sp>
      <mc:AlternateContent xmlns:mc="http://schemas.openxmlformats.org/markup-compatibility/2006" xmlns:a14="http://schemas.microsoft.com/office/drawing/2010/main">
        <mc:Choice Requires="a14">
          <p:sp>
            <p:nvSpPr>
              <p:cNvPr id="11" name="Text 6"/>
              <p:cNvSpPr txBox="1"/>
              <p:nvPr/>
            </p:nvSpPr>
            <p:spPr>
              <a:xfrm>
                <a:off x="6217920" y="4407408"/>
                <a:ext cx="5486400" cy="530352"/>
              </a:xfrm>
              <a:prstGeom prst="rect">
                <a:avLst/>
              </a:prstGeom>
              <a:noFill/>
              <a:ln/>
            </p:spPr>
            <p:txBody>
              <a:bodyPr wrap="square" lIns="0" tIns="0" rIns="0" bIns="0" rtlCol="0" anchor="ctr"/>
              <a:lstStyle/>
              <a:p>
                <a:pPr/>
                <a14:m>
                  <m:oMathPara xmlns:m="http://schemas.openxmlformats.org/officeDocument/2006/math">
                    <m:oMathParaPr>
                      <m:jc m:val="left"/>
                    </m:oMathParaPr>
                    <m:oMath xmlns:m="http://schemas.openxmlformats.org/officeDocument/2006/math">
                      <m:sSub>
                        <m:sSubPr>
                          <m:ctrlPr>
                            <a:rPr lang="en-US" sz="1800" b="0" dirty="0">
                              <a:solidFill>
                                <a:srgbClr val="16202A"/>
                              </a:solidFill>
                              <a:latin typeface="Cambria Math" panose="02040503050406030204" pitchFamily="18" charset="0"/>
                            </a:rPr>
                          </m:ctrlPr>
                        </m:sSubPr>
                        <m:e>
                          <m:r>
                            <a:rPr lang="en-US" sz="1800" b="0" i="1" dirty="0">
                              <a:solidFill>
                                <a:srgbClr val="16202A"/>
                              </a:solidFill>
                              <a:latin typeface="Cambria Math" panose="02040503050406030204" pitchFamily="18" charset="0"/>
                            </a:rPr>
                            <m:t>𝐶</m:t>
                          </m:r>
                        </m:e>
                        <m:sub>
                          <m:r>
                            <a:rPr lang="en-US" sz="1800" b="0" i="1" dirty="0">
                              <a:solidFill>
                                <a:srgbClr val="16202A"/>
                              </a:solidFill>
                              <a:latin typeface="Cambria Math" panose="02040503050406030204" pitchFamily="18" charset="0"/>
                            </a:rPr>
                            <m:t>𝑘</m:t>
                          </m:r>
                        </m:sub>
                      </m:sSub>
                      <m:r>
                        <a:rPr lang="en-US" sz="1800" b="0" i="0" dirty="0">
                          <a:solidFill>
                            <a:srgbClr val="16202A"/>
                          </a:solidFill>
                          <a:latin typeface="Cambria Math" panose="02040503050406030204" pitchFamily="18" charset="0"/>
                        </a:rPr>
                        <m:t>=</m:t>
                      </m:r>
                      <m:sSubSup>
                        <m:sSubSupPr>
                          <m:ctrlPr>
                            <a:rPr lang="en-US" sz="1800" b="0" i="1" dirty="0">
                              <a:solidFill>
                                <a:srgbClr val="16202A"/>
                              </a:solidFill>
                              <a:latin typeface="Cambria Math" panose="02040503050406030204" pitchFamily="18" charset="0"/>
                            </a:rPr>
                          </m:ctrlPr>
                        </m:sSubSupPr>
                        <m:e>
                          <m:bar>
                            <m:barPr>
                              <m:pos m:val="top"/>
                              <m:ctrlPr>
                                <a:rPr lang="en-US" sz="1800" b="0" i="1" dirty="0">
                                  <a:solidFill>
                                    <a:srgbClr val="16202A"/>
                                  </a:solidFill>
                                  <a:latin typeface="Cambria Math" panose="02040503050406030204" pitchFamily="18" charset="0"/>
                                </a:rPr>
                              </m:ctrlPr>
                            </m:barPr>
                            <m:e>
                              <m:r>
                                <m:rPr>
                                  <m:sty m:val="p"/>
                                </m:rPr>
                                <a:rPr lang="en-US" sz="1800" b="0" i="0" dirty="0">
                                  <a:solidFill>
                                    <a:srgbClr val="16202A"/>
                                  </a:solidFill>
                                  <a:latin typeface="Cambria Math" panose="02040503050406030204" pitchFamily="18" charset="0"/>
                                </a:rPr>
                                <m:t>PLV</m:t>
                              </m:r>
                            </m:e>
                          </m:bar>
                        </m:e>
                        <m:sub>
                          <m:r>
                            <a:rPr lang="en-US" sz="1800" b="0" i="1" dirty="0">
                              <a:solidFill>
                                <a:srgbClr val="16202A"/>
                              </a:solidFill>
                              <a:latin typeface="Cambria Math" panose="02040503050406030204" pitchFamily="18" charset="0"/>
                            </a:rPr>
                            <m:t>𝑘</m:t>
                          </m:r>
                        </m:sub>
                        <m:sup>
                          <m:r>
                            <m:rPr>
                              <m:sty m:val="p"/>
                            </m:rPr>
                            <a:rPr lang="en-US" sz="1800" b="0" i="0" dirty="0">
                              <a:solidFill>
                                <a:srgbClr val="16202A"/>
                              </a:solidFill>
                              <a:latin typeface="Cambria Math" panose="02040503050406030204" pitchFamily="18" charset="0"/>
                            </a:rPr>
                            <m:t>sound</m:t>
                          </m:r>
                        </m:sup>
                      </m:sSubSup>
                      <m:r>
                        <a:rPr lang="en-US" sz="1800" b="0" i="0" dirty="0">
                          <a:solidFill>
                            <a:srgbClr val="16202A"/>
                          </a:solidFill>
                          <a:latin typeface="Cambria Math" panose="02040503050406030204" pitchFamily="18" charset="0"/>
                        </a:rPr>
                        <m:t>−</m:t>
                      </m:r>
                      <m:sSubSup>
                        <m:sSubSupPr>
                          <m:ctrlPr>
                            <a:rPr lang="en-US" sz="1800" b="0" i="1" dirty="0">
                              <a:solidFill>
                                <a:srgbClr val="16202A"/>
                              </a:solidFill>
                              <a:latin typeface="Cambria Math" panose="02040503050406030204" pitchFamily="18" charset="0"/>
                            </a:rPr>
                          </m:ctrlPr>
                        </m:sSubSupPr>
                        <m:e>
                          <m:r>
                            <m:rPr>
                              <m:sty m:val="p"/>
                            </m:rPr>
                            <a:rPr lang="en-US" sz="1800" b="0" i="0" dirty="0">
                              <a:solidFill>
                                <a:srgbClr val="16202A"/>
                              </a:solidFill>
                              <a:latin typeface="Cambria Math" panose="02040503050406030204" pitchFamily="18" charset="0"/>
                            </a:rPr>
                            <m:t>PLV</m:t>
                          </m:r>
                        </m:e>
                        <m:sub>
                          <m:r>
                            <a:rPr lang="en-US" sz="1800" b="0" i="1" dirty="0">
                              <a:solidFill>
                                <a:srgbClr val="16202A"/>
                              </a:solidFill>
                              <a:latin typeface="Cambria Math" panose="02040503050406030204" pitchFamily="18" charset="0"/>
                            </a:rPr>
                            <m:t>𝑘</m:t>
                          </m:r>
                        </m:sub>
                        <m:sup>
                          <m:r>
                            <m:rPr>
                              <m:sty m:val="p"/>
                            </m:rPr>
                            <a:rPr lang="en-US" sz="1800" b="0" i="0" dirty="0">
                              <a:solidFill>
                                <a:srgbClr val="16202A"/>
                              </a:solidFill>
                              <a:latin typeface="Cambria Math" panose="02040503050406030204" pitchFamily="18" charset="0"/>
                            </a:rPr>
                            <m:t>silence</m:t>
                          </m:r>
                        </m:sup>
                      </m:sSubSup>
                    </m:oMath>
                  </m:oMathPara>
                </a14:m>
                <a:endParaRPr dirty="0"/>
              </a:p>
            </p:txBody>
          </p:sp>
        </mc:Choice>
        <mc:Fallback xmlns="">
          <p:sp>
            <p:nvSpPr>
              <p:cNvPr id="11" name="Text 6"/>
              <p:cNvSpPr txBox="1"/>
              <p:nvPr/>
            </p:nvSpPr>
            <p:spPr>
              <a:xfrm>
                <a:off x="6217920" y="4407408"/>
                <a:ext cx="5486400" cy="530352"/>
              </a:xfrm>
              <a:prstGeom prst="rect">
                <a:avLst/>
              </a:prstGeom>
              <a:noFill/>
              <a:ln/>
            </p:spPr>
            <p:txBody>
              <a:bodyPr wrap="square" lIns="0" tIns="0" rIns="0" bIns="0" rtlCol="0" anchor="ctr"/>
              <a:lstStyle/>
              <a:p>
                <a:pPr indent="0" marL="0">
                  <a:buNone/>
                </a:pPr>
                <a:r>
                  <a:rPr lang="en-US" sz="1800" dirty="0">
                    <a:solidFill>
                      <a:srgbClr val="222222"/>
                    </a:solidFill>
                    <a:latin typeface="Cambria Math" pitchFamily="34" charset="0"/>
                    <a:ea typeface="Cambria Math" pitchFamily="34" charset="-122"/>
                    <a:cs typeface="Cambria Math" pitchFamily="34" charset="-120"/>
                  </a:rPr>
                  <a:t>C_k = mean PLV(sound, k) − PLV(silence, k)</a:t>
                </a:r>
                <a:endParaRPr lang="en-US" sz="1800" dirty="0"/>
              </a:p>
            </p:txBody>
          </p:sp>
        </mc:Fallback>
      </mc:AlternateContent>
      <mc:AlternateContent xmlns:mc="http://schemas.openxmlformats.org/markup-compatibility/2006" xmlns:a14="http://schemas.microsoft.com/office/drawing/2010/main">
        <mc:Choice Requires="a14">
          <p:sp>
            <p:nvSpPr>
              <p:cNvPr id="12" name="Text 7"/>
              <p:cNvSpPr txBox="1"/>
              <p:nvPr/>
            </p:nvSpPr>
            <p:spPr>
              <a:xfrm>
                <a:off x="6217920" y="4956048"/>
                <a:ext cx="2651760" cy="914400"/>
              </a:xfrm>
              <a:prstGeom prst="rect">
                <a:avLst/>
              </a:prstGeom>
              <a:noFill/>
              <a:ln/>
            </p:spPr>
            <p:txBody>
              <a:bodyPr wrap="square" lIns="0" tIns="0" rIns="0" bIns="0" rtlCol="0" anchor="ctr"/>
              <a:lstStyle/>
              <a:p>
                <a:pPr/>
                <a14:m>
                  <m:oMathPara xmlns:m="http://schemas.openxmlformats.org/officeDocument/2006/math">
                    <m:oMathParaPr>
                      <m:jc m:val="left"/>
                    </m:oMathParaPr>
                    <m:oMath xmlns:m="http://schemas.openxmlformats.org/officeDocument/2006/math">
                      <m:sSub>
                        <m:sSubPr>
                          <m:ctrlPr>
                            <a:rPr lang="en-US" sz="1600" b="0" dirty="0">
                              <a:solidFill>
                                <a:srgbClr val="16202A"/>
                              </a:solidFill>
                              <a:latin typeface="Cambria Math" panose="02040503050406030204" pitchFamily="18" charset="0"/>
                            </a:rPr>
                          </m:ctrlPr>
                        </m:sSubPr>
                        <m:e>
                          <m:r>
                            <a:rPr lang="en-US" sz="1600" b="0" i="1" dirty="0">
                              <a:solidFill>
                                <a:srgbClr val="16202A"/>
                              </a:solidFill>
                              <a:latin typeface="Cambria Math" panose="02040503050406030204" pitchFamily="18" charset="0"/>
                            </a:rPr>
                            <m:t>𝐶</m:t>
                          </m:r>
                        </m:e>
                        <m:sub>
                          <m:r>
                            <m:rPr>
                              <m:sty m:val="p"/>
                            </m:rPr>
                            <a:rPr lang="en-US" sz="1600" b="0" i="0" dirty="0">
                              <a:solidFill>
                                <a:srgbClr val="16202A"/>
                              </a:solidFill>
                              <a:latin typeface="Cambria Math" panose="02040503050406030204" pitchFamily="18" charset="0"/>
                            </a:rPr>
                            <m:t>early</m:t>
                          </m:r>
                        </m:sub>
                      </m:sSub>
                      <m:r>
                        <a:rPr lang="en-US" sz="1600" b="0" i="0" dirty="0">
                          <a:solidFill>
                            <a:srgbClr val="16202A"/>
                          </a:solidFill>
                          <a:latin typeface="Cambria Math" panose="02040503050406030204" pitchFamily="18" charset="0"/>
                        </a:rPr>
                        <m:t>=</m:t>
                      </m:r>
                      <m:f>
                        <m:fPr>
                          <m:ctrlPr>
                            <a:rPr lang="en-US" sz="1600" b="0" i="1" dirty="0">
                              <a:solidFill>
                                <a:srgbClr val="16202A"/>
                              </a:solidFill>
                              <a:latin typeface="Cambria Math" panose="02040503050406030204" pitchFamily="18" charset="0"/>
                            </a:rPr>
                          </m:ctrlPr>
                        </m:fPr>
                        <m:num>
                          <m:r>
                            <a:rPr lang="en-US" sz="1600" b="0" i="0" dirty="0">
                              <a:solidFill>
                                <a:srgbClr val="16202A"/>
                              </a:solidFill>
                              <a:latin typeface="Cambria Math" panose="02040503050406030204" pitchFamily="18" charset="0"/>
                            </a:rPr>
                            <m:t>1</m:t>
                          </m:r>
                        </m:num>
                        <m:den>
                          <m:r>
                            <a:rPr lang="en-US" sz="1600" b="0" i="0" dirty="0">
                              <a:solidFill>
                                <a:srgbClr val="16202A"/>
                              </a:solidFill>
                              <a:latin typeface="Cambria Math" panose="02040503050406030204" pitchFamily="18" charset="0"/>
                            </a:rPr>
                            <m:t>2</m:t>
                          </m:r>
                        </m:den>
                      </m:f>
                      <m:d>
                        <m:dPr>
                          <m:ctrlPr>
                            <a:rPr lang="en-US" sz="1600" b="0" i="1" dirty="0">
                              <a:solidFill>
                                <a:srgbClr val="16202A"/>
                              </a:solidFill>
                              <a:latin typeface="Cambria Math" panose="02040503050406030204" pitchFamily="18" charset="0"/>
                            </a:rPr>
                          </m:ctrlPr>
                        </m:dPr>
                        <m:e>
                          <m:sSub>
                            <m:sSubPr>
                              <m:ctrlPr>
                                <a:rPr lang="en-US" sz="1600" b="0" i="1" dirty="0">
                                  <a:solidFill>
                                    <a:srgbClr val="16202A"/>
                                  </a:solidFill>
                                  <a:latin typeface="Cambria Math" panose="02040503050406030204" pitchFamily="18" charset="0"/>
                                </a:rPr>
                              </m:ctrlPr>
                            </m:sSubPr>
                            <m:e>
                              <m:r>
                                <a:rPr lang="en-US" sz="1600" b="0" i="1" dirty="0">
                                  <a:solidFill>
                                    <a:srgbClr val="16202A"/>
                                  </a:solidFill>
                                  <a:latin typeface="Cambria Math" panose="02040503050406030204" pitchFamily="18" charset="0"/>
                                </a:rPr>
                                <m:t>𝐶</m:t>
                              </m:r>
                            </m:e>
                            <m:sub>
                              <m:r>
                                <a:rPr lang="en-US" sz="1600" b="0" i="0" dirty="0">
                                  <a:solidFill>
                                    <a:srgbClr val="16202A"/>
                                  </a:solidFill>
                                  <a:latin typeface="Cambria Math" panose="02040503050406030204" pitchFamily="18" charset="0"/>
                                </a:rPr>
                                <m:t>1</m:t>
                              </m:r>
                            </m:sub>
                          </m:sSub>
                          <m:r>
                            <a:rPr lang="en-US" sz="1600" b="0" i="0" dirty="0">
                              <a:solidFill>
                                <a:srgbClr val="16202A"/>
                              </a:solidFill>
                              <a:latin typeface="Cambria Math" panose="02040503050406030204" pitchFamily="18" charset="0"/>
                            </a:rPr>
                            <m:t>+</m:t>
                          </m:r>
                          <m:sSub>
                            <m:sSubPr>
                              <m:ctrlPr>
                                <a:rPr lang="en-US" sz="1600" b="0" i="1" dirty="0">
                                  <a:solidFill>
                                    <a:srgbClr val="16202A"/>
                                  </a:solidFill>
                                  <a:latin typeface="Cambria Math" panose="02040503050406030204" pitchFamily="18" charset="0"/>
                                </a:rPr>
                              </m:ctrlPr>
                            </m:sSubPr>
                            <m:e>
                              <m:r>
                                <a:rPr lang="en-US" sz="1600" b="0" i="1" dirty="0">
                                  <a:solidFill>
                                    <a:srgbClr val="16202A"/>
                                  </a:solidFill>
                                  <a:latin typeface="Cambria Math" panose="02040503050406030204" pitchFamily="18" charset="0"/>
                                </a:rPr>
                                <m:t>𝐶</m:t>
                              </m:r>
                            </m:e>
                            <m:sub>
                              <m:r>
                                <a:rPr lang="en-US" sz="1600" b="0" i="0" dirty="0">
                                  <a:solidFill>
                                    <a:srgbClr val="16202A"/>
                                  </a:solidFill>
                                  <a:latin typeface="Cambria Math" panose="02040503050406030204" pitchFamily="18" charset="0"/>
                                </a:rPr>
                                <m:t>2</m:t>
                              </m:r>
                            </m:sub>
                          </m:sSub>
                        </m:e>
                      </m:d>
                    </m:oMath>
                    <m:oMath xmlns:m="http://schemas.openxmlformats.org/officeDocument/2006/math">
                      <m:sSub>
                        <m:sSubPr>
                          <m:ctrlPr>
                            <a:rPr lang="en-US" sz="1600" b="0" i="0" dirty="0">
                              <a:solidFill>
                                <a:srgbClr val="16202A"/>
                              </a:solidFill>
                              <a:latin typeface="Cambria Math" panose="02040503050406030204" pitchFamily="18" charset="0"/>
                            </a:rPr>
                          </m:ctrlPr>
                        </m:sSubPr>
                        <m:e>
                          <m:r>
                            <a:rPr lang="en-US" sz="1600" b="0" i="1" dirty="0">
                              <a:solidFill>
                                <a:srgbClr val="16202A"/>
                              </a:solidFill>
                              <a:latin typeface="Cambria Math" panose="02040503050406030204" pitchFamily="18" charset="0"/>
                            </a:rPr>
                            <m:t>𝐶</m:t>
                          </m:r>
                        </m:e>
                        <m:sub>
                          <m:r>
                            <m:rPr>
                              <m:sty m:val="p"/>
                            </m:rPr>
                            <a:rPr lang="en-US" sz="1600" b="0" i="0" dirty="0">
                              <a:solidFill>
                                <a:srgbClr val="16202A"/>
                              </a:solidFill>
                              <a:latin typeface="Cambria Math" panose="02040503050406030204" pitchFamily="18" charset="0"/>
                            </a:rPr>
                            <m:t>later</m:t>
                          </m:r>
                        </m:sub>
                      </m:sSub>
                      <m:r>
                        <a:rPr lang="en-US" sz="1600" b="0" i="0" dirty="0">
                          <a:solidFill>
                            <a:srgbClr val="16202A"/>
                          </a:solidFill>
                          <a:latin typeface="Cambria Math" panose="02040503050406030204" pitchFamily="18" charset="0"/>
                        </a:rPr>
                        <m:t>=</m:t>
                      </m:r>
                      <m:f>
                        <m:fPr>
                          <m:ctrlPr>
                            <a:rPr lang="en-US" sz="1600" b="0" i="1" dirty="0">
                              <a:solidFill>
                                <a:srgbClr val="16202A"/>
                              </a:solidFill>
                              <a:latin typeface="Cambria Math" panose="02040503050406030204" pitchFamily="18" charset="0"/>
                            </a:rPr>
                          </m:ctrlPr>
                        </m:fPr>
                        <m:num>
                          <m:r>
                            <a:rPr lang="en-US" sz="1600" b="0" i="0" dirty="0">
                              <a:solidFill>
                                <a:srgbClr val="16202A"/>
                              </a:solidFill>
                              <a:latin typeface="Cambria Math" panose="02040503050406030204" pitchFamily="18" charset="0"/>
                            </a:rPr>
                            <m:t>1</m:t>
                          </m:r>
                        </m:num>
                        <m:den>
                          <m:r>
                            <a:rPr lang="en-US" sz="1600" b="0" i="0" dirty="0">
                              <a:solidFill>
                                <a:srgbClr val="16202A"/>
                              </a:solidFill>
                              <a:latin typeface="Cambria Math" panose="02040503050406030204" pitchFamily="18" charset="0"/>
                            </a:rPr>
                            <m:t>2</m:t>
                          </m:r>
                        </m:den>
                      </m:f>
                      <m:d>
                        <m:dPr>
                          <m:ctrlPr>
                            <a:rPr lang="en-US" sz="1600" b="0" i="1" dirty="0">
                              <a:solidFill>
                                <a:srgbClr val="16202A"/>
                              </a:solidFill>
                              <a:latin typeface="Cambria Math" panose="02040503050406030204" pitchFamily="18" charset="0"/>
                            </a:rPr>
                          </m:ctrlPr>
                        </m:dPr>
                        <m:e>
                          <m:sSub>
                            <m:sSubPr>
                              <m:ctrlPr>
                                <a:rPr lang="en-US" sz="1600" b="0" i="1" dirty="0">
                                  <a:solidFill>
                                    <a:srgbClr val="16202A"/>
                                  </a:solidFill>
                                  <a:latin typeface="Cambria Math" panose="02040503050406030204" pitchFamily="18" charset="0"/>
                                </a:rPr>
                              </m:ctrlPr>
                            </m:sSubPr>
                            <m:e>
                              <m:r>
                                <a:rPr lang="en-US" sz="1600" b="0" i="1" dirty="0">
                                  <a:solidFill>
                                    <a:srgbClr val="16202A"/>
                                  </a:solidFill>
                                  <a:latin typeface="Cambria Math" panose="02040503050406030204" pitchFamily="18" charset="0"/>
                                </a:rPr>
                                <m:t>𝐶</m:t>
                              </m:r>
                            </m:e>
                            <m:sub>
                              <m:r>
                                <a:rPr lang="en-US" sz="1600" b="0" i="0" dirty="0">
                                  <a:solidFill>
                                    <a:srgbClr val="16202A"/>
                                  </a:solidFill>
                                  <a:latin typeface="Cambria Math" panose="02040503050406030204" pitchFamily="18" charset="0"/>
                                </a:rPr>
                                <m:t>4</m:t>
                              </m:r>
                            </m:sub>
                          </m:sSub>
                          <m:r>
                            <a:rPr lang="en-US" sz="1600" b="0" i="0" dirty="0">
                              <a:solidFill>
                                <a:srgbClr val="16202A"/>
                              </a:solidFill>
                              <a:latin typeface="Cambria Math" panose="02040503050406030204" pitchFamily="18" charset="0"/>
                            </a:rPr>
                            <m:t>+</m:t>
                          </m:r>
                          <m:sSub>
                            <m:sSubPr>
                              <m:ctrlPr>
                                <a:rPr lang="en-US" sz="1600" b="0" i="1" dirty="0">
                                  <a:solidFill>
                                    <a:srgbClr val="16202A"/>
                                  </a:solidFill>
                                  <a:latin typeface="Cambria Math" panose="02040503050406030204" pitchFamily="18" charset="0"/>
                                </a:rPr>
                              </m:ctrlPr>
                            </m:sSubPr>
                            <m:e>
                              <m:r>
                                <a:rPr lang="en-US" sz="1600" b="0" i="1" dirty="0">
                                  <a:solidFill>
                                    <a:srgbClr val="16202A"/>
                                  </a:solidFill>
                                  <a:latin typeface="Cambria Math" panose="02040503050406030204" pitchFamily="18" charset="0"/>
                                </a:rPr>
                                <m:t>𝐶</m:t>
                              </m:r>
                            </m:e>
                            <m:sub>
                              <m:r>
                                <a:rPr lang="en-US" sz="1600" b="0" i="0" dirty="0">
                                  <a:solidFill>
                                    <a:srgbClr val="16202A"/>
                                  </a:solidFill>
                                  <a:latin typeface="Cambria Math" panose="02040503050406030204" pitchFamily="18" charset="0"/>
                                </a:rPr>
                                <m:t>5</m:t>
                              </m:r>
                            </m:sub>
                          </m:sSub>
                        </m:e>
                      </m:d>
                    </m:oMath>
                  </m:oMathPara>
                </a14:m>
                <a:endParaRPr/>
              </a:p>
            </p:txBody>
          </p:sp>
        </mc:Choice>
        <mc:Fallback xmlns="">
          <p:sp>
            <p:nvSpPr>
              <p:cNvPr id="12" name="Text 7"/>
              <p:cNvSpPr txBox="1"/>
              <p:nvPr/>
            </p:nvSpPr>
            <p:spPr>
              <a:xfrm>
                <a:off x="6217920" y="4956048"/>
                <a:ext cx="2651760" cy="914400"/>
              </a:xfrm>
              <a:prstGeom prst="rect">
                <a:avLst/>
              </a:prstGeom>
              <a:noFill/>
              <a:ln/>
            </p:spPr>
            <p:txBody>
              <a:bodyPr wrap="square" lIns="0" tIns="0" rIns="0" bIns="0" rtlCol="0" anchor="ctr"/>
              <a:lstStyle/>
              <a:p>
                <a:pPr indent="0" marL="0">
                  <a:buNone/>
                </a:pPr>
                <a:r>
                  <a:rPr lang="en-US" sz="1600" dirty="0">
                    <a:solidFill>
                      <a:srgbClr val="222222"/>
                    </a:solidFill>
                    <a:latin typeface="Cambria Math" pitchFamily="34" charset="0"/>
                    <a:ea typeface="Cambria Math" pitchFamily="34" charset="-122"/>
                    <a:cs typeface="Cambria Math" pitchFamily="34" charset="-120"/>
                  </a:rPr>
                  <a:t>C_early = (C_1 + C_2)/2; C_later = (C_4 + C_5)/2</a:t>
                </a:r>
                <a:endParaRPr lang="en-US" sz="1600" dirty="0"/>
              </a:p>
            </p:txBody>
          </p:sp>
        </mc:Fallback>
      </mc:AlternateContent>
      <p:sp>
        <p:nvSpPr>
          <p:cNvPr id="13" name="Text 8"/>
          <p:cNvSpPr txBox="1"/>
          <p:nvPr/>
        </p:nvSpPr>
        <p:spPr>
          <a:xfrm>
            <a:off x="9006840" y="4983480"/>
            <a:ext cx="2697480" cy="1005840"/>
          </a:xfrm>
          <a:prstGeom prst="rect">
            <a:avLst/>
          </a:prstGeom>
          <a:noFill/>
          <a:ln/>
        </p:spPr>
        <p:txBody>
          <a:bodyPr wrap="square" lIns="0" tIns="0" rIns="0" bIns="0" rtlCol="0" anchor="t"/>
          <a:lstStyle/>
          <a:p>
            <a:pPr marL="0" indent="0" algn="l">
              <a:lnSpc>
                <a:spcPct val="108000"/>
              </a:lnSpc>
              <a:buNone/>
            </a:pPr>
            <a:r>
              <a:rPr lang="en-US" sz="1300" dirty="0">
                <a:solidFill>
                  <a:srgbClr val="444444"/>
                </a:solidFill>
                <a:latin typeface="Arial" pitchFamily="34" charset="0"/>
                <a:ea typeface="Arial" pitchFamily="34" charset="-122"/>
                <a:cs typeface="Arial" pitchFamily="34" charset="-120"/>
              </a:rPr>
              <a:t>Raw PLV alone mostly describes the person. Block 1 and the last three blocks correlate at </a:t>
            </a:r>
            <a:r>
              <a:rPr lang="en-US" sz="1300" i="1" dirty="0">
                <a:solidFill>
                  <a:srgbClr val="444444"/>
                </a:solidFill>
                <a:latin typeface="Arial" pitchFamily="34" charset="0"/>
                <a:ea typeface="Arial" pitchFamily="34" charset="-122"/>
                <a:cs typeface="Arial" pitchFamily="34" charset="-120"/>
              </a:rPr>
              <a:t>r</a:t>
            </a:r>
            <a:r>
              <a:rPr lang="en-US" sz="1300" dirty="0">
                <a:solidFill>
                  <a:srgbClr val="444444"/>
                </a:solidFill>
                <a:latin typeface="Arial" pitchFamily="34" charset="0"/>
                <a:ea typeface="Arial" pitchFamily="34" charset="-122"/>
                <a:cs typeface="Arial" pitchFamily="34" charset="-120"/>
              </a:rPr>
              <a:t> = 0.87 to 0.93, at every frequency.</a:t>
            </a:r>
            <a:endParaRPr lang="en-US" sz="1300" dirty="0"/>
          </a:p>
        </p:txBody>
      </p:sp>
      <p:sp>
        <p:nvSpPr>
          <p:cNvPr id="14" name="Text 9"/>
          <p:cNvSpPr txBox="1"/>
          <p:nvPr/>
        </p:nvSpPr>
        <p:spPr>
          <a:xfrm>
            <a:off x="548640" y="6144768"/>
            <a:ext cx="11064240" cy="502920"/>
          </a:xfrm>
          <a:prstGeom prst="rect">
            <a:avLst/>
          </a:prstGeom>
          <a:noFill/>
          <a:ln/>
        </p:spPr>
        <p:txBody>
          <a:bodyPr wrap="square" lIns="0" tIns="0" rIns="0" bIns="0" rtlCol="0" anchor="t"/>
          <a:lstStyle/>
          <a:p>
            <a:pPr marL="0" indent="0" algn="l">
              <a:lnSpc>
                <a:spcPct val="105000"/>
              </a:lnSpc>
              <a:buNone/>
            </a:pPr>
            <a:r>
              <a:rPr lang="en-US" sz="1100" dirty="0">
                <a:solidFill>
                  <a:srgbClr val="666666"/>
                </a:solidFill>
                <a:latin typeface="Arial" pitchFamily="34" charset="0"/>
                <a:ea typeface="Arial" pitchFamily="34" charset="-122"/>
                <a:cs typeface="Arial" pitchFamily="34" charset="-120"/>
              </a:rPr>
              <a:t>The bar marks the mean of the sound block's two 20-s windows. Each window is filtered on its own (Butterworth band-pass, 39.5 to 40.5 Hz, zero-phase), with phase from the Hilbert transform. Montage and filter follow Lahijanian et al. 2024. PLV: Lachaux et al. 1999; Mormann et al. 2000.</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914400"/>
          </a:xfrm>
          <a:prstGeom prst="rect">
            <a:avLst/>
          </a:prstGeom>
          <a:noFill/>
          <a:ln/>
        </p:spPr>
        <p:txBody>
          <a:bodyPr wrap="square" lIns="0" tIns="0" rIns="0" bIns="0" rtlCol="0" anchor="t"/>
          <a:lstStyle/>
          <a:p>
            <a:pPr marL="0" indent="0" algn="l">
              <a:buNone/>
            </a:pPr>
            <a:r>
              <a:rPr lang="en-US" sz="3000" b="1" dirty="0">
                <a:solidFill>
                  <a:srgbClr val="235078"/>
                </a:solidFill>
                <a:latin typeface="Arial" pitchFamily="34" charset="0"/>
                <a:ea typeface="Arial" pitchFamily="34" charset="-122"/>
                <a:cs typeface="Arial" pitchFamily="34" charset="-120"/>
              </a:rPr>
              <a:t>Larger early contrasts </a:t>
            </a:r>
            <a:r>
              <a:rPr lang="en-US" dirty="0"/>
              <a:t>correlate with </a:t>
            </a:r>
            <a:r>
              <a:rPr lang="en-US" sz="3000" b="1" dirty="0">
                <a:solidFill>
                  <a:srgbClr val="235078"/>
                </a:solidFill>
                <a:latin typeface="Arial" pitchFamily="34" charset="0"/>
                <a:ea typeface="Arial" pitchFamily="34" charset="-122"/>
                <a:cs typeface="Arial" pitchFamily="34" charset="-120"/>
              </a:rPr>
              <a:t>larger later contrasts</a:t>
            </a:r>
            <a:endParaRPr lang="en-US" sz="3000" dirty="0"/>
          </a:p>
        </p:txBody>
      </p:sp>
      <p:pic>
        <p:nvPicPr>
          <p:cNvPr id="4" name="Image 0" descr="Scatter plot of early versus later sound-minus-silence PLV contrast for 35 participants"/>
          <p:cNvPicPr>
            <a:picLocks noChangeAspect="1"/>
          </p:cNvPicPr>
          <p:nvPr/>
        </p:nvPicPr>
        <p:blipFill>
          <a:blip r:embed="rId3"/>
          <a:stretch>
            <a:fillRect/>
          </a:stretch>
        </p:blipFill>
        <p:spPr>
          <a:xfrm>
            <a:off x="411480" y="1188720"/>
            <a:ext cx="6400800" cy="4846320"/>
          </a:xfrm>
          <a:prstGeom prst="rect">
            <a:avLst/>
          </a:prstGeom>
        </p:spPr>
      </p:pic>
      <p:sp>
        <p:nvSpPr>
          <p:cNvPr id="5" name="Text 1"/>
          <p:cNvSpPr txBox="1"/>
          <p:nvPr/>
        </p:nvSpPr>
        <p:spPr>
          <a:xfrm>
            <a:off x="7178040" y="1600200"/>
            <a:ext cx="4526280" cy="4389120"/>
          </a:xfrm>
          <a:prstGeom prst="rect">
            <a:avLst/>
          </a:prstGeom>
          <a:noFill/>
          <a:ln/>
        </p:spPr>
        <p:txBody>
          <a:bodyPr wrap="square" lIns="0" tIns="0" rIns="0" bIns="0" rtlCol="0" anchor="t"/>
          <a:lstStyle/>
          <a:p>
            <a:pPr marL="0" indent="0" algn="l">
              <a:lnSpc>
                <a:spcPct val="110000"/>
              </a:lnSpc>
              <a:spcAft>
                <a:spcPts val="1400"/>
              </a:spcAft>
              <a:buNone/>
            </a:pPr>
            <a:r>
              <a:rPr lang="en-US" sz="1800" dirty="0">
                <a:solidFill>
                  <a:srgbClr val="222222"/>
                </a:solidFill>
                <a:latin typeface="Arial" pitchFamily="34" charset="0"/>
                <a:ea typeface="Arial" pitchFamily="34" charset="-122"/>
                <a:cs typeface="Arial" pitchFamily="34" charset="-120"/>
              </a:rPr>
              <a:t>Each dot represents one individual.</a:t>
            </a:r>
            <a:endParaRPr lang="en-US" sz="1800" dirty="0"/>
          </a:p>
          <a:p>
            <a:pPr marL="0" indent="0" algn="l">
              <a:lnSpc>
                <a:spcPct val="110000"/>
              </a:lnSpc>
              <a:spcAft>
                <a:spcPts val="1400"/>
              </a:spcAft>
              <a:buNone/>
            </a:pPr>
            <a:r>
              <a:rPr lang="en-US" sz="1800" dirty="0">
                <a:solidFill>
                  <a:srgbClr val="222222"/>
                </a:solidFill>
                <a:latin typeface="Arial" pitchFamily="34" charset="0"/>
                <a:ea typeface="Arial" pitchFamily="34" charset="-122"/>
                <a:cs typeface="Arial" pitchFamily="34" charset="-120"/>
              </a:rPr>
              <a:t>The rank correlation agrees (Spearman </a:t>
            </a:r>
            <a:r>
              <a:rPr lang="en-US" sz="1800" i="1" dirty="0">
                <a:solidFill>
                  <a:srgbClr val="222222"/>
                </a:solidFill>
                <a:latin typeface="Arial" pitchFamily="34" charset="0"/>
                <a:ea typeface="Arial" pitchFamily="34" charset="-122"/>
                <a:cs typeface="Arial" pitchFamily="34" charset="-120"/>
              </a:rPr>
              <a:t>ρ</a:t>
            </a:r>
            <a:r>
              <a:rPr lang="en-US" sz="1800" dirty="0">
                <a:solidFill>
                  <a:srgbClr val="222222"/>
                </a:solidFill>
                <a:latin typeface="Arial" pitchFamily="34" charset="0"/>
                <a:ea typeface="Arial" pitchFamily="34" charset="-122"/>
                <a:cs typeface="Arial" pitchFamily="34" charset="-120"/>
              </a:rPr>
              <a:t> = 0.688).</a:t>
            </a:r>
            <a:endParaRPr lang="en-US" sz="1800" dirty="0"/>
          </a:p>
          <a:p>
            <a:pPr marL="0" indent="0" algn="l">
              <a:lnSpc>
                <a:spcPct val="110000"/>
              </a:lnSpc>
              <a:spcAft>
                <a:spcPts val="1400"/>
              </a:spcAft>
              <a:buNone/>
            </a:pPr>
            <a:r>
              <a:rPr lang="en-US" sz="1800" dirty="0">
                <a:solidFill>
                  <a:srgbClr val="222222"/>
                </a:solidFill>
                <a:latin typeface="Arial" pitchFamily="34" charset="0"/>
                <a:ea typeface="Arial" pitchFamily="34" charset="-122"/>
                <a:cs typeface="Arial" pitchFamily="34" charset="-120"/>
              </a:rPr>
              <a:t>Lin's concordance is 0.771, so the </a:t>
            </a:r>
            <a:r>
              <a:rPr lang="en-US" sz="1800" i="1" dirty="0">
                <a:solidFill>
                  <a:srgbClr val="222222"/>
                </a:solidFill>
                <a:latin typeface="Arial" pitchFamily="34" charset="0"/>
                <a:ea typeface="Arial" pitchFamily="34" charset="-122"/>
                <a:cs typeface="Arial" pitchFamily="34" charset="-120"/>
              </a:rPr>
              <a:t>values</a:t>
            </a:r>
            <a:r>
              <a:rPr lang="en-US" sz="1800" dirty="0">
                <a:solidFill>
                  <a:srgbClr val="222222"/>
                </a:solidFill>
                <a:latin typeface="Arial" pitchFamily="34" charset="0"/>
                <a:ea typeface="Arial" pitchFamily="34" charset="-122"/>
                <a:cs typeface="Arial" pitchFamily="34" charset="-120"/>
              </a:rPr>
              <a:t> agree, not just the order.</a:t>
            </a:r>
            <a:endParaRPr lang="en-US" sz="1800" dirty="0"/>
          </a:p>
          <a:p>
            <a:pPr marL="0" indent="0" algn="l">
              <a:lnSpc>
                <a:spcPct val="110000"/>
              </a:lnSpc>
              <a:spcAft>
                <a:spcPts val="1400"/>
              </a:spcAft>
              <a:buNone/>
            </a:pPr>
            <a:r>
              <a:rPr lang="en-US" sz="1800" dirty="0">
                <a:solidFill>
                  <a:srgbClr val="222222"/>
                </a:solidFill>
                <a:latin typeface="Arial" pitchFamily="34" charset="0"/>
                <a:ea typeface="Arial" pitchFamily="34" charset="-122"/>
                <a:cs typeface="Arial" pitchFamily="34" charset="-120"/>
              </a:rPr>
              <a:t>The group mean barely moved (-0.015, </a:t>
            </a:r>
            <a:r>
              <a:rPr lang="en-US" sz="1800" i="1" dirty="0">
                <a:solidFill>
                  <a:srgbClr val="222222"/>
                </a:solidFill>
                <a:latin typeface="Arial" pitchFamily="34" charset="0"/>
                <a:ea typeface="Arial" pitchFamily="34" charset="-122"/>
                <a:cs typeface="Arial" pitchFamily="34" charset="-120"/>
              </a:rPr>
              <a:t>p</a:t>
            </a:r>
            <a:r>
              <a:rPr lang="en-US" sz="1800" dirty="0">
                <a:solidFill>
                  <a:srgbClr val="222222"/>
                </a:solidFill>
                <a:latin typeface="Arial" pitchFamily="34" charset="0"/>
                <a:ea typeface="Arial" pitchFamily="34" charset="-122"/>
                <a:cs typeface="Arial" pitchFamily="34" charset="-120"/>
              </a:rPr>
              <a:t> = 0.25), but individuals did. 95% limits of agreement: -0.16 to +0.13.</a:t>
            </a:r>
            <a:endParaRPr lang="en-US" sz="1800" dirty="0"/>
          </a:p>
          <a:p>
            <a:pPr marL="0" indent="0" algn="l">
              <a:lnSpc>
                <a:spcPct val="110000"/>
              </a:lnSpc>
              <a:spcAft>
                <a:spcPts val="1400"/>
              </a:spcAft>
              <a:buNone/>
            </a:pPr>
            <a:r>
              <a:rPr lang="en-US" sz="1800" dirty="0">
                <a:solidFill>
                  <a:srgbClr val="222222"/>
                </a:solidFill>
                <a:latin typeface="Arial" pitchFamily="34" charset="0"/>
                <a:ea typeface="Arial" pitchFamily="34" charset="-122"/>
                <a:cs typeface="Arial" pitchFamily="34" charset="-120"/>
              </a:rPr>
              <a:t>Without the most influential person (top right), </a:t>
            </a:r>
            <a:r>
              <a:rPr lang="en-US" sz="1800" i="1" dirty="0">
                <a:solidFill>
                  <a:srgbClr val="222222"/>
                </a:solidFill>
                <a:latin typeface="Arial" pitchFamily="34" charset="0"/>
                <a:ea typeface="Arial" pitchFamily="34" charset="-122"/>
                <a:cs typeface="Arial" pitchFamily="34" charset="-120"/>
              </a:rPr>
              <a:t>r</a:t>
            </a:r>
            <a:r>
              <a:rPr lang="en-US" sz="1800" dirty="0">
                <a:solidFill>
                  <a:srgbClr val="222222"/>
                </a:solidFill>
                <a:latin typeface="Arial" pitchFamily="34" charset="0"/>
                <a:ea typeface="Arial" pitchFamily="34" charset="-122"/>
                <a:cs typeface="Arial" pitchFamily="34" charset="-120"/>
              </a:rPr>
              <a:t> = 0.747.</a:t>
            </a:r>
            <a:endParaRPr lang="en-US" sz="1800" dirty="0"/>
          </a:p>
        </p:txBody>
      </p:sp>
      <p:sp>
        <p:nvSpPr>
          <p:cNvPr id="6" name="Text 2"/>
          <p:cNvSpPr txBox="1"/>
          <p:nvPr/>
        </p:nvSpPr>
        <p:spPr>
          <a:xfrm>
            <a:off x="548640" y="6199632"/>
            <a:ext cx="11064240" cy="502920"/>
          </a:xfrm>
          <a:prstGeom prst="rect">
            <a:avLst/>
          </a:prstGeom>
          <a:noFill/>
          <a:ln/>
        </p:spPr>
        <p:txBody>
          <a:bodyPr wrap="square" lIns="0" tIns="0" rIns="0" bIns="0" rtlCol="0" anchor="t"/>
          <a:lstStyle/>
          <a:p>
            <a:pPr marL="0" indent="0" algn="l">
              <a:lnSpc>
                <a:spcPct val="105000"/>
              </a:lnSpc>
              <a:buNone/>
            </a:pPr>
            <a:r>
              <a:rPr lang="en-US" sz="1100" dirty="0">
                <a:solidFill>
                  <a:srgbClr val="666666"/>
                </a:solidFill>
                <a:latin typeface="Arial" pitchFamily="34" charset="0"/>
                <a:ea typeface="Arial" pitchFamily="34" charset="-122"/>
                <a:cs typeface="Arial" pitchFamily="34" charset="-120"/>
              </a:rPr>
              <a:t>CI from 50,000 participant bootstrap resamples; </a:t>
            </a:r>
            <a:r>
              <a:rPr lang="en-US" sz="1100" i="1" dirty="0">
                <a:solidFill>
                  <a:srgbClr val="666666"/>
                </a:solidFill>
                <a:latin typeface="Arial" pitchFamily="34" charset="0"/>
                <a:ea typeface="Arial" pitchFamily="34" charset="-122"/>
                <a:cs typeface="Arial" pitchFamily="34" charset="-120"/>
              </a:rPr>
              <a:t>p</a:t>
            </a:r>
            <a:r>
              <a:rPr lang="en-US" sz="1100" dirty="0">
                <a:solidFill>
                  <a:srgbClr val="666666"/>
                </a:solidFill>
                <a:latin typeface="Arial" pitchFamily="34" charset="0"/>
                <a:ea typeface="Arial" pitchFamily="34" charset="-122"/>
                <a:cs typeface="Arial" pitchFamily="34" charset="-120"/>
              </a:rPr>
              <a:t> from a paired </a:t>
            </a:r>
            <a:r>
              <a:rPr lang="en-US" sz="1100" i="1" dirty="0">
                <a:solidFill>
                  <a:srgbClr val="666666"/>
                </a:solidFill>
                <a:latin typeface="Arial" pitchFamily="34" charset="0"/>
                <a:ea typeface="Arial" pitchFamily="34" charset="-122"/>
                <a:cs typeface="Arial" pitchFamily="34" charset="-120"/>
              </a:rPr>
              <a:t>t</a:t>
            </a:r>
            <a:r>
              <a:rPr lang="en-US" sz="1100" dirty="0">
                <a:solidFill>
                  <a:srgbClr val="666666"/>
                </a:solidFill>
                <a:latin typeface="Arial" pitchFamily="34" charset="0"/>
                <a:ea typeface="Arial" pitchFamily="34" charset="-122"/>
                <a:cs typeface="Arial" pitchFamily="34" charset="-120"/>
              </a:rPr>
              <a:t>-test. Early: cycles 1-2 (0-120 s after the first sound). Later: cycles 4-5 (180-300 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914400"/>
          </a:xfrm>
          <a:prstGeom prst="rect">
            <a:avLst/>
          </a:prstGeom>
          <a:noFill/>
          <a:ln/>
        </p:spPr>
        <p:txBody>
          <a:bodyPr wrap="square" lIns="0" tIns="0" rIns="0" bIns="0" rtlCol="0" anchor="t"/>
          <a:lstStyle/>
          <a:p>
            <a:pPr marL="0" indent="0" algn="l">
              <a:buNone/>
            </a:pPr>
            <a:r>
              <a:rPr lang="en-US" sz="3000" b="1" dirty="0">
                <a:solidFill>
                  <a:srgbClr val="235078"/>
                </a:solidFill>
                <a:latin typeface="Arial" pitchFamily="34" charset="0"/>
                <a:ea typeface="Arial" pitchFamily="34" charset="-122"/>
                <a:cs typeface="Arial" pitchFamily="34" charset="-120"/>
              </a:rPr>
              <a:t>Resilience Testing</a:t>
            </a:r>
            <a:endParaRPr lang="en-US" sz="3000" dirty="0"/>
          </a:p>
        </p:txBody>
      </p:sp>
      <p:sp>
        <p:nvSpPr>
          <p:cNvPr id="4" name="Text 1"/>
          <p:cNvSpPr txBox="1"/>
          <p:nvPr/>
        </p:nvSpPr>
        <p:spPr>
          <a:xfrm>
            <a:off x="548640" y="1188720"/>
            <a:ext cx="4206240" cy="365760"/>
          </a:xfrm>
          <a:prstGeom prst="rect">
            <a:avLst/>
          </a:prstGeom>
          <a:noFill/>
          <a:ln/>
        </p:spPr>
        <p:txBody>
          <a:bodyPr wrap="square" lIns="0" tIns="0" rIns="0" bIns="0" rtlCol="0" anchor="t"/>
          <a:lstStyle/>
          <a:p>
            <a:pPr marL="0" indent="0" algn="l">
              <a:lnSpc>
                <a:spcPct val="108000"/>
              </a:lnSpc>
              <a:buNone/>
            </a:pPr>
            <a:r>
              <a:rPr lang="en-US" sz="1800" b="1" dirty="0">
                <a:solidFill>
                  <a:srgbClr val="222222"/>
                </a:solidFill>
                <a:latin typeface="Arial" pitchFamily="34" charset="0"/>
                <a:ea typeface="Arial" pitchFamily="34" charset="-122"/>
                <a:cs typeface="Arial" pitchFamily="34" charset="-120"/>
              </a:rPr>
              <a:t>Other frequencies</a:t>
            </a:r>
            <a:endParaRPr lang="en-US" sz="1800" dirty="0"/>
          </a:p>
        </p:txBody>
      </p:sp>
      <p:sp>
        <p:nvSpPr>
          <p:cNvPr id="5" name="Text 2"/>
          <p:cNvSpPr txBox="1"/>
          <p:nvPr/>
        </p:nvSpPr>
        <p:spPr>
          <a:xfrm>
            <a:off x="5166360" y="1188720"/>
            <a:ext cx="3108960" cy="365760"/>
          </a:xfrm>
          <a:prstGeom prst="rect">
            <a:avLst/>
          </a:prstGeom>
          <a:noFill/>
          <a:ln/>
        </p:spPr>
        <p:txBody>
          <a:bodyPr wrap="square" lIns="0" tIns="0" rIns="0" bIns="0" rtlCol="0" anchor="t"/>
          <a:lstStyle/>
          <a:p>
            <a:pPr marL="0" indent="0" algn="l">
              <a:lnSpc>
                <a:spcPct val="108000"/>
              </a:lnSpc>
              <a:buNone/>
            </a:pPr>
            <a:r>
              <a:rPr lang="en-US" sz="1800" b="1" dirty="0">
                <a:solidFill>
                  <a:srgbClr val="222222"/>
                </a:solidFill>
                <a:latin typeface="Arial" pitchFamily="34" charset="0"/>
                <a:ea typeface="Arial" pitchFamily="34" charset="-122"/>
                <a:cs typeface="Arial" pitchFamily="34" charset="-120"/>
              </a:rPr>
              <a:t>Other phase measures</a:t>
            </a:r>
            <a:endParaRPr lang="en-US" sz="1800" dirty="0"/>
          </a:p>
        </p:txBody>
      </p:sp>
      <p:sp>
        <p:nvSpPr>
          <p:cNvPr id="6" name="Text 3"/>
          <p:cNvSpPr txBox="1"/>
          <p:nvPr/>
        </p:nvSpPr>
        <p:spPr>
          <a:xfrm>
            <a:off x="8595360" y="1188720"/>
            <a:ext cx="3108960" cy="365760"/>
          </a:xfrm>
          <a:prstGeom prst="rect">
            <a:avLst/>
          </a:prstGeom>
          <a:noFill/>
          <a:ln/>
        </p:spPr>
        <p:txBody>
          <a:bodyPr wrap="square" lIns="0" tIns="0" rIns="0" bIns="0" rtlCol="0" anchor="t"/>
          <a:lstStyle/>
          <a:p>
            <a:pPr marL="0" indent="0" algn="l">
              <a:lnSpc>
                <a:spcPct val="108000"/>
              </a:lnSpc>
              <a:buNone/>
            </a:pPr>
            <a:r>
              <a:rPr lang="en-US" sz="1800" b="1" dirty="0">
                <a:solidFill>
                  <a:srgbClr val="222222"/>
                </a:solidFill>
                <a:latin typeface="Arial" pitchFamily="34" charset="0"/>
                <a:ea typeface="Arial" pitchFamily="34" charset="-122"/>
                <a:cs typeface="Arial" pitchFamily="34" charset="-120"/>
              </a:rPr>
              <a:t>Other later windows</a:t>
            </a:r>
            <a:endParaRPr lang="en-US" sz="1800" dirty="0"/>
          </a:p>
        </p:txBody>
      </p:sp>
      <p:pic>
        <p:nvPicPr>
          <p:cNvPr id="7" name="Image 0" descr="Early-later correlation at 35 to 45 Hz"/>
          <p:cNvPicPr>
            <a:picLocks noChangeAspect="1"/>
          </p:cNvPicPr>
          <p:nvPr/>
        </p:nvPicPr>
        <p:blipFill>
          <a:blip r:embed="rId3"/>
          <a:stretch>
            <a:fillRect/>
          </a:stretch>
        </p:blipFill>
        <p:spPr>
          <a:xfrm>
            <a:off x="411480" y="1600200"/>
            <a:ext cx="4389120" cy="3246120"/>
          </a:xfrm>
          <a:prstGeom prst="rect">
            <a:avLst/>
          </a:prstGeom>
        </p:spPr>
      </p:pic>
      <p:pic>
        <p:nvPicPr>
          <p:cNvPr id="8" name="Image 1" descr="Early-later correlation for PLV, PLI and wPLI"/>
          <p:cNvPicPr>
            <a:picLocks noChangeAspect="1"/>
          </p:cNvPicPr>
          <p:nvPr/>
        </p:nvPicPr>
        <p:blipFill>
          <a:blip r:embed="rId4"/>
          <a:stretch>
            <a:fillRect/>
          </a:stretch>
        </p:blipFill>
        <p:spPr>
          <a:xfrm>
            <a:off x="5029200" y="1600200"/>
            <a:ext cx="3246120" cy="3246120"/>
          </a:xfrm>
          <a:prstGeom prst="rect">
            <a:avLst/>
          </a:prstGeom>
        </p:spPr>
      </p:pic>
      <p:pic>
        <p:nvPicPr>
          <p:cNvPr id="9" name="Image 2" descr="Early-later correlation for each later window from cycles 3-4 to 8-9"/>
          <p:cNvPicPr>
            <a:picLocks noChangeAspect="1"/>
          </p:cNvPicPr>
          <p:nvPr/>
        </p:nvPicPr>
        <p:blipFill>
          <a:blip r:embed="rId5"/>
          <a:stretch>
            <a:fillRect/>
          </a:stretch>
        </p:blipFill>
        <p:spPr>
          <a:xfrm>
            <a:off x="8458200" y="1600200"/>
            <a:ext cx="3246120" cy="3246120"/>
          </a:xfrm>
          <a:prstGeom prst="rect">
            <a:avLst/>
          </a:prstGeom>
        </p:spPr>
      </p:pic>
      <p:sp>
        <p:nvSpPr>
          <p:cNvPr id="10" name="Text 4"/>
          <p:cNvSpPr txBox="1"/>
          <p:nvPr/>
        </p:nvSpPr>
        <p:spPr>
          <a:xfrm>
            <a:off x="548640" y="4937760"/>
            <a:ext cx="4206240" cy="1097280"/>
          </a:xfrm>
          <a:prstGeom prst="rect">
            <a:avLst/>
          </a:prstGeom>
          <a:noFill/>
          <a:ln/>
        </p:spPr>
        <p:txBody>
          <a:bodyPr wrap="square" lIns="0" tIns="0" rIns="0" bIns="0" rtlCol="0" anchor="t"/>
          <a:lstStyle/>
          <a:p>
            <a:pPr marL="0" indent="0" algn="l">
              <a:lnSpc>
                <a:spcPct val="108000"/>
              </a:lnSpc>
              <a:buNone/>
            </a:pPr>
            <a:r>
              <a:rPr lang="en-US" sz="1500" dirty="0">
                <a:solidFill>
                  <a:srgbClr val="222222"/>
                </a:solidFill>
                <a:latin typeface="Arial" pitchFamily="34" charset="0"/>
                <a:ea typeface="Arial" pitchFamily="34" charset="-122"/>
                <a:cs typeface="Arial" pitchFamily="34" charset="-120"/>
              </a:rPr>
              <a:t>The six neighbors range from -0.10 to 0.26. The smallest gap from 40 Hz is 0.52 (95% CI 0.08 to 0.65).</a:t>
            </a:r>
            <a:endParaRPr lang="en-US" sz="1500" dirty="0"/>
          </a:p>
        </p:txBody>
      </p:sp>
      <p:sp>
        <p:nvSpPr>
          <p:cNvPr id="11" name="Text 5"/>
          <p:cNvSpPr txBox="1"/>
          <p:nvPr/>
        </p:nvSpPr>
        <p:spPr>
          <a:xfrm>
            <a:off x="5166360" y="4937760"/>
            <a:ext cx="3108960" cy="1097280"/>
          </a:xfrm>
          <a:prstGeom prst="rect">
            <a:avLst/>
          </a:prstGeom>
          <a:noFill/>
          <a:ln/>
        </p:spPr>
        <p:txBody>
          <a:bodyPr wrap="square" lIns="0" tIns="0" rIns="0" bIns="0" rtlCol="0" anchor="t"/>
          <a:lstStyle/>
          <a:p>
            <a:pPr marL="0" indent="0" algn="l">
              <a:lnSpc>
                <a:spcPct val="108000"/>
              </a:lnSpc>
              <a:buNone/>
            </a:pPr>
            <a:r>
              <a:rPr lang="en-US" sz="1500" dirty="0">
                <a:solidFill>
                  <a:srgbClr val="222222"/>
                </a:solidFill>
                <a:latin typeface="Arial" pitchFamily="34" charset="0"/>
                <a:ea typeface="Arial" pitchFamily="34" charset="-122"/>
                <a:cs typeface="Arial" pitchFamily="34" charset="-120"/>
              </a:rPr>
              <a:t>PLI and wPLI ignore zero-lag coupling, which one source reaching both electrodes would produce.</a:t>
            </a:r>
            <a:endParaRPr lang="en-US" sz="1500" dirty="0"/>
          </a:p>
        </p:txBody>
      </p:sp>
      <p:sp>
        <p:nvSpPr>
          <p:cNvPr id="12" name="Text 6"/>
          <p:cNvSpPr txBox="1"/>
          <p:nvPr/>
        </p:nvSpPr>
        <p:spPr>
          <a:xfrm>
            <a:off x="8595360" y="4937760"/>
            <a:ext cx="3108960" cy="1097280"/>
          </a:xfrm>
          <a:prstGeom prst="rect">
            <a:avLst/>
          </a:prstGeom>
          <a:noFill/>
          <a:ln/>
        </p:spPr>
        <p:txBody>
          <a:bodyPr wrap="square" lIns="0" tIns="0" rIns="0" bIns="0" rtlCol="0" anchor="t"/>
          <a:lstStyle/>
          <a:p>
            <a:pPr marL="0" indent="0" algn="l">
              <a:lnSpc>
                <a:spcPct val="108000"/>
              </a:lnSpc>
              <a:buNone/>
            </a:pPr>
            <a:r>
              <a:rPr lang="en-US" sz="1500" dirty="0">
                <a:solidFill>
                  <a:srgbClr val="222222"/>
                </a:solidFill>
                <a:latin typeface="Arial" pitchFamily="34" charset="0"/>
                <a:ea typeface="Arial" pitchFamily="34" charset="-122"/>
                <a:cs typeface="Arial" pitchFamily="34" charset="-120"/>
              </a:rPr>
              <a:t>Cycles 4-5 gave the highest </a:t>
            </a:r>
            <a:r>
              <a:rPr lang="en-US" sz="1500" i="1" dirty="0">
                <a:solidFill>
                  <a:srgbClr val="222222"/>
                </a:solidFill>
                <a:latin typeface="Arial" pitchFamily="34" charset="0"/>
                <a:ea typeface="Arial" pitchFamily="34" charset="-122"/>
                <a:cs typeface="Arial" pitchFamily="34" charset="-120"/>
              </a:rPr>
              <a:t>r</a:t>
            </a:r>
            <a:r>
              <a:rPr lang="en-US" sz="1500" dirty="0">
                <a:solidFill>
                  <a:srgbClr val="222222"/>
                </a:solidFill>
                <a:latin typeface="Arial" pitchFamily="34" charset="0"/>
                <a:ea typeface="Arial" pitchFamily="34" charset="-122"/>
                <a:cs typeface="Arial" pitchFamily="34" charset="-120"/>
              </a:rPr>
              <a:t>. The other five windows gave 0.61 to 0.77, all </a:t>
            </a:r>
            <a:r>
              <a:rPr lang="en-US" sz="1500" i="1" dirty="0">
                <a:solidFill>
                  <a:srgbClr val="222222"/>
                </a:solidFill>
                <a:latin typeface="Arial" pitchFamily="34" charset="0"/>
                <a:ea typeface="Arial" pitchFamily="34" charset="-122"/>
                <a:cs typeface="Arial" pitchFamily="34" charset="-120"/>
              </a:rPr>
              <a:t>p</a:t>
            </a:r>
            <a:r>
              <a:rPr lang="en-US" sz="1500" dirty="0">
                <a:solidFill>
                  <a:srgbClr val="222222"/>
                </a:solidFill>
                <a:latin typeface="Arial" pitchFamily="34" charset="0"/>
                <a:ea typeface="Arial" pitchFamily="34" charset="-122"/>
                <a:cs typeface="Arial" pitchFamily="34" charset="-120"/>
              </a:rPr>
              <a:t> &lt; 0.05 after Bonferroni correction.</a:t>
            </a:r>
            <a:endParaRPr lang="en-US" sz="1500" dirty="0"/>
          </a:p>
        </p:txBody>
      </p:sp>
      <p:sp>
        <p:nvSpPr>
          <p:cNvPr id="13" name="Text 7"/>
          <p:cNvSpPr txBox="1"/>
          <p:nvPr/>
        </p:nvSpPr>
        <p:spPr>
          <a:xfrm>
            <a:off x="548640" y="6199632"/>
            <a:ext cx="11064240" cy="502920"/>
          </a:xfrm>
          <a:prstGeom prst="rect">
            <a:avLst/>
          </a:prstGeom>
          <a:noFill/>
          <a:ln/>
        </p:spPr>
        <p:txBody>
          <a:bodyPr wrap="square" lIns="0" tIns="0" rIns="0" bIns="0" rtlCol="0" anchor="t"/>
          <a:lstStyle/>
          <a:p>
            <a:pPr marL="0" indent="0" algn="l">
              <a:lnSpc>
                <a:spcPct val="105000"/>
              </a:lnSpc>
              <a:buNone/>
            </a:pPr>
            <a:r>
              <a:rPr lang="en-US" sz="1100" dirty="0">
                <a:solidFill>
                  <a:srgbClr val="666666"/>
                </a:solidFill>
                <a:latin typeface="Arial" pitchFamily="34" charset="0"/>
                <a:ea typeface="Arial" pitchFamily="34" charset="-122"/>
                <a:cs typeface="Arial" pitchFamily="34" charset="-120"/>
              </a:rPr>
              <a:t>Dots are early vs. later </a:t>
            </a:r>
            <a:r>
              <a:rPr lang="en-US" sz="1100" i="1" dirty="0">
                <a:solidFill>
                  <a:srgbClr val="666666"/>
                </a:solidFill>
                <a:latin typeface="Arial" pitchFamily="34" charset="0"/>
                <a:ea typeface="Arial" pitchFamily="34" charset="-122"/>
                <a:cs typeface="Arial" pitchFamily="34" charset="-120"/>
              </a:rPr>
              <a:t>r</a:t>
            </a:r>
            <a:r>
              <a:rPr lang="en-US" sz="1100" dirty="0">
                <a:solidFill>
                  <a:srgbClr val="666666"/>
                </a:solidFill>
                <a:latin typeface="Arial" pitchFamily="34" charset="0"/>
                <a:ea typeface="Arial" pitchFamily="34" charset="-122"/>
                <a:cs typeface="Arial" pitchFamily="34" charset="-120"/>
              </a:rPr>
              <a:t> with 95% participant-bootstrap intervals; the early window is always cycles 1-2. Cycles 6-9 exist only in the 27 longer sessions. PLI: phase-lag index (Stam et al. 2007). wPLI: weighted PLI (Vinck et al. 2011).</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914400"/>
          </a:xfrm>
          <a:prstGeom prst="rect">
            <a:avLst/>
          </a:prstGeom>
          <a:noFill/>
          <a:ln/>
        </p:spPr>
        <p:txBody>
          <a:bodyPr wrap="square" lIns="0" tIns="0" rIns="0" bIns="0" rtlCol="0" anchor="t"/>
          <a:lstStyle/>
          <a:p>
            <a:pPr marL="0" indent="0" algn="l">
              <a:buNone/>
            </a:pPr>
            <a:r>
              <a:rPr lang="en-US" sz="3000" dirty="0"/>
              <a:t>Limitations and further development</a:t>
            </a:r>
          </a:p>
        </p:txBody>
      </p:sp>
      <p:sp>
        <p:nvSpPr>
          <p:cNvPr id="4" name="Text 1"/>
          <p:cNvSpPr txBox="1"/>
          <p:nvPr/>
        </p:nvSpPr>
        <p:spPr>
          <a:xfrm>
            <a:off x="548640" y="1234440"/>
            <a:ext cx="7223760" cy="1005840"/>
          </a:xfrm>
          <a:prstGeom prst="rect">
            <a:avLst/>
          </a:prstGeom>
          <a:noFill/>
          <a:ln/>
        </p:spPr>
        <p:txBody>
          <a:bodyPr wrap="square" lIns="0" tIns="0" rIns="0" bIns="0" rtlCol="0" anchor="t"/>
          <a:lstStyle/>
          <a:p>
            <a:pPr marL="0" indent="0" algn="l">
              <a:lnSpc>
                <a:spcPct val="110000"/>
              </a:lnSpc>
              <a:buNone/>
            </a:pPr>
            <a:r>
              <a:rPr lang="en-US" sz="2200" dirty="0">
                <a:solidFill>
                  <a:srgbClr val="222222"/>
                </a:solidFill>
                <a:latin typeface="Arial" pitchFamily="34" charset="0"/>
                <a:ea typeface="Arial" pitchFamily="34" charset="-122"/>
                <a:cs typeface="Arial" pitchFamily="34" charset="-120"/>
              </a:rPr>
              <a:t>The contrast in the first two minutes tracked the contrast 3 to 5 minutes in (</a:t>
            </a:r>
            <a:r>
              <a:rPr lang="en-US" sz="2200" i="1" dirty="0">
                <a:solidFill>
                  <a:srgbClr val="222222"/>
                </a:solidFill>
                <a:latin typeface="Arial" pitchFamily="34" charset="0"/>
                <a:ea typeface="Arial" pitchFamily="34" charset="-122"/>
                <a:cs typeface="Arial" pitchFamily="34" charset="-120"/>
              </a:rPr>
              <a:t>r</a:t>
            </a:r>
            <a:r>
              <a:rPr lang="en-US" sz="2200" dirty="0">
                <a:solidFill>
                  <a:srgbClr val="222222"/>
                </a:solidFill>
                <a:latin typeface="Arial" pitchFamily="34" charset="0"/>
                <a:ea typeface="Arial" pitchFamily="34" charset="-122"/>
                <a:cs typeface="Arial" pitchFamily="34" charset="-120"/>
              </a:rPr>
              <a:t> = 0.78), most strongly at 40 Hz.</a:t>
            </a:r>
            <a:endParaRPr lang="en-US" sz="2200" dirty="0"/>
          </a:p>
        </p:txBody>
      </p:sp>
      <p:sp>
        <p:nvSpPr>
          <p:cNvPr id="5" name="Text 2"/>
          <p:cNvSpPr txBox="1"/>
          <p:nvPr/>
        </p:nvSpPr>
        <p:spPr>
          <a:xfrm>
            <a:off x="548640" y="2487168"/>
            <a:ext cx="6949440" cy="365760"/>
          </a:xfrm>
          <a:prstGeom prst="rect">
            <a:avLst/>
          </a:prstGeom>
          <a:noFill/>
          <a:ln/>
        </p:spPr>
        <p:txBody>
          <a:bodyPr wrap="square" lIns="0" tIns="0" rIns="0" bIns="0" rtlCol="0" anchor="t"/>
          <a:lstStyle/>
          <a:p>
            <a:pPr marL="0" indent="0" algn="l">
              <a:lnSpc>
                <a:spcPct val="108000"/>
              </a:lnSpc>
              <a:buNone/>
            </a:pPr>
            <a:r>
              <a:rPr lang="en-US" sz="1800" b="1" dirty="0">
                <a:solidFill>
                  <a:srgbClr val="222222"/>
                </a:solidFill>
                <a:latin typeface="Arial" pitchFamily="34" charset="0"/>
                <a:ea typeface="Arial" pitchFamily="34" charset="-122"/>
                <a:cs typeface="Arial" pitchFamily="34" charset="-120"/>
              </a:rPr>
              <a:t>Limitations</a:t>
            </a:r>
            <a:endParaRPr lang="en-US" sz="1800" dirty="0"/>
          </a:p>
        </p:txBody>
      </p:sp>
      <p:sp>
        <p:nvSpPr>
          <p:cNvPr id="6" name="Text 3"/>
          <p:cNvSpPr txBox="1"/>
          <p:nvPr/>
        </p:nvSpPr>
        <p:spPr>
          <a:xfrm>
            <a:off x="548640" y="2880360"/>
            <a:ext cx="6949440" cy="1737360"/>
          </a:xfrm>
          <a:prstGeom prst="rect">
            <a:avLst/>
          </a:prstGeom>
          <a:noFill/>
          <a:ln/>
        </p:spPr>
        <p:txBody>
          <a:bodyPr wrap="square" lIns="0" tIns="0" rIns="0" bIns="0" rtlCol="0" anchor="t"/>
          <a:lstStyle/>
          <a:p>
            <a:pPr marL="228600" indent="-228600" algn="l">
              <a:lnSpc>
                <a:spcPct val="108000"/>
              </a:lnSpc>
              <a:spcAft>
                <a:spcPts val="600"/>
              </a:spcAft>
              <a:buSzPct val="100000"/>
              <a:buChar char="•"/>
            </a:pPr>
            <a:r>
              <a:rPr lang="en-US" sz="1800" dirty="0">
                <a:solidFill>
                  <a:srgbClr val="222222"/>
                </a:solidFill>
                <a:latin typeface="Arial" pitchFamily="34" charset="0"/>
                <a:ea typeface="Arial" pitchFamily="34" charset="-122"/>
                <a:cs typeface="Arial" pitchFamily="34" charset="-120"/>
              </a:rPr>
              <a:t>I picked cycles 4-5 after looking at the data.</a:t>
            </a:r>
            <a:endParaRPr lang="en-US" sz="1800" dirty="0"/>
          </a:p>
          <a:p>
            <a:pPr marL="228600" indent="-228600" algn="l">
              <a:lnSpc>
                <a:spcPct val="108000"/>
              </a:lnSpc>
              <a:spcAft>
                <a:spcPts val="600"/>
              </a:spcAft>
              <a:buSzPct val="100000"/>
              <a:buChar char="•"/>
            </a:pPr>
            <a:r>
              <a:rPr lang="en-US" sz="1800" dirty="0">
                <a:solidFill>
                  <a:srgbClr val="222222"/>
                </a:solidFill>
                <a:latin typeface="Arial" pitchFamily="34" charset="0"/>
                <a:ea typeface="Arial" pitchFamily="34" charset="-122"/>
                <a:cs typeface="Arial" pitchFamily="34" charset="-120"/>
              </a:rPr>
              <a:t>The EEG was cleaned offline, using whole recordings.</a:t>
            </a:r>
            <a:endParaRPr lang="en-US" sz="1800" dirty="0"/>
          </a:p>
          <a:p>
            <a:pPr marL="228600" indent="-228600" algn="l">
              <a:lnSpc>
                <a:spcPct val="108000"/>
              </a:lnSpc>
              <a:spcAft>
                <a:spcPts val="600"/>
              </a:spcAft>
              <a:buSzPct val="100000"/>
              <a:buChar char="•"/>
            </a:pPr>
            <a:r>
              <a:rPr lang="en-US" sz="1800" dirty="0">
                <a:solidFill>
                  <a:srgbClr val="222222"/>
                </a:solidFill>
                <a:latin typeface="Arial" pitchFamily="34" charset="0"/>
                <a:ea typeface="Arial" pitchFamily="34" charset="-122"/>
                <a:cs typeface="Arial" pitchFamily="34" charset="-120"/>
              </a:rPr>
              <a:t>Silence </a:t>
            </a:r>
            <a:r>
              <a:rPr lang="en-US" sz="1800" i="1" dirty="0">
                <a:solidFill>
                  <a:srgbClr val="222222"/>
                </a:solidFill>
                <a:latin typeface="Arial" pitchFamily="34" charset="0"/>
                <a:ea typeface="Arial" pitchFamily="34" charset="-122"/>
                <a:cs typeface="Arial" pitchFamily="34" charset="-120"/>
              </a:rPr>
              <a:t>always</a:t>
            </a:r>
            <a:r>
              <a:rPr lang="en-US" sz="1800" dirty="0">
                <a:solidFill>
                  <a:srgbClr val="222222"/>
                </a:solidFill>
                <a:latin typeface="Arial" pitchFamily="34" charset="0"/>
                <a:ea typeface="Arial" pitchFamily="34" charset="-122"/>
                <a:cs typeface="Arial" pitchFamily="34" charset="-120"/>
              </a:rPr>
              <a:t> followed sound, and there was no sham.</a:t>
            </a:r>
            <a:endParaRPr lang="en-US" sz="1800" dirty="0"/>
          </a:p>
          <a:p>
            <a:pPr marL="228600" indent="-228600" algn="l">
              <a:lnSpc>
                <a:spcPct val="108000"/>
              </a:lnSpc>
              <a:spcAft>
                <a:spcPts val="600"/>
              </a:spcAft>
              <a:buSzPct val="100000"/>
              <a:buChar char="•"/>
            </a:pPr>
            <a:r>
              <a:rPr lang="en-US" sz="1800" dirty="0">
                <a:solidFill>
                  <a:srgbClr val="222222"/>
                </a:solidFill>
                <a:latin typeface="Arial" pitchFamily="34" charset="0"/>
                <a:ea typeface="Arial" pitchFamily="34" charset="-122"/>
                <a:cs typeface="Arial" pitchFamily="34" charset="-120"/>
              </a:rPr>
              <a:t>Scalp EEG can't rule out a </a:t>
            </a:r>
            <a:r>
              <a:rPr lang="en-US" sz="1800" i="1" dirty="0">
                <a:solidFill>
                  <a:srgbClr val="222222"/>
                </a:solidFill>
                <a:latin typeface="Arial" pitchFamily="34" charset="0"/>
                <a:ea typeface="Arial" pitchFamily="34" charset="-122"/>
                <a:cs typeface="Arial" pitchFamily="34" charset="-120"/>
              </a:rPr>
              <a:t>shared response </a:t>
            </a:r>
            <a:r>
              <a:rPr lang="en-US" sz="1800" dirty="0">
                <a:solidFill>
                  <a:srgbClr val="222222"/>
                </a:solidFill>
                <a:latin typeface="Arial" pitchFamily="34" charset="0"/>
                <a:ea typeface="Arial" pitchFamily="34" charset="-122"/>
                <a:cs typeface="Arial" pitchFamily="34" charset="-120"/>
              </a:rPr>
              <a:t>or an artifact.</a:t>
            </a:r>
            <a:endParaRPr lang="en-US" sz="1800" dirty="0"/>
          </a:p>
        </p:txBody>
      </p:sp>
      <p:sp>
        <p:nvSpPr>
          <p:cNvPr id="7" name="Text 4"/>
          <p:cNvSpPr txBox="1"/>
          <p:nvPr/>
        </p:nvSpPr>
        <p:spPr>
          <a:xfrm>
            <a:off x="548640" y="4617720"/>
            <a:ext cx="6949440" cy="1188720"/>
          </a:xfrm>
          <a:prstGeom prst="rect">
            <a:avLst/>
          </a:prstGeom>
          <a:noFill/>
          <a:ln/>
        </p:spPr>
        <p:txBody>
          <a:bodyPr wrap="square" lIns="0" tIns="0" rIns="0" bIns="0" rtlCol="0" anchor="t"/>
          <a:lstStyle/>
          <a:p>
            <a:pPr marL="0" indent="0" algn="l">
              <a:lnSpc>
                <a:spcPct val="108000"/>
              </a:lnSpc>
              <a:spcAft>
                <a:spcPts val="1000"/>
              </a:spcAft>
              <a:buNone/>
            </a:pPr>
            <a:r>
              <a:rPr lang="en-US" sz="1800" dirty="0">
                <a:solidFill>
                  <a:srgbClr val="222222"/>
                </a:solidFill>
                <a:latin typeface="Arial" pitchFamily="34" charset="0"/>
                <a:ea typeface="Arial" pitchFamily="34" charset="-122"/>
                <a:cs typeface="Arial" pitchFamily="34" charset="-120"/>
              </a:rPr>
              <a:t>Next: a preregistered, real-time test with a sham or counterbalanced order.</a:t>
            </a:r>
            <a:endParaRPr lang="en-US" sz="1800" dirty="0"/>
          </a:p>
        </p:txBody>
      </p:sp>
      <p:pic>
        <p:nvPicPr>
          <p:cNvPr id="8" name="Image 0" descr="The main result again: early versus later contrast, r = 0.78"/>
          <p:cNvPicPr>
            <a:picLocks noChangeAspect="1"/>
          </p:cNvPicPr>
          <p:nvPr/>
        </p:nvPicPr>
        <p:blipFill>
          <a:blip r:embed="rId3"/>
          <a:stretch>
            <a:fillRect/>
          </a:stretch>
        </p:blipFill>
        <p:spPr>
          <a:xfrm>
            <a:off x="8092440" y="1371600"/>
            <a:ext cx="3749040" cy="2926080"/>
          </a:xfrm>
          <a:prstGeom prst="rect">
            <a:avLst/>
          </a:prstGeom>
        </p:spPr>
      </p:pic>
      <p:sp>
        <p:nvSpPr>
          <p:cNvPr id="9" name="Text 5"/>
          <p:cNvSpPr txBox="1"/>
          <p:nvPr/>
        </p:nvSpPr>
        <p:spPr>
          <a:xfrm>
            <a:off x="548640" y="6199632"/>
            <a:ext cx="11064240" cy="502920"/>
          </a:xfrm>
          <a:prstGeom prst="rect">
            <a:avLst/>
          </a:prstGeom>
          <a:noFill/>
          <a:ln/>
        </p:spPr>
        <p:txBody>
          <a:bodyPr wrap="square" lIns="0" tIns="0" rIns="0" bIns="0" rtlCol="0" anchor="t"/>
          <a:lstStyle/>
          <a:p>
            <a:pPr marL="0" indent="0" algn="l">
              <a:lnSpc>
                <a:spcPct val="105000"/>
              </a:lnSpc>
              <a:buNone/>
            </a:pPr>
            <a:r>
              <a:rPr lang="en-US" sz="1100" dirty="0">
                <a:solidFill>
                  <a:srgbClr val="666666"/>
                </a:solidFill>
                <a:latin typeface="Arial" pitchFamily="34" charset="0"/>
                <a:ea typeface="Arial" pitchFamily="34" charset="-122"/>
                <a:cs typeface="Arial" pitchFamily="34" charset="-120"/>
              </a:rPr>
              <a:t>Data: Lahijanian, Aghajan &amp; Vahabi, OpenNeuro ds005048 (CC0). Thank you to the participants and the dataset authors.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TotalTime>
  <Words>1641</Words>
  <Application>Microsoft Macintosh PowerPoint</Application>
  <PresentationFormat>Widescreen</PresentationFormat>
  <Paragraphs>63</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Cambria Math</vt:lpstr>
      <vt:lpstr>Office Theme</vt:lpstr>
      <vt:lpstr>PowerPoint Presentation</vt:lpstr>
      <vt:lpstr>Does the EEG response in the first two minutes track the response a few minutes later?</vt:lpstr>
      <vt:lpstr>Dataset: 35 people, 40s of sound, 20s of silence</vt:lpstr>
      <vt:lpstr>Synchronization quantification</vt:lpstr>
      <vt:lpstr>Larger early contrasts correlate with larger later contrasts</vt:lpstr>
      <vt:lpstr>Resilience Testing</vt:lpstr>
      <vt:lpstr>Limitations and further development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Early and Later EEG Synchronization During 40-Hz Auditory Stimulation</dc:title>
  <dc:subject>PptxGenJS Presentation</dc:subject>
  <dc:creator>Amaar Chughtai</dc:creator>
  <cp:lastModifiedBy>Amaar Chughtai</cp:lastModifiedBy>
  <cp:revision>2</cp:revision>
  <dcterms:created xsi:type="dcterms:W3CDTF">2026-09-28T01:18:25Z</dcterms:created>
  <dcterms:modified xsi:type="dcterms:W3CDTF">2026-09-28T03:40:31Z</dcterms:modified>
</cp:coreProperties>
</file>