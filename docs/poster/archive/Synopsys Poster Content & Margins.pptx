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63" r:id="rId2"/>
  </p:sldIdLst>
  <p:sldSz cx="43891200" cy="51206400"/>
  <p:notesSz cx="31954788" cy="50149125"/>
  <p:embeddedFontLst>
    <p:embeddedFont>
      <p:font typeface="Libre Baskerville" panose="02000000000000000000" pitchFamily="2" charset="0"/>
      <p:regular r:id="rId5"/>
      <p:bold r:id="rId6"/>
      <p:italic r:id="rId7"/>
    </p:embeddedFont>
    <p:embeddedFont>
      <p:font typeface="Montserrat Light" pitchFamily="2" charset="77"/>
      <p:regular r:id="rId8"/>
    </p:embeddedFont>
  </p:embeddedFontLst>
  <p:custDataLst>
    <p:tags r:id="rId9"/>
  </p:custDataLst>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1061" userDrawn="1">
          <p15:clr>
            <a:srgbClr val="A4A3A4"/>
          </p15:clr>
        </p15:guide>
        <p15:guide id="2" orient="horz" pos="8761" userDrawn="1">
          <p15:clr>
            <a:srgbClr val="A4A3A4"/>
          </p15:clr>
        </p15:guide>
        <p15:guide id="3" orient="horz" pos="5496" userDrawn="1">
          <p15:clr>
            <a:srgbClr val="A4A3A4"/>
          </p15:clr>
        </p15:guide>
        <p15:guide id="4" orient="horz" pos="9716" userDrawn="1">
          <p15:clr>
            <a:srgbClr val="A4A3A4"/>
          </p15:clr>
        </p15:guide>
        <p15:guide id="5" pos="720" userDrawn="1">
          <p15:clr>
            <a:srgbClr val="A4A3A4"/>
          </p15:clr>
        </p15:guide>
        <p15:guide id="6" pos="6912" userDrawn="1">
          <p15:clr>
            <a:srgbClr val="A4A3A4"/>
          </p15:clr>
        </p15:guide>
        <p15:guide id="7" pos="7392" userDrawn="1">
          <p15:clr>
            <a:srgbClr val="A4A3A4"/>
          </p15:clr>
        </p15:guide>
        <p15:guide id="8" pos="13584" userDrawn="1">
          <p15:clr>
            <a:srgbClr val="A4A3A4"/>
          </p15:clr>
        </p15:guide>
        <p15:guide id="9" pos="14064" userDrawn="1">
          <p15:clr>
            <a:srgbClr val="A4A3A4"/>
          </p15:clr>
        </p15:guide>
        <p15:guide id="10" pos="20256" userDrawn="1">
          <p15:clr>
            <a:srgbClr val="A4A3A4"/>
          </p15:clr>
        </p15:guide>
        <p15:guide id="11" pos="20736" userDrawn="1">
          <p15:clr>
            <a:srgbClr val="A4A3A4"/>
          </p15:clr>
        </p15:guide>
        <p15:guide id="12" pos="26928" userDrawn="1">
          <p15:clr>
            <a:srgbClr val="A4A3A4"/>
          </p15:clr>
        </p15:guide>
      </p15:sldGuideLst>
    </p:ext>
    <p:ext uri="{2D200454-40CA-4A62-9FC3-DE9A4176ACB9}">
      <p15:notesGuideLst xmlns:p15="http://schemas.microsoft.com/office/powerpoint/2012/main">
        <p15:guide id="1" orient="horz" pos="15795">
          <p15:clr>
            <a:srgbClr val="A4A3A4"/>
          </p15:clr>
        </p15:guide>
        <p15:guide id="2" pos="100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autoAdjust="0"/>
    <p:restoredTop sz="94660" autoAdjust="0"/>
  </p:normalViewPr>
  <p:slideViewPr>
    <p:cSldViewPr>
      <p:cViewPr>
        <p:scale>
          <a:sx n="39" d="100"/>
          <a:sy n="39" d="100"/>
        </p:scale>
        <p:origin x="1112" y="-6136"/>
      </p:cViewPr>
      <p:guideLst>
        <p:guide orient="horz" pos="31061"/>
        <p:guide orient="horz" pos="8761"/>
        <p:guide orient="horz" pos="5496"/>
        <p:guide orient="horz" pos="9716"/>
        <p:guide pos="720"/>
        <p:guide pos="6912"/>
        <p:guide pos="7392"/>
        <p:guide pos="13584"/>
        <p:guide pos="14064"/>
        <p:guide pos="20256"/>
        <p:guide pos="20736"/>
        <p:guide pos="269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17" d="100"/>
          <a:sy n="17" d="100"/>
        </p:scale>
        <p:origin x="4416" y="178"/>
      </p:cViewPr>
      <p:guideLst>
        <p:guide orient="horz" pos="15795"/>
        <p:guide pos="1006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viewProps" Target="viewProps.xml"/><Relationship Id="rId5" Type="http://schemas.openxmlformats.org/officeDocument/2006/relationships/font" Target="fonts/font1.fntdata"/><Relationship Id="rId10" Type="http://schemas.openxmlformats.org/officeDocument/2006/relationships/presProps" Target="presProps.xml"/><Relationship Id="rId4" Type="http://schemas.openxmlformats.org/officeDocument/2006/relationships/handoutMaster" Target="handoutMasters/handoutMaster1.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4099" name="Rectangle 3"/>
          <p:cNvSpPr>
            <a:spLocks noGrp="1" noChangeArrowheads="1"/>
          </p:cNvSpPr>
          <p:nvPr>
            <p:ph type="dt" sz="quarter"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4100" name="Rectangle 4"/>
          <p:cNvSpPr>
            <a:spLocks noGrp="1" noChangeArrowheads="1"/>
          </p:cNvSpPr>
          <p:nvPr>
            <p:ph type="ftr" sz="quarter" idx="2"/>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4101" name="Rectangle 5"/>
          <p:cNvSpPr>
            <a:spLocks noGrp="1" noChangeArrowheads="1"/>
          </p:cNvSpPr>
          <p:nvPr>
            <p:ph type="sldNum" sz="quarter" idx="3"/>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40C443C-8022-4F5D-8F2E-5133654FC91D}" type="slidenum">
              <a:rPr lang="en-AU"/>
              <a:pPr>
                <a:defRPr/>
              </a:pPr>
              <a:t>‹#›</a:t>
            </a:fld>
            <a:endParaRPr lang="en-AU"/>
          </a:p>
        </p:txBody>
      </p:sp>
    </p:spTree>
    <p:extLst>
      <p:ext uri="{BB962C8B-B14F-4D97-AF65-F5344CB8AC3E}">
        <p14:creationId xmlns:p14="http://schemas.microsoft.com/office/powerpoint/2010/main" val="399792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3075" name="Rectangle 3"/>
          <p:cNvSpPr>
            <a:spLocks noGrp="1" noChangeArrowheads="1"/>
          </p:cNvSpPr>
          <p:nvPr>
            <p:ph type="dt"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3076" name="Rectangle 4"/>
          <p:cNvSpPr>
            <a:spLocks noGrp="1" noRot="1" noChangeAspect="1" noChangeArrowheads="1" noTextEdit="1"/>
          </p:cNvSpPr>
          <p:nvPr>
            <p:ph type="sldImg" idx="2"/>
          </p:nvPr>
        </p:nvSpPr>
        <p:spPr bwMode="auto">
          <a:xfrm>
            <a:off x="7842250" y="3757613"/>
            <a:ext cx="16068675" cy="187483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txBody>
          <a:bodyPr/>
          <a:lstStyle/>
          <a:p>
            <a:endParaRPr lang="en-US"/>
          </a:p>
        </p:txBody>
      </p:sp>
      <p:sp>
        <p:nvSpPr>
          <p:cNvPr id="3077" name="Rectangle 5"/>
          <p:cNvSpPr>
            <a:spLocks noGrp="1" noChangeArrowheads="1"/>
          </p:cNvSpPr>
          <p:nvPr>
            <p:ph type="body" sz="quarter" idx="3"/>
          </p:nvPr>
        </p:nvSpPr>
        <p:spPr bwMode="auto">
          <a:xfrm>
            <a:off x="4137025" y="24004588"/>
            <a:ext cx="23456900" cy="22512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3079" name="Rectangle 7"/>
          <p:cNvSpPr>
            <a:spLocks noGrp="1" noChangeArrowheads="1"/>
          </p:cNvSpPr>
          <p:nvPr>
            <p:ph type="sldNum" sz="quarter" idx="5"/>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2207482-9F38-4AF6-9B91-768DCEDA59AC}" type="slidenum">
              <a:rPr lang="en-AU"/>
              <a:pPr>
                <a:defRPr/>
              </a:pPr>
              <a:t>‹#›</a:t>
            </a:fld>
            <a:endParaRPr lang="en-AU"/>
          </a:p>
        </p:txBody>
      </p:sp>
    </p:spTree>
    <p:extLst>
      <p:ext uri="{BB962C8B-B14F-4D97-AF65-F5344CB8AC3E}">
        <p14:creationId xmlns:p14="http://schemas.microsoft.com/office/powerpoint/2010/main" val="4090799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4508500">
              <a:defRPr sz="2400">
                <a:solidFill>
                  <a:schemeClr val="tx1"/>
                </a:solidFill>
                <a:latin typeface="Times New Roman" pitchFamily="18" charset="0"/>
              </a:defRPr>
            </a:lvl1pPr>
            <a:lvl2pPr marL="742950" indent="-285750" defTabSz="4508500">
              <a:defRPr sz="2400">
                <a:solidFill>
                  <a:schemeClr val="tx1"/>
                </a:solidFill>
                <a:latin typeface="Times New Roman" pitchFamily="18" charset="0"/>
              </a:defRPr>
            </a:lvl2pPr>
            <a:lvl3pPr marL="1143000" indent="-228600" defTabSz="4508500">
              <a:defRPr sz="2400">
                <a:solidFill>
                  <a:schemeClr val="tx1"/>
                </a:solidFill>
                <a:latin typeface="Times New Roman" pitchFamily="18" charset="0"/>
              </a:defRPr>
            </a:lvl3pPr>
            <a:lvl4pPr marL="1600200" indent="-228600" defTabSz="4508500">
              <a:defRPr sz="2400">
                <a:solidFill>
                  <a:schemeClr val="tx1"/>
                </a:solidFill>
                <a:latin typeface="Times New Roman" pitchFamily="18" charset="0"/>
              </a:defRPr>
            </a:lvl4pPr>
            <a:lvl5pPr marL="2057400" indent="-228600" defTabSz="4508500">
              <a:defRPr sz="2400">
                <a:solidFill>
                  <a:schemeClr val="tx1"/>
                </a:solidFill>
                <a:latin typeface="Times New Roman" pitchFamily="18" charset="0"/>
              </a:defRPr>
            </a:lvl5pPr>
            <a:lvl6pPr marL="2514600" indent="-228600" defTabSz="4508500" eaLnBrk="0" fontAlgn="base" hangingPunct="0">
              <a:spcBef>
                <a:spcPct val="0"/>
              </a:spcBef>
              <a:spcAft>
                <a:spcPct val="0"/>
              </a:spcAft>
              <a:defRPr sz="2400">
                <a:solidFill>
                  <a:schemeClr val="tx1"/>
                </a:solidFill>
                <a:latin typeface="Times New Roman" pitchFamily="18" charset="0"/>
              </a:defRPr>
            </a:lvl6pPr>
            <a:lvl7pPr marL="2971800" indent="-228600" defTabSz="4508500" eaLnBrk="0" fontAlgn="base" hangingPunct="0">
              <a:spcBef>
                <a:spcPct val="0"/>
              </a:spcBef>
              <a:spcAft>
                <a:spcPct val="0"/>
              </a:spcAft>
              <a:defRPr sz="2400">
                <a:solidFill>
                  <a:schemeClr val="tx1"/>
                </a:solidFill>
                <a:latin typeface="Times New Roman" pitchFamily="18" charset="0"/>
              </a:defRPr>
            </a:lvl7pPr>
            <a:lvl8pPr marL="3429000" indent="-228600" defTabSz="4508500" eaLnBrk="0" fontAlgn="base" hangingPunct="0">
              <a:spcBef>
                <a:spcPct val="0"/>
              </a:spcBef>
              <a:spcAft>
                <a:spcPct val="0"/>
              </a:spcAft>
              <a:defRPr sz="2400">
                <a:solidFill>
                  <a:schemeClr val="tx1"/>
                </a:solidFill>
                <a:latin typeface="Times New Roman" pitchFamily="18" charset="0"/>
              </a:defRPr>
            </a:lvl8pPr>
            <a:lvl9pPr marL="3886200" indent="-228600" defTabSz="4508500" eaLnBrk="0" fontAlgn="base" hangingPunct="0">
              <a:spcBef>
                <a:spcPct val="0"/>
              </a:spcBef>
              <a:spcAft>
                <a:spcPct val="0"/>
              </a:spcAft>
              <a:defRPr sz="2400">
                <a:solidFill>
                  <a:schemeClr val="tx1"/>
                </a:solidFill>
                <a:latin typeface="Times New Roman" pitchFamily="18" charset="0"/>
              </a:defRPr>
            </a:lvl9pPr>
          </a:lstStyle>
          <a:p>
            <a:fld id="{842B0325-ACC9-488E-8876-C4E9E3B68AD8}" type="slidenum">
              <a:rPr lang="en-AU" sz="6000" smtClean="0"/>
              <a:t>1</a:t>
            </a:fld>
            <a:endParaRPr lang="en-AU" sz="6000"/>
          </a:p>
        </p:txBody>
      </p:sp>
      <p:sp>
        <p:nvSpPr>
          <p:cNvPr id="4099" name="Rectangle 2"/>
          <p:cNvSpPr>
            <a:spLocks noGrp="1" noRot="1" noChangeAspect="1" noChangeArrowheads="1" noTextEdit="1"/>
          </p:cNvSpPr>
          <p:nvPr>
            <p:ph type="sldImg"/>
          </p:nvPr>
        </p:nvSpPr>
        <p:spPr>
          <a:xfrm>
            <a:off x="7842250" y="3757613"/>
            <a:ext cx="16068675" cy="18748375"/>
          </a:xfrm>
        </p:spPr>
        <p:txBody>
          <a:bodyPr/>
          <a:lstStyle/>
          <a:p>
            <a:endParaRPr lang="en-US"/>
          </a:p>
        </p:txBody>
      </p:sp>
      <p:sp>
        <p:nvSpPr>
          <p:cNvPr id="4100" name="Rectangle 3"/>
          <p:cNvSpPr>
            <a:spLocks noGrp="1" noChangeArrowheads="1"/>
          </p:cNvSpPr>
          <p:nvPr>
            <p:ph type="body" idx="1"/>
          </p:nvPr>
        </p:nvSpPr>
        <p:spPr>
          <a:noFill/>
        </p:spPr>
        <p:txBody>
          <a:bodyPr/>
          <a:lstStyle>
            <a:defPPr>
              <a:defRPr kern="1200"/>
            </a:defP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124" y="15908161"/>
            <a:ext cx="37306957" cy="10974211"/>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4245" y="29015972"/>
            <a:ext cx="30722711" cy="13088056"/>
          </a:xfrm>
        </p:spPr>
        <p:txBody>
          <a:bodyPr/>
          <a:lstStyle>
            <a:defPPr>
              <a:defRPr kern="1200"/>
            </a:defPPr>
            <a:lvl1pPr marL="0" indent="0" algn="ctr">
              <a:buNone/>
              <a:defRPr/>
            </a:lvl1pPr>
            <a:lvl2pPr marL="457243" indent="0" algn="ctr">
              <a:buNone/>
              <a:defRPr/>
            </a:lvl2pPr>
            <a:lvl3pPr marL="914487" indent="0" algn="ctr">
              <a:buNone/>
              <a:defRPr/>
            </a:lvl3pPr>
            <a:lvl4pPr marL="1371731" indent="0" algn="ctr">
              <a:buNone/>
              <a:defRPr/>
            </a:lvl4pPr>
            <a:lvl5pPr marL="1828974" indent="0" algn="ctr">
              <a:buNone/>
              <a:defRPr/>
            </a:lvl5pPr>
            <a:lvl6pPr marL="2286218" indent="0" algn="ctr">
              <a:buNone/>
              <a:defRPr/>
            </a:lvl6pPr>
            <a:lvl7pPr marL="2743461" indent="0" algn="ctr">
              <a:buNone/>
              <a:defRPr/>
            </a:lvl7pPr>
            <a:lvl8pPr marL="3200705" indent="0" algn="ctr">
              <a:buNone/>
              <a:defRPr/>
            </a:lvl8pPr>
            <a:lvl9pPr marL="3657949"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DA66E67-F948-4693-96A5-27BC239C04A3}" type="slidenum">
              <a:rPr lang="en-US"/>
              <a:pPr>
                <a:defRPr/>
              </a:pPr>
              <a:t>‹#›</a:t>
            </a:fld>
            <a:endParaRPr lang="en-US"/>
          </a:p>
        </p:txBody>
      </p:sp>
    </p:spTree>
    <p:extLst>
      <p:ext uri="{BB962C8B-B14F-4D97-AF65-F5344CB8AC3E}">
        <p14:creationId xmlns:p14="http://schemas.microsoft.com/office/powerpoint/2010/main" val="364892258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EC1B4D6-BEE2-4AF6-A92E-38CD68913D5A}" type="slidenum">
              <a:rPr lang="en-US"/>
              <a:pPr>
                <a:defRPr/>
              </a:pPr>
              <a:t>‹#›</a:t>
            </a:fld>
            <a:endParaRPr lang="en-US"/>
          </a:p>
        </p:txBody>
      </p:sp>
    </p:spTree>
    <p:extLst>
      <p:ext uri="{BB962C8B-B14F-4D97-AF65-F5344CB8AC3E}">
        <p14:creationId xmlns:p14="http://schemas.microsoft.com/office/powerpoint/2010/main" val="317776266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32905350"/>
            <a:ext cx="37306957" cy="10169172"/>
          </a:xfr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1" y="21703948"/>
            <a:ext cx="37306957" cy="11201400"/>
          </a:xfrm>
        </p:spPr>
        <p:txBody>
          <a:bodyPr anchor="b"/>
          <a:lstStyle>
            <a:defPPr>
              <a:defRPr kern="1200"/>
            </a:defPPr>
            <a:lvl1pPr marL="0" indent="0">
              <a:buNone/>
              <a:defRPr sz="2000"/>
            </a:lvl1pPr>
            <a:lvl2pPr marL="457243" indent="0">
              <a:buNone/>
              <a:defRPr sz="1800"/>
            </a:lvl2pPr>
            <a:lvl3pPr marL="914487" indent="0">
              <a:buNone/>
              <a:defRPr sz="1600"/>
            </a:lvl3pPr>
            <a:lvl4pPr marL="1371731" indent="0">
              <a:buNone/>
              <a:defRPr sz="1400"/>
            </a:lvl4pPr>
            <a:lvl5pPr marL="1828974" indent="0">
              <a:buNone/>
              <a:defRPr sz="1400"/>
            </a:lvl5pPr>
            <a:lvl6pPr marL="2286218" indent="0">
              <a:buNone/>
              <a:defRPr sz="1400"/>
            </a:lvl6pPr>
            <a:lvl7pPr marL="2743461" indent="0">
              <a:buNone/>
              <a:defRPr sz="1400"/>
            </a:lvl7pPr>
            <a:lvl8pPr marL="3200705" indent="0">
              <a:buNone/>
              <a:defRPr sz="1400"/>
            </a:lvl8pPr>
            <a:lvl9pPr marL="3657949"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8650354-6837-43DB-843B-C6021BD2EF37}" type="slidenum">
              <a:rPr lang="en-US"/>
              <a:pPr>
                <a:defRPr/>
              </a:pPr>
              <a:t>‹#›</a:t>
            </a:fld>
            <a:endParaRPr lang="en-US"/>
          </a:p>
        </p:txBody>
      </p:sp>
    </p:spTree>
    <p:extLst>
      <p:ext uri="{BB962C8B-B14F-4D97-AF65-F5344CB8AC3E}">
        <p14:creationId xmlns:p14="http://schemas.microsoft.com/office/powerpoint/2010/main" val="25686382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3293534" y="14791974"/>
            <a:ext cx="18584332" cy="30724828"/>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3334" y="14791974"/>
            <a:ext cx="18584332" cy="30724828"/>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296FF25-ADB1-4315-9622-9852994CD1E5}" type="slidenum">
              <a:rPr lang="en-US"/>
              <a:pPr>
                <a:defRPr/>
              </a:pPr>
              <a:t>‹#›</a:t>
            </a:fld>
            <a:endParaRPr lang="en-US"/>
          </a:p>
        </p:txBody>
      </p:sp>
    </p:spTree>
    <p:extLst>
      <p:ext uri="{BB962C8B-B14F-4D97-AF65-F5344CB8AC3E}">
        <p14:creationId xmlns:p14="http://schemas.microsoft.com/office/powerpoint/2010/main" val="261830916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279" y="2049639"/>
            <a:ext cx="39502643" cy="85344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4278" y="11463163"/>
            <a:ext cx="19392900" cy="4775906"/>
          </a:xfrm>
        </p:spPr>
        <p:txBody>
          <a:bodyPr anchor="b"/>
          <a:lstStyle>
            <a:defPPr>
              <a:defRPr kern="1200"/>
            </a:defPPr>
            <a:lvl1pPr marL="0" indent="0">
              <a:buNone/>
              <a:defRPr sz="2400" b="1"/>
            </a:lvl1pPr>
            <a:lvl2pPr marL="457243" indent="0">
              <a:buNone/>
              <a:defRPr sz="2000" b="1"/>
            </a:lvl2pPr>
            <a:lvl3pPr marL="914487" indent="0">
              <a:buNone/>
              <a:defRPr sz="1800" b="1"/>
            </a:lvl3pPr>
            <a:lvl4pPr marL="1371731" indent="0">
              <a:buNone/>
              <a:defRPr sz="1600" b="1"/>
            </a:lvl4pPr>
            <a:lvl5pPr marL="1828974" indent="0">
              <a:buNone/>
              <a:defRPr sz="1600" b="1"/>
            </a:lvl5pPr>
            <a:lvl6pPr marL="2286218" indent="0">
              <a:buNone/>
              <a:defRPr sz="1600" b="1"/>
            </a:lvl6pPr>
            <a:lvl7pPr marL="2743461" indent="0">
              <a:buNone/>
              <a:defRPr sz="1600" b="1"/>
            </a:lvl7pPr>
            <a:lvl8pPr marL="3200705" indent="0">
              <a:buNone/>
              <a:defRPr sz="1600" b="1"/>
            </a:lvl8pPr>
            <a:lvl9pPr marL="3657949" indent="0">
              <a:buNone/>
              <a:defRPr sz="1600" b="1"/>
            </a:lvl9pPr>
          </a:lstStyle>
          <a:p>
            <a:pPr lvl="0"/>
            <a:r>
              <a:rPr lang="en-US"/>
              <a:t>Click to edit Master text styles</a:t>
            </a:r>
          </a:p>
        </p:txBody>
      </p:sp>
      <p:sp>
        <p:nvSpPr>
          <p:cNvPr id="4" name="Content Placeholder 3"/>
          <p:cNvSpPr>
            <a:spLocks noGrp="1"/>
          </p:cNvSpPr>
          <p:nvPr>
            <p:ph sz="half" idx="2"/>
          </p:nvPr>
        </p:nvSpPr>
        <p:spPr>
          <a:xfrm>
            <a:off x="2194278" y="16239067"/>
            <a:ext cx="19392900" cy="2950245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5555" y="11463163"/>
            <a:ext cx="19401368" cy="4775906"/>
          </a:xfrm>
        </p:spPr>
        <p:txBody>
          <a:bodyPr anchor="b"/>
          <a:lstStyle>
            <a:defPPr>
              <a:defRPr kern="1200"/>
            </a:defPPr>
            <a:lvl1pPr marL="0" indent="0">
              <a:buNone/>
              <a:defRPr sz="2400" b="1"/>
            </a:lvl1pPr>
            <a:lvl2pPr marL="457243" indent="0">
              <a:buNone/>
              <a:defRPr sz="2000" b="1"/>
            </a:lvl2pPr>
            <a:lvl3pPr marL="914487" indent="0">
              <a:buNone/>
              <a:defRPr sz="1800" b="1"/>
            </a:lvl3pPr>
            <a:lvl4pPr marL="1371731" indent="0">
              <a:buNone/>
              <a:defRPr sz="1600" b="1"/>
            </a:lvl4pPr>
            <a:lvl5pPr marL="1828974" indent="0">
              <a:buNone/>
              <a:defRPr sz="1600" b="1"/>
            </a:lvl5pPr>
            <a:lvl6pPr marL="2286218" indent="0">
              <a:buNone/>
              <a:defRPr sz="1600" b="1"/>
            </a:lvl6pPr>
            <a:lvl7pPr marL="2743461" indent="0">
              <a:buNone/>
              <a:defRPr sz="1600" b="1"/>
            </a:lvl7pPr>
            <a:lvl8pPr marL="3200705" indent="0">
              <a:buNone/>
              <a:defRPr sz="1600" b="1"/>
            </a:lvl8pPr>
            <a:lvl9pPr marL="365794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5555" y="16239067"/>
            <a:ext cx="19401368" cy="2950245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72EF82B1-171C-4CAC-B9C4-22062286C8C4}" type="slidenum">
              <a:rPr lang="en-US"/>
              <a:pPr>
                <a:defRPr/>
              </a:pPr>
              <a:t>‹#›</a:t>
            </a:fld>
            <a:endParaRPr lang="en-US"/>
          </a:p>
        </p:txBody>
      </p:sp>
    </p:spTree>
    <p:extLst>
      <p:ext uri="{BB962C8B-B14F-4D97-AF65-F5344CB8AC3E}">
        <p14:creationId xmlns:p14="http://schemas.microsoft.com/office/powerpoint/2010/main" val="3601223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78F620B-8934-45A0-BE2C-EF6C76032C45}" type="slidenum">
              <a:rPr lang="en-US"/>
              <a:pPr>
                <a:defRPr/>
              </a:pPr>
              <a:t>‹#›</a:t>
            </a:fld>
            <a:endParaRPr lang="en-US"/>
          </a:p>
        </p:txBody>
      </p:sp>
    </p:spTree>
    <p:extLst>
      <p:ext uri="{BB962C8B-B14F-4D97-AF65-F5344CB8AC3E}">
        <p14:creationId xmlns:p14="http://schemas.microsoft.com/office/powerpoint/2010/main" val="35293863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3ECE3F5-A3DD-46D3-8112-19EE7FD1DDFA}" type="slidenum">
              <a:rPr lang="en-US"/>
              <a:pPr>
                <a:defRPr/>
              </a:pPr>
              <a:t>‹#›</a:t>
            </a:fld>
            <a:endParaRPr lang="en-US"/>
          </a:p>
        </p:txBody>
      </p:sp>
    </p:spTree>
    <p:extLst>
      <p:ext uri="{BB962C8B-B14F-4D97-AF65-F5344CB8AC3E}">
        <p14:creationId xmlns:p14="http://schemas.microsoft.com/office/powerpoint/2010/main" val="23374252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278" y="2039761"/>
            <a:ext cx="14439900" cy="8675159"/>
          </a:xfr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523" y="2039761"/>
            <a:ext cx="24536400" cy="43701759"/>
          </a:xfr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278" y="10714920"/>
            <a:ext cx="14439900" cy="35026600"/>
          </a:xfrm>
        </p:spPr>
        <p:txBody>
          <a:bodyPr/>
          <a:lstStyle>
            <a:defPPr>
              <a:defRPr kern="1200"/>
            </a:defPPr>
            <a:lvl1pPr marL="0" indent="0">
              <a:buNone/>
              <a:defRPr sz="1400"/>
            </a:lvl1pPr>
            <a:lvl2pPr marL="457243" indent="0">
              <a:buNone/>
              <a:defRPr sz="1200"/>
            </a:lvl2pPr>
            <a:lvl3pPr marL="914487" indent="0">
              <a:buNone/>
              <a:defRPr sz="1000"/>
            </a:lvl3pPr>
            <a:lvl4pPr marL="1371731" indent="0">
              <a:buNone/>
              <a:defRPr sz="900"/>
            </a:lvl4pPr>
            <a:lvl5pPr marL="1828974" indent="0">
              <a:buNone/>
              <a:defRPr sz="900"/>
            </a:lvl5pPr>
            <a:lvl6pPr marL="2286218" indent="0">
              <a:buNone/>
              <a:defRPr sz="900"/>
            </a:lvl6pPr>
            <a:lvl7pPr marL="2743461" indent="0">
              <a:buNone/>
              <a:defRPr sz="900"/>
            </a:lvl7pPr>
            <a:lvl8pPr marL="3200705" indent="0">
              <a:buNone/>
              <a:defRPr sz="900"/>
            </a:lvl8pPr>
            <a:lvl9pPr marL="3657949"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96691E56-DA67-4BF5-BA67-706F30B37046}" type="slidenum">
              <a:rPr lang="en-US"/>
              <a:pPr>
                <a:defRPr/>
              </a:pPr>
              <a:t>‹#›</a:t>
            </a:fld>
            <a:endParaRPr lang="en-US"/>
          </a:p>
        </p:txBody>
      </p:sp>
    </p:spTree>
    <p:extLst>
      <p:ext uri="{BB962C8B-B14F-4D97-AF65-F5344CB8AC3E}">
        <p14:creationId xmlns:p14="http://schemas.microsoft.com/office/powerpoint/2010/main" val="398289561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3548" y="35843989"/>
            <a:ext cx="26334157" cy="4232628"/>
          </a:xfr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3548" y="4575881"/>
            <a:ext cx="26334157" cy="30722359"/>
          </a:xfrm>
        </p:spPr>
        <p:txBody>
          <a:bodyPr/>
          <a:lstStyle>
            <a:defPPr>
              <a:defRPr kern="1200"/>
            </a:defPPr>
            <a:lvl1pPr marL="0" indent="0">
              <a:buNone/>
              <a:defRPr sz="3200"/>
            </a:lvl1pPr>
            <a:lvl2pPr marL="457243" indent="0">
              <a:buNone/>
              <a:defRPr sz="2800"/>
            </a:lvl2pPr>
            <a:lvl3pPr marL="914487" indent="0">
              <a:buNone/>
              <a:defRPr sz="2400"/>
            </a:lvl3pPr>
            <a:lvl4pPr marL="1371731" indent="0">
              <a:buNone/>
              <a:defRPr sz="2000"/>
            </a:lvl4pPr>
            <a:lvl5pPr marL="1828974" indent="0">
              <a:buNone/>
              <a:defRPr sz="2000"/>
            </a:lvl5pPr>
            <a:lvl6pPr marL="2286218" indent="0">
              <a:buNone/>
              <a:defRPr sz="2000"/>
            </a:lvl6pPr>
            <a:lvl7pPr marL="2743461" indent="0">
              <a:buNone/>
              <a:defRPr sz="2000"/>
            </a:lvl7pPr>
            <a:lvl8pPr marL="3200705" indent="0">
              <a:buNone/>
              <a:defRPr sz="2000"/>
            </a:lvl8pPr>
            <a:lvl9pPr marL="3657949" indent="0">
              <a:buNone/>
              <a:defRPr sz="2000"/>
            </a:lvl9pPr>
          </a:lstStyle>
          <a:p>
            <a:pPr lvl="0"/>
            <a:endParaRPr lang="en-US" noProof="0"/>
          </a:p>
        </p:txBody>
      </p:sp>
      <p:sp>
        <p:nvSpPr>
          <p:cNvPr id="4" name="Text Placeholder 3"/>
          <p:cNvSpPr>
            <a:spLocks noGrp="1"/>
          </p:cNvSpPr>
          <p:nvPr>
            <p:ph type="body" sz="half" idx="2"/>
          </p:nvPr>
        </p:nvSpPr>
        <p:spPr>
          <a:xfrm>
            <a:off x="8603548" y="40076618"/>
            <a:ext cx="26334157" cy="6008158"/>
          </a:xfrm>
        </p:spPr>
        <p:txBody>
          <a:bodyPr/>
          <a:lstStyle>
            <a:defPPr>
              <a:defRPr kern="1200"/>
            </a:defPPr>
            <a:lvl1pPr marL="0" indent="0">
              <a:buNone/>
              <a:defRPr sz="1400"/>
            </a:lvl1pPr>
            <a:lvl2pPr marL="457243" indent="0">
              <a:buNone/>
              <a:defRPr sz="1200"/>
            </a:lvl2pPr>
            <a:lvl3pPr marL="914487" indent="0">
              <a:buNone/>
              <a:defRPr sz="1000"/>
            </a:lvl3pPr>
            <a:lvl4pPr marL="1371731" indent="0">
              <a:buNone/>
              <a:defRPr sz="900"/>
            </a:lvl4pPr>
            <a:lvl5pPr marL="1828974" indent="0">
              <a:buNone/>
              <a:defRPr sz="900"/>
            </a:lvl5pPr>
            <a:lvl6pPr marL="2286218" indent="0">
              <a:buNone/>
              <a:defRPr sz="900"/>
            </a:lvl6pPr>
            <a:lvl7pPr marL="2743461" indent="0">
              <a:buNone/>
              <a:defRPr sz="900"/>
            </a:lvl7pPr>
            <a:lvl8pPr marL="3200705" indent="0">
              <a:buNone/>
              <a:defRPr sz="900"/>
            </a:lvl8pPr>
            <a:lvl9pPr marL="3657949"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F51DAE-E528-43E1-8BE0-91521416EFB0}" type="slidenum">
              <a:rPr lang="en-US"/>
              <a:pPr>
                <a:defRPr/>
              </a:pPr>
              <a:t>‹#›</a:t>
            </a:fld>
            <a:endParaRPr lang="en-US"/>
          </a:p>
        </p:txBody>
      </p:sp>
    </p:spTree>
    <p:extLst>
      <p:ext uri="{BB962C8B-B14F-4D97-AF65-F5344CB8AC3E}">
        <p14:creationId xmlns:p14="http://schemas.microsoft.com/office/powerpoint/2010/main" val="21542948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2DA27A25-0059-41B6-A6E5-54D93C10805F}" type="slidenum">
              <a:rPr lang="en-US"/>
              <a:pPr>
                <a:defRPr/>
              </a:pPr>
              <a:t>‹#›</a:t>
            </a:fld>
            <a:endParaRPr lang="en-US"/>
          </a:p>
        </p:txBody>
      </p:sp>
    </p:spTree>
    <p:extLst>
      <p:ext uri="{BB962C8B-B14F-4D97-AF65-F5344CB8AC3E}">
        <p14:creationId xmlns:p14="http://schemas.microsoft.com/office/powerpoint/2010/main" val="418118746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1638" y="4551188"/>
            <a:ext cx="9326033" cy="40965615"/>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3293537" y="4551188"/>
            <a:ext cx="27842635" cy="40965615"/>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43B26BC-A2E6-4CDA-9F76-12293F26600A}" type="slidenum">
              <a:rPr lang="en-US"/>
              <a:pPr>
                <a:defRPr/>
              </a:pPr>
              <a:t>‹#›</a:t>
            </a:fld>
            <a:endParaRPr lang="en-US"/>
          </a:p>
        </p:txBody>
      </p:sp>
    </p:spTree>
    <p:extLst>
      <p:ext uri="{BB962C8B-B14F-4D97-AF65-F5344CB8AC3E}">
        <p14:creationId xmlns:p14="http://schemas.microsoft.com/office/powerpoint/2010/main" val="34941854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0094B3"/>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94063" y="4551187"/>
            <a:ext cx="37303075" cy="853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3294063" y="14791974"/>
            <a:ext cx="37303075" cy="30724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4063" y="46655217"/>
            <a:ext cx="9144000" cy="341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defTabSz="4267606">
              <a:defRPr sz="6500"/>
            </a:lvl1pPr>
          </a:lstStyle>
          <a:p>
            <a:pPr>
              <a:defRPr/>
            </a:pPr>
            <a:endParaRPr lang="en-US"/>
          </a:p>
        </p:txBody>
      </p:sp>
      <p:sp>
        <p:nvSpPr>
          <p:cNvPr id="1029" name="Rectangle 5"/>
          <p:cNvSpPr>
            <a:spLocks noGrp="1" noChangeArrowheads="1"/>
          </p:cNvSpPr>
          <p:nvPr>
            <p:ph type="ftr" sz="quarter" idx="3"/>
          </p:nvPr>
        </p:nvSpPr>
        <p:spPr bwMode="auto">
          <a:xfrm>
            <a:off x="14993938" y="46655217"/>
            <a:ext cx="13903325" cy="341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ctr" defTabSz="4267606">
              <a:defRPr sz="6500"/>
            </a:lvl1pPr>
          </a:lstStyle>
          <a:p>
            <a:pPr>
              <a:defRPr/>
            </a:pPr>
            <a:endParaRPr lang="en-US"/>
          </a:p>
        </p:txBody>
      </p:sp>
      <p:sp>
        <p:nvSpPr>
          <p:cNvPr id="1030" name="Rectangle 6"/>
          <p:cNvSpPr>
            <a:spLocks noGrp="1" noChangeArrowheads="1"/>
          </p:cNvSpPr>
          <p:nvPr>
            <p:ph type="sldNum" sz="quarter" idx="4"/>
          </p:nvPr>
        </p:nvSpPr>
        <p:spPr bwMode="auto">
          <a:xfrm>
            <a:off x="31453138" y="46655217"/>
            <a:ext cx="9144000" cy="3412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r" defTabSz="4267606">
              <a:defRPr sz="6500"/>
            </a:lvl1pPr>
          </a:lstStyle>
          <a:p>
            <a:pPr>
              <a:defRPr/>
            </a:pPr>
            <a:fld id="{469A0CB4-D18D-4AEF-B324-9EDF067D136D}" type="slidenum">
              <a:rPr lang="en-US"/>
              <a:pPr>
                <a:defRPr/>
              </a:pPr>
              <a:t>‹#›</a:t>
            </a:fld>
            <a:endParaRPr lang="en-US"/>
          </a:p>
        </p:txBody>
      </p:sp>
      <p:pic>
        <p:nvPicPr>
          <p:cNvPr id="1031" name="New picture"/>
          <p:cNvPicPr/>
          <p:nvPr/>
        </p:nvPicPr>
        <p:blipFill>
          <a:blip r:embed="rId13"/>
          <a:stretch>
            <a:fillRect/>
          </a:stretch>
        </p:blipFill>
        <p:spPr>
          <a:xfrm rot="16200000">
            <a:off x="-15039622" y="26696811"/>
            <a:ext cx="22205244" cy="3937000"/>
          </a:xfrm>
          <a:prstGeom prst="rect">
            <a:avLst/>
          </a:prstGeom>
        </p:spPr>
      </p:pic>
      <p:pic>
        <p:nvPicPr>
          <p:cNvPr id="1032" name="New picture"/>
          <p:cNvPicPr/>
          <p:nvPr/>
        </p:nvPicPr>
        <p:blipFill>
          <a:blip r:embed="rId13"/>
          <a:stretch>
            <a:fillRect/>
          </a:stretch>
        </p:blipFill>
        <p:spPr>
          <a:xfrm rot="5400000">
            <a:off x="36725578" y="26696811"/>
            <a:ext cx="22205244" cy="3937000"/>
          </a:xfrm>
          <a:prstGeom prst="rect">
            <a:avLst/>
          </a:prstGeom>
        </p:spPr>
      </p:pic>
      <p:pic>
        <p:nvPicPr>
          <p:cNvPr id="1033" name="New picture"/>
          <p:cNvPicPr/>
          <p:nvPr/>
        </p:nvPicPr>
        <p:blipFill>
          <a:blip r:embed="rId14"/>
          <a:stretch>
            <a:fillRect/>
          </a:stretch>
        </p:blipFill>
        <p:spPr>
          <a:xfrm>
            <a:off x="6946900" y="51996622"/>
            <a:ext cx="29997400" cy="2252133"/>
          </a:xfrm>
          <a:prstGeom prst="rect">
            <a:avLst/>
          </a:prstGeom>
        </p:spPr>
      </p:pic>
      <p:sp>
        <p:nvSpPr>
          <p:cNvPr id="1034" name="New shape"/>
          <p:cNvSpPr/>
          <p:nvPr/>
        </p:nvSpPr>
        <p:spPr>
          <a:xfrm>
            <a:off x="6946900" y="52885622"/>
            <a:ext cx="21945600" cy="1975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1">
                <a:solidFill>
                  <a:srgbClr val="808080"/>
                </a:solidFill>
              </a:rPr>
              <a:t>Template ID: persuadingsapphire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4267606" rtl="0" eaLnBrk="0" fontAlgn="base" hangingPunct="0">
        <a:spcBef>
          <a:spcPct val="0"/>
        </a:spcBef>
        <a:spcAft>
          <a:spcPct val="0"/>
        </a:spcAft>
        <a:defRPr sz="20502">
          <a:solidFill>
            <a:schemeClr val="tx2"/>
          </a:solidFill>
          <a:latin typeface="+mj-lt"/>
          <a:ea typeface="+mj-ea"/>
          <a:cs typeface="+mj-cs"/>
        </a:defRPr>
      </a:lvl1pPr>
      <a:lvl2pPr algn="ctr" defTabSz="4267606" rtl="0" eaLnBrk="0" fontAlgn="base" hangingPunct="0">
        <a:spcBef>
          <a:spcPct val="0"/>
        </a:spcBef>
        <a:spcAft>
          <a:spcPct val="0"/>
        </a:spcAft>
        <a:defRPr sz="20502">
          <a:solidFill>
            <a:schemeClr val="tx2"/>
          </a:solidFill>
          <a:latin typeface="Times New Roman" pitchFamily="18" charset="0"/>
        </a:defRPr>
      </a:lvl2pPr>
      <a:lvl3pPr algn="ctr" defTabSz="4267606" rtl="0" eaLnBrk="0" fontAlgn="base" hangingPunct="0">
        <a:spcBef>
          <a:spcPct val="0"/>
        </a:spcBef>
        <a:spcAft>
          <a:spcPct val="0"/>
        </a:spcAft>
        <a:defRPr sz="20502">
          <a:solidFill>
            <a:schemeClr val="tx2"/>
          </a:solidFill>
          <a:latin typeface="Times New Roman" pitchFamily="18" charset="0"/>
        </a:defRPr>
      </a:lvl3pPr>
      <a:lvl4pPr algn="ctr" defTabSz="4267606" rtl="0" eaLnBrk="0" fontAlgn="base" hangingPunct="0">
        <a:spcBef>
          <a:spcPct val="0"/>
        </a:spcBef>
        <a:spcAft>
          <a:spcPct val="0"/>
        </a:spcAft>
        <a:defRPr sz="20502">
          <a:solidFill>
            <a:schemeClr val="tx2"/>
          </a:solidFill>
          <a:latin typeface="Times New Roman" pitchFamily="18" charset="0"/>
        </a:defRPr>
      </a:lvl4pPr>
      <a:lvl5pPr algn="ctr" defTabSz="4267606" rtl="0" eaLnBrk="0" fontAlgn="base" hangingPunct="0">
        <a:spcBef>
          <a:spcPct val="0"/>
        </a:spcBef>
        <a:spcAft>
          <a:spcPct val="0"/>
        </a:spcAft>
        <a:defRPr sz="20502">
          <a:solidFill>
            <a:schemeClr val="tx2"/>
          </a:solidFill>
          <a:latin typeface="Times New Roman" pitchFamily="18" charset="0"/>
        </a:defRPr>
      </a:lvl5pPr>
      <a:lvl6pPr marL="457243" algn="ctr" defTabSz="4267606" rtl="0" eaLnBrk="0" fontAlgn="base" hangingPunct="0">
        <a:spcBef>
          <a:spcPct val="0"/>
        </a:spcBef>
        <a:spcAft>
          <a:spcPct val="0"/>
        </a:spcAft>
        <a:defRPr sz="20502">
          <a:solidFill>
            <a:schemeClr val="tx2"/>
          </a:solidFill>
          <a:latin typeface="Times New Roman" pitchFamily="18" charset="0"/>
        </a:defRPr>
      </a:lvl6pPr>
      <a:lvl7pPr marL="914487" algn="ctr" defTabSz="4267606" rtl="0" eaLnBrk="0" fontAlgn="base" hangingPunct="0">
        <a:spcBef>
          <a:spcPct val="0"/>
        </a:spcBef>
        <a:spcAft>
          <a:spcPct val="0"/>
        </a:spcAft>
        <a:defRPr sz="20502">
          <a:solidFill>
            <a:schemeClr val="tx2"/>
          </a:solidFill>
          <a:latin typeface="Times New Roman" pitchFamily="18" charset="0"/>
        </a:defRPr>
      </a:lvl7pPr>
      <a:lvl8pPr marL="1371731" algn="ctr" defTabSz="4267606" rtl="0" eaLnBrk="0" fontAlgn="base" hangingPunct="0">
        <a:spcBef>
          <a:spcPct val="0"/>
        </a:spcBef>
        <a:spcAft>
          <a:spcPct val="0"/>
        </a:spcAft>
        <a:defRPr sz="20502">
          <a:solidFill>
            <a:schemeClr val="tx2"/>
          </a:solidFill>
          <a:latin typeface="Times New Roman" pitchFamily="18" charset="0"/>
        </a:defRPr>
      </a:lvl8pPr>
      <a:lvl9pPr marL="1828974" algn="ctr" defTabSz="4267606" rtl="0" eaLnBrk="0" fontAlgn="base" hangingPunct="0">
        <a:spcBef>
          <a:spcPct val="0"/>
        </a:spcBef>
        <a:spcAft>
          <a:spcPct val="0"/>
        </a:spcAft>
        <a:defRPr sz="20502">
          <a:solidFill>
            <a:schemeClr val="tx2"/>
          </a:solidFill>
          <a:latin typeface="Times New Roman" pitchFamily="18" charset="0"/>
        </a:defRPr>
      </a:lvl9pPr>
    </p:titleStyle>
    <p:bodyStyle>
      <a:defPPr>
        <a:defRPr kern="1200"/>
      </a:defPPr>
      <a:lvl1pPr marL="1600352" indent="-1600352" algn="l" defTabSz="4267606" rtl="0" eaLnBrk="0" fontAlgn="base" hangingPunct="0">
        <a:spcBef>
          <a:spcPct val="20000"/>
        </a:spcBef>
        <a:spcAft>
          <a:spcPct val="0"/>
        </a:spcAft>
        <a:buChar char="•"/>
        <a:defRPr sz="14901">
          <a:solidFill>
            <a:schemeClr val="tx1"/>
          </a:solidFill>
          <a:latin typeface="+mn-lt"/>
          <a:ea typeface="+mn-ea"/>
          <a:cs typeface="+mn-cs"/>
        </a:defRPr>
      </a:lvl1pPr>
      <a:lvl2pPr marL="3467430" indent="-1333627" algn="l" defTabSz="4267606" rtl="0" eaLnBrk="0" fontAlgn="base" hangingPunct="0">
        <a:spcBef>
          <a:spcPct val="20000"/>
        </a:spcBef>
        <a:spcAft>
          <a:spcPct val="0"/>
        </a:spcAft>
        <a:buChar char="–"/>
        <a:defRPr sz="13101">
          <a:solidFill>
            <a:schemeClr val="tx1"/>
          </a:solidFill>
          <a:latin typeface="+mn-lt"/>
        </a:defRPr>
      </a:lvl2pPr>
      <a:lvl3pPr marL="5334508" indent="-1066902" algn="l" defTabSz="4267606" rtl="0" eaLnBrk="0" fontAlgn="base" hangingPunct="0">
        <a:spcBef>
          <a:spcPct val="20000"/>
        </a:spcBef>
        <a:spcAft>
          <a:spcPct val="0"/>
        </a:spcAft>
        <a:buChar char="•"/>
        <a:defRPr sz="11201">
          <a:solidFill>
            <a:schemeClr val="tx1"/>
          </a:solidFill>
          <a:latin typeface="+mn-lt"/>
        </a:defRPr>
      </a:lvl3pPr>
      <a:lvl4pPr marL="7468311" indent="-1066902" algn="l" defTabSz="4267606" rtl="0" eaLnBrk="0" fontAlgn="base" hangingPunct="0">
        <a:spcBef>
          <a:spcPct val="20000"/>
        </a:spcBef>
        <a:spcAft>
          <a:spcPct val="0"/>
        </a:spcAft>
        <a:buChar char="–"/>
        <a:defRPr sz="9301">
          <a:solidFill>
            <a:schemeClr val="tx1"/>
          </a:solidFill>
          <a:latin typeface="+mn-lt"/>
        </a:defRPr>
      </a:lvl4pPr>
      <a:lvl5pPr marL="9602115" indent="-1066902" algn="l" defTabSz="4267606" rtl="0" eaLnBrk="0" fontAlgn="base" hangingPunct="0">
        <a:spcBef>
          <a:spcPct val="20000"/>
        </a:spcBef>
        <a:spcAft>
          <a:spcPct val="0"/>
        </a:spcAft>
        <a:buChar char="»"/>
        <a:defRPr sz="9301">
          <a:solidFill>
            <a:schemeClr val="tx1"/>
          </a:solidFill>
          <a:latin typeface="+mn-lt"/>
        </a:defRPr>
      </a:lvl5pPr>
      <a:lvl6pPr marL="10059358" indent="-1066902" algn="l" defTabSz="4267606" rtl="0" eaLnBrk="0" fontAlgn="base" hangingPunct="0">
        <a:spcBef>
          <a:spcPct val="20000"/>
        </a:spcBef>
        <a:spcAft>
          <a:spcPct val="0"/>
        </a:spcAft>
        <a:buChar char="»"/>
        <a:defRPr sz="9301">
          <a:solidFill>
            <a:schemeClr val="tx1"/>
          </a:solidFill>
          <a:latin typeface="+mn-lt"/>
        </a:defRPr>
      </a:lvl6pPr>
      <a:lvl7pPr marL="10516601" indent="-1066902" algn="l" defTabSz="4267606" rtl="0" eaLnBrk="0" fontAlgn="base" hangingPunct="0">
        <a:spcBef>
          <a:spcPct val="20000"/>
        </a:spcBef>
        <a:spcAft>
          <a:spcPct val="0"/>
        </a:spcAft>
        <a:buChar char="»"/>
        <a:defRPr sz="9301">
          <a:solidFill>
            <a:schemeClr val="tx1"/>
          </a:solidFill>
          <a:latin typeface="+mn-lt"/>
        </a:defRPr>
      </a:lvl7pPr>
      <a:lvl8pPr marL="10973845" indent="-1066902" algn="l" defTabSz="4267606" rtl="0" eaLnBrk="0" fontAlgn="base" hangingPunct="0">
        <a:spcBef>
          <a:spcPct val="20000"/>
        </a:spcBef>
        <a:spcAft>
          <a:spcPct val="0"/>
        </a:spcAft>
        <a:buChar char="»"/>
        <a:defRPr sz="9301">
          <a:solidFill>
            <a:schemeClr val="tx1"/>
          </a:solidFill>
          <a:latin typeface="+mn-lt"/>
        </a:defRPr>
      </a:lvl8pPr>
      <a:lvl9pPr marL="11431089" indent="-1066902" algn="l" defTabSz="4267606" rtl="0" eaLnBrk="0" fontAlgn="base" hangingPunct="0">
        <a:spcBef>
          <a:spcPct val="20000"/>
        </a:spcBef>
        <a:spcAft>
          <a:spcPct val="0"/>
        </a:spcAft>
        <a:buChar char="»"/>
        <a:defRPr sz="9301">
          <a:solidFill>
            <a:schemeClr val="tx1"/>
          </a:solidFill>
          <a:latin typeface="+mn-lt"/>
        </a:defRPr>
      </a:lvl9pPr>
    </p:bodyStyle>
    <p:otherStyle>
      <a:defPPr>
        <a:defRPr lang="en-US"/>
      </a:defPPr>
      <a:lvl1pPr marL="0" algn="l" defTabSz="914487" rtl="0" eaLnBrk="1" latinLnBrk="0" hangingPunct="1">
        <a:defRPr sz="1800" kern="1200">
          <a:solidFill>
            <a:schemeClr val="tx1"/>
          </a:solidFill>
          <a:latin typeface="+mn-lt"/>
          <a:ea typeface="+mn-ea"/>
          <a:cs typeface="+mn-cs"/>
        </a:defRPr>
      </a:lvl1pPr>
      <a:lvl2pPr marL="457243" algn="l" defTabSz="914487" rtl="0" eaLnBrk="1" latinLnBrk="0" hangingPunct="1">
        <a:defRPr sz="1800" kern="1200">
          <a:solidFill>
            <a:schemeClr val="tx1"/>
          </a:solidFill>
          <a:latin typeface="+mn-lt"/>
          <a:ea typeface="+mn-ea"/>
          <a:cs typeface="+mn-cs"/>
        </a:defRPr>
      </a:lvl2pPr>
      <a:lvl3pPr marL="914487" algn="l" defTabSz="914487" rtl="0" eaLnBrk="1" latinLnBrk="0" hangingPunct="1">
        <a:defRPr sz="1800" kern="1200">
          <a:solidFill>
            <a:schemeClr val="tx1"/>
          </a:solidFill>
          <a:latin typeface="+mn-lt"/>
          <a:ea typeface="+mn-ea"/>
          <a:cs typeface="+mn-cs"/>
        </a:defRPr>
      </a:lvl3pPr>
      <a:lvl4pPr marL="1371731" algn="l" defTabSz="914487" rtl="0" eaLnBrk="1" latinLnBrk="0" hangingPunct="1">
        <a:defRPr sz="1800" kern="1200">
          <a:solidFill>
            <a:schemeClr val="tx1"/>
          </a:solidFill>
          <a:latin typeface="+mn-lt"/>
          <a:ea typeface="+mn-ea"/>
          <a:cs typeface="+mn-cs"/>
        </a:defRPr>
      </a:lvl4pPr>
      <a:lvl5pPr marL="1828974" algn="l" defTabSz="914487" rtl="0" eaLnBrk="1" latinLnBrk="0" hangingPunct="1">
        <a:defRPr sz="1800" kern="1200">
          <a:solidFill>
            <a:schemeClr val="tx1"/>
          </a:solidFill>
          <a:latin typeface="+mn-lt"/>
          <a:ea typeface="+mn-ea"/>
          <a:cs typeface="+mn-cs"/>
        </a:defRPr>
      </a:lvl5pPr>
      <a:lvl6pPr marL="2286218" algn="l" defTabSz="914487" rtl="0" eaLnBrk="1" latinLnBrk="0" hangingPunct="1">
        <a:defRPr sz="1800" kern="1200">
          <a:solidFill>
            <a:schemeClr val="tx1"/>
          </a:solidFill>
          <a:latin typeface="+mn-lt"/>
          <a:ea typeface="+mn-ea"/>
          <a:cs typeface="+mn-cs"/>
        </a:defRPr>
      </a:lvl6pPr>
      <a:lvl7pPr marL="2743461" algn="l" defTabSz="914487" rtl="0" eaLnBrk="1" latinLnBrk="0" hangingPunct="1">
        <a:defRPr sz="1800" kern="1200">
          <a:solidFill>
            <a:schemeClr val="tx1"/>
          </a:solidFill>
          <a:latin typeface="+mn-lt"/>
          <a:ea typeface="+mn-ea"/>
          <a:cs typeface="+mn-cs"/>
        </a:defRPr>
      </a:lvl7pPr>
      <a:lvl8pPr marL="3200705" algn="l" defTabSz="914487" rtl="0" eaLnBrk="1" latinLnBrk="0" hangingPunct="1">
        <a:defRPr sz="1800" kern="1200">
          <a:solidFill>
            <a:schemeClr val="tx1"/>
          </a:solidFill>
          <a:latin typeface="+mn-lt"/>
          <a:ea typeface="+mn-ea"/>
          <a:cs typeface="+mn-cs"/>
        </a:defRPr>
      </a:lvl8pPr>
      <a:lvl9pPr marL="3657949" algn="l" defTabSz="91448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1482A5"/>
            </a:gs>
          </a:gsLst>
          <a:lin ang="5400000" scaled="1"/>
        </a:gradFill>
        <a:effectLst/>
      </p:bgPr>
    </p:bg>
    <p:spTree>
      <p:nvGrpSpPr>
        <p:cNvPr id="1" name=""/>
        <p:cNvGrpSpPr/>
        <p:nvPr/>
      </p:nvGrpSpPr>
      <p:grpSpPr>
        <a:xfrm>
          <a:off x="0" y="0"/>
          <a:ext cx="0" cy="0"/>
          <a:chOff x="0" y="0"/>
          <a:chExt cx="0" cy="0"/>
        </a:xfrm>
      </p:grpSpPr>
      <p:sp>
        <p:nvSpPr>
          <p:cNvPr id="41" name="Title 11">
            <a:extLst>
              <a:ext uri="{FF2B5EF4-FFF2-40B4-BE49-F238E27FC236}">
                <a16:creationId xmlns:a16="http://schemas.microsoft.com/office/drawing/2014/main" id="{8785E597-B0C8-4CA8-9A56-A0F3996D088D}"/>
              </a:ext>
            </a:extLst>
          </p:cNvPr>
          <p:cNvSpPr txBox="1"/>
          <p:nvPr/>
        </p:nvSpPr>
        <p:spPr>
          <a:xfrm>
            <a:off x="3657600" y="1308249"/>
            <a:ext cx="36576000" cy="2746935"/>
          </a:xfrm>
          <a:prstGeom prst="rect">
            <a:avLst/>
          </a:prstGeom>
        </p:spPr>
        <p:txBody>
          <a:bodyPr lIns="128016" tIns="64008" rIns="128016" bIns="64008"/>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8501" dirty="0">
                <a:solidFill>
                  <a:srgbClr val="235078"/>
                </a:solidFill>
                <a:latin typeface="Libre Baskerville" panose="02000000000000000000" pitchFamily="2" charset="0"/>
              </a:rPr>
              <a:t>Personalized Deep Learning Model for Closed-Loop 40 Hz Entrainment to Optimize Theta-Gamma Phase Amplitude Coupling in Alzheimer’s Disease </a:t>
            </a:r>
          </a:p>
        </p:txBody>
      </p:sp>
      <p:sp>
        <p:nvSpPr>
          <p:cNvPr id="42" name="Text Placeholder 16">
            <a:extLst>
              <a:ext uri="{FF2B5EF4-FFF2-40B4-BE49-F238E27FC236}">
                <a16:creationId xmlns:a16="http://schemas.microsoft.com/office/drawing/2014/main" id="{EBC3B70E-A392-4069-A147-C1FCF37051AF}"/>
              </a:ext>
            </a:extLst>
          </p:cNvPr>
          <p:cNvSpPr txBox="1"/>
          <p:nvPr/>
        </p:nvSpPr>
        <p:spPr>
          <a:xfrm>
            <a:off x="3657600" y="5525356"/>
            <a:ext cx="36576000" cy="991041"/>
          </a:xfrm>
          <a:prstGeom prst="rect">
            <a:avLst/>
          </a:prstGeom>
        </p:spPr>
        <p:txBody>
          <a:bodyPr lIns="128016" tIns="64008" rIns="128016" bIns="64008">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5600" dirty="0">
                <a:solidFill>
                  <a:srgbClr val="1482A5"/>
                </a:solidFill>
                <a:latin typeface="Montserrat Light" panose="00000400000000000000" pitchFamily="50" charset="0"/>
              </a:rPr>
              <a:t>Amaar Chughtai</a:t>
            </a:r>
          </a:p>
        </p:txBody>
      </p:sp>
      <p:sp>
        <p:nvSpPr>
          <p:cNvPr id="46" name="Rectangle 45">
            <a:extLst>
              <a:ext uri="{FF2B5EF4-FFF2-40B4-BE49-F238E27FC236}">
                <a16:creationId xmlns:a16="http://schemas.microsoft.com/office/drawing/2014/main" id="{2C718E78-BDD8-4BAD-851F-D423AE935B0D}"/>
              </a:ext>
            </a:extLst>
          </p:cNvPr>
          <p:cNvSpPr/>
          <p:nvPr/>
        </p:nvSpPr>
        <p:spPr>
          <a:xfrm>
            <a:off x="457200" y="7391398"/>
            <a:ext cx="10058400" cy="9517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latin typeface="+mj-lt"/>
            </a:endParaRPr>
          </a:p>
        </p:txBody>
      </p:sp>
      <p:sp>
        <p:nvSpPr>
          <p:cNvPr id="47" name="Rectangle 46">
            <a:extLst>
              <a:ext uri="{FF2B5EF4-FFF2-40B4-BE49-F238E27FC236}">
                <a16:creationId xmlns:a16="http://schemas.microsoft.com/office/drawing/2014/main" id="{B9C39BF6-8B9A-45D3-A730-4CDDF5EAA7F1}"/>
              </a:ext>
            </a:extLst>
          </p:cNvPr>
          <p:cNvSpPr/>
          <p:nvPr/>
        </p:nvSpPr>
        <p:spPr>
          <a:xfrm>
            <a:off x="10971066" y="18757015"/>
            <a:ext cx="10744200" cy="18408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48" name="Rectangle 47">
            <a:extLst>
              <a:ext uri="{FF2B5EF4-FFF2-40B4-BE49-F238E27FC236}">
                <a16:creationId xmlns:a16="http://schemas.microsoft.com/office/drawing/2014/main" id="{3E6D1C9C-2516-4738-BC80-673A19ECE5BD}"/>
              </a:ext>
            </a:extLst>
          </p:cNvPr>
          <p:cNvSpPr/>
          <p:nvPr/>
        </p:nvSpPr>
        <p:spPr>
          <a:xfrm>
            <a:off x="33375600" y="7391400"/>
            <a:ext cx="10058400" cy="3322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49" name="Rectangle 48">
            <a:extLst>
              <a:ext uri="{FF2B5EF4-FFF2-40B4-BE49-F238E27FC236}">
                <a16:creationId xmlns:a16="http://schemas.microsoft.com/office/drawing/2014/main" id="{8F25EFAD-7AAF-4CAF-BA69-869B3D423F7F}"/>
              </a:ext>
            </a:extLst>
          </p:cNvPr>
          <p:cNvSpPr/>
          <p:nvPr/>
        </p:nvSpPr>
        <p:spPr>
          <a:xfrm>
            <a:off x="457200" y="17219128"/>
            <a:ext cx="10054932" cy="155428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dirty="0"/>
          </a:p>
        </p:txBody>
      </p:sp>
      <p:sp>
        <p:nvSpPr>
          <p:cNvPr id="50" name="Rectangle 49">
            <a:extLst>
              <a:ext uri="{FF2B5EF4-FFF2-40B4-BE49-F238E27FC236}">
                <a16:creationId xmlns:a16="http://schemas.microsoft.com/office/drawing/2014/main" id="{2EC9A64B-144F-4668-B416-097C0312FF96}"/>
              </a:ext>
            </a:extLst>
          </p:cNvPr>
          <p:cNvSpPr/>
          <p:nvPr/>
        </p:nvSpPr>
        <p:spPr>
          <a:xfrm>
            <a:off x="22172464" y="21374928"/>
            <a:ext cx="10744200" cy="130226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51" name="Rectangle 50">
            <a:extLst>
              <a:ext uri="{FF2B5EF4-FFF2-40B4-BE49-F238E27FC236}">
                <a16:creationId xmlns:a16="http://schemas.microsoft.com/office/drawing/2014/main" id="{BF801B80-E24E-4773-AC4E-37DC17B0424E}"/>
              </a:ext>
            </a:extLst>
          </p:cNvPr>
          <p:cNvSpPr/>
          <p:nvPr/>
        </p:nvSpPr>
        <p:spPr>
          <a:xfrm>
            <a:off x="10972800" y="7391400"/>
            <a:ext cx="10744200" cy="11064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52" name="Rectangle 51">
            <a:extLst>
              <a:ext uri="{FF2B5EF4-FFF2-40B4-BE49-F238E27FC236}">
                <a16:creationId xmlns:a16="http://schemas.microsoft.com/office/drawing/2014/main" id="{F6D8A1CF-B987-4F36-8586-4BEDACCCAB04}"/>
              </a:ext>
            </a:extLst>
          </p:cNvPr>
          <p:cNvSpPr/>
          <p:nvPr/>
        </p:nvSpPr>
        <p:spPr>
          <a:xfrm>
            <a:off x="33375600" y="40907213"/>
            <a:ext cx="10058400" cy="9861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53" name="TextBox 52">
            <a:extLst>
              <a:ext uri="{FF2B5EF4-FFF2-40B4-BE49-F238E27FC236}">
                <a16:creationId xmlns:a16="http://schemas.microsoft.com/office/drawing/2014/main" id="{B9BDD4D7-12C6-4DBA-AD93-2C88BC17BC8B}"/>
              </a:ext>
            </a:extLst>
          </p:cNvPr>
          <p:cNvSpPr txBox="1"/>
          <p:nvPr/>
        </p:nvSpPr>
        <p:spPr>
          <a:xfrm>
            <a:off x="804672" y="8558034"/>
            <a:ext cx="9372600" cy="8586966"/>
          </a:xfrm>
          <a:prstGeom prst="rect">
            <a:avLst/>
          </a:prstGeom>
          <a:noFill/>
        </p:spPr>
        <p:txBody>
          <a:bodyPr wrap="square" rtlCol="0">
            <a:spAutoFit/>
          </a:bodyPr>
          <a:lstStyle>
            <a:defPPr>
              <a:defRPr kern="1200"/>
            </a:defPPr>
          </a:lstStyle>
          <a:p>
            <a:pPr algn="just"/>
            <a:r>
              <a:rPr lang="en-US" dirty="0"/>
              <a:t>Alzheimer's disease affects over 55 million people worldwide, with no cure and limited treatment options. Recent neuroscience research has revealed a promising approach: 40 Hz auditory stimulation can synchronize brain gamma oscillations, reducing amyloid-beta plaques and tau tangles in animal models and showing early cognitive benefits in human clinical trials. Current clinical protocols deliver stimulation on a rigid fixed schedule, of 40 seconds of 40 Hz auditory stimulation followed by 20 seconds of silence, cycling continuously for one hour regardless of how the patient's brain is responding. During the "on" periods, the brain may already be well-entrained and not need stimulation; during the "off" periods, entrainment may be fading and the brain could benefit from continued stimulation. Some patients maintain strong theta-gamma coupling throughout a session, while others lose coupling within seconds of stimulus onset; their brains never fully synchronize. Within a session, even in patients who initially entrain well, prolonged repetitive stimulation causes neural habituation where gamma oscillation amplitude progressively weakens, theta-gamma coupling degrades, and the brain effectively "tunes out" the stimulus. The result is wasted stimulation during periods of strong coupling and missed opportunities during periods of fading coupling. This project asks can we predict when a patient's brain will lose entrainment and deliver stimulation proactively, before the decline occurs?</a:t>
            </a:r>
          </a:p>
        </p:txBody>
      </p:sp>
      <p:sp>
        <p:nvSpPr>
          <p:cNvPr id="54" name="TextBox 53">
            <a:extLst>
              <a:ext uri="{FF2B5EF4-FFF2-40B4-BE49-F238E27FC236}">
                <a16:creationId xmlns:a16="http://schemas.microsoft.com/office/drawing/2014/main" id="{E4864E4E-50A2-403F-84B8-E4F7E820612B}"/>
              </a:ext>
            </a:extLst>
          </p:cNvPr>
          <p:cNvSpPr txBox="1"/>
          <p:nvPr/>
        </p:nvSpPr>
        <p:spPr>
          <a:xfrm>
            <a:off x="685800" y="7662672"/>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Introduction</a:t>
            </a:r>
          </a:p>
        </p:txBody>
      </p:sp>
      <p:sp>
        <p:nvSpPr>
          <p:cNvPr id="59" name="TextBox 58">
            <a:extLst>
              <a:ext uri="{FF2B5EF4-FFF2-40B4-BE49-F238E27FC236}">
                <a16:creationId xmlns:a16="http://schemas.microsoft.com/office/drawing/2014/main" id="{D07EEF88-ACF9-4467-B180-074FC642245A}"/>
              </a:ext>
            </a:extLst>
          </p:cNvPr>
          <p:cNvSpPr txBox="1"/>
          <p:nvPr/>
        </p:nvSpPr>
        <p:spPr>
          <a:xfrm>
            <a:off x="33604200" y="7662672"/>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Results &amp; Findings</a:t>
            </a:r>
          </a:p>
        </p:txBody>
      </p:sp>
      <p:sp>
        <p:nvSpPr>
          <p:cNvPr id="61" name="TextBox 60">
            <a:extLst>
              <a:ext uri="{FF2B5EF4-FFF2-40B4-BE49-F238E27FC236}">
                <a16:creationId xmlns:a16="http://schemas.microsoft.com/office/drawing/2014/main" id="{A6E6C31F-098B-45F7-BEE5-8A51FA70D59F}"/>
              </a:ext>
            </a:extLst>
          </p:cNvPr>
          <p:cNvSpPr txBox="1"/>
          <p:nvPr/>
        </p:nvSpPr>
        <p:spPr>
          <a:xfrm>
            <a:off x="33604200" y="41181772"/>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Conclusions</a:t>
            </a:r>
          </a:p>
        </p:txBody>
      </p:sp>
      <p:sp>
        <p:nvSpPr>
          <p:cNvPr id="63" name="TextBox 62">
            <a:extLst>
              <a:ext uri="{FF2B5EF4-FFF2-40B4-BE49-F238E27FC236}">
                <a16:creationId xmlns:a16="http://schemas.microsoft.com/office/drawing/2014/main" id="{92D5F59B-F8CA-463C-871F-D1042309DE00}"/>
              </a:ext>
            </a:extLst>
          </p:cNvPr>
          <p:cNvSpPr txBox="1"/>
          <p:nvPr/>
        </p:nvSpPr>
        <p:spPr>
          <a:xfrm>
            <a:off x="685801" y="17493995"/>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Literature Review</a:t>
            </a:r>
          </a:p>
        </p:txBody>
      </p:sp>
      <p:sp>
        <p:nvSpPr>
          <p:cNvPr id="65" name="TextBox 64">
            <a:extLst>
              <a:ext uri="{FF2B5EF4-FFF2-40B4-BE49-F238E27FC236}">
                <a16:creationId xmlns:a16="http://schemas.microsoft.com/office/drawing/2014/main" id="{68744D3E-CEF9-4748-9719-25AAABF27BDD}"/>
              </a:ext>
            </a:extLst>
          </p:cNvPr>
          <p:cNvSpPr txBox="1"/>
          <p:nvPr/>
        </p:nvSpPr>
        <p:spPr>
          <a:xfrm>
            <a:off x="11201400" y="7662672"/>
            <a:ext cx="8924931"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Materials</a:t>
            </a:r>
          </a:p>
        </p:txBody>
      </p:sp>
      <p:sp>
        <p:nvSpPr>
          <p:cNvPr id="2" name="TextBox 1">
            <a:extLst>
              <a:ext uri="{FF2B5EF4-FFF2-40B4-BE49-F238E27FC236}">
                <a16:creationId xmlns:a16="http://schemas.microsoft.com/office/drawing/2014/main" id="{676BF727-EC69-6F9F-3602-9E10BEBBA8B2}"/>
              </a:ext>
            </a:extLst>
          </p:cNvPr>
          <p:cNvSpPr txBox="1"/>
          <p:nvPr/>
        </p:nvSpPr>
        <p:spPr>
          <a:xfrm>
            <a:off x="804672" y="18332899"/>
            <a:ext cx="9372600" cy="9325630"/>
          </a:xfrm>
          <a:prstGeom prst="rect">
            <a:avLst/>
          </a:prstGeom>
          <a:noFill/>
        </p:spPr>
        <p:txBody>
          <a:bodyPr wrap="square" rtlCol="0">
            <a:spAutoFit/>
          </a:bodyPr>
          <a:lstStyle>
            <a:defPPr>
              <a:defRPr kern="1200"/>
            </a:defPPr>
          </a:lstStyle>
          <a:p>
            <a:pPr algn="just"/>
            <a:r>
              <a:rPr lang="en-US" dirty="0"/>
              <a:t>40 Hz Gamma Entrainment: Iaccarino et al. (2016) first demonstrated that 40 Hz light flickering reduces amyloid load in Alzheimer's mouse models by activating microglia. Martorell et al. (2019) extended this to multi-sensory (auditory + visual) stimulation, showing reduced amyloid and tau pathology with improved cognition. Lahijanian et al. (2024) confirmed that auditory gamma entrainment enhances default mode network connectivity in human dementia patients. </a:t>
            </a:r>
          </a:p>
          <a:p>
            <a:pPr algn="just"/>
            <a:endParaRPr lang="en-US" dirty="0"/>
          </a:p>
          <a:p>
            <a:pPr algn="just"/>
            <a:r>
              <a:rPr lang="en-US" dirty="0"/>
              <a:t>Phase-Amplitude Coupling (PAC): PAC measures how strongly high-frequency gamma amplitude (38-42 Hz) is modulated by lower-frequency theta phase (4-8 Hz). Tort et al. (2010) established the Modulation Index as the standard quantitative measure. High PAC indicates successful entrainment; low PAC indicates the brain has lost synchronization with the stimulus.</a:t>
            </a:r>
          </a:p>
          <a:p>
            <a:pPr algn="just"/>
            <a:endParaRPr lang="en-US" dirty="0"/>
          </a:p>
          <a:p>
            <a:pPr algn="just"/>
            <a:r>
              <a:rPr lang="en-US" dirty="0"/>
              <a:t>Neural Habituation: Thompson &amp; Spencer (1966) established that repeated identical stimuli produce progressively weaker neural responses. In 40 Hz entrainment, fixed schedules become less effective over time meaning the brain "tunes out" the repetitive stimulus, producing diminishing PAC.</a:t>
            </a:r>
          </a:p>
          <a:p>
            <a:pPr algn="just"/>
            <a:endParaRPr lang="en-US" dirty="0"/>
          </a:p>
          <a:p>
            <a:pPr algn="just"/>
            <a:r>
              <a:rPr lang="en-US" dirty="0"/>
              <a:t>No existing system predicts future entrainment state to enable proactive control. Current approaches either use fixed schedules (no adaptation) or reactive thresholds (respond after decline has already occurred, introducing delay).</a:t>
            </a:r>
          </a:p>
        </p:txBody>
      </p:sp>
      <p:pic>
        <p:nvPicPr>
          <p:cNvPr id="3" name="Picture 2">
            <a:extLst>
              <a:ext uri="{FF2B5EF4-FFF2-40B4-BE49-F238E27FC236}">
                <a16:creationId xmlns:a16="http://schemas.microsoft.com/office/drawing/2014/main" id="{6FF24CCC-240F-F771-80B1-D620189DE51F}"/>
              </a:ext>
            </a:extLst>
          </p:cNvPr>
          <p:cNvPicPr>
            <a:picLocks noChangeAspect="1"/>
          </p:cNvPicPr>
          <p:nvPr/>
        </p:nvPicPr>
        <p:blipFill>
          <a:blip r:embed="rId3"/>
          <a:stretch>
            <a:fillRect/>
          </a:stretch>
        </p:blipFill>
        <p:spPr>
          <a:xfrm>
            <a:off x="914400" y="27357776"/>
            <a:ext cx="9144000" cy="4982766"/>
          </a:xfrm>
          <a:prstGeom prst="rect">
            <a:avLst/>
          </a:prstGeom>
        </p:spPr>
      </p:pic>
      <p:sp>
        <p:nvSpPr>
          <p:cNvPr id="4" name="Rectangle 3">
            <a:extLst>
              <a:ext uri="{FF2B5EF4-FFF2-40B4-BE49-F238E27FC236}">
                <a16:creationId xmlns:a16="http://schemas.microsoft.com/office/drawing/2014/main" id="{ECB68FC4-D107-43B2-2844-274FED33DEB3}"/>
              </a:ext>
            </a:extLst>
          </p:cNvPr>
          <p:cNvSpPr/>
          <p:nvPr/>
        </p:nvSpPr>
        <p:spPr>
          <a:xfrm>
            <a:off x="457199" y="33050946"/>
            <a:ext cx="10054931" cy="6192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5" name="TextBox 4">
            <a:extLst>
              <a:ext uri="{FF2B5EF4-FFF2-40B4-BE49-F238E27FC236}">
                <a16:creationId xmlns:a16="http://schemas.microsoft.com/office/drawing/2014/main" id="{4C31ADEB-D562-46AB-2497-13263F418D36}"/>
              </a:ext>
            </a:extLst>
          </p:cNvPr>
          <p:cNvSpPr txBox="1"/>
          <p:nvPr/>
        </p:nvSpPr>
        <p:spPr>
          <a:xfrm>
            <a:off x="685800" y="33327769"/>
            <a:ext cx="9575222"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Hypothesis</a:t>
            </a:r>
          </a:p>
        </p:txBody>
      </p:sp>
      <p:sp>
        <p:nvSpPr>
          <p:cNvPr id="7" name="TextBox 6">
            <a:extLst>
              <a:ext uri="{FF2B5EF4-FFF2-40B4-BE49-F238E27FC236}">
                <a16:creationId xmlns:a16="http://schemas.microsoft.com/office/drawing/2014/main" id="{C79DF2C1-0CD8-1090-C37D-58CDF2878687}"/>
              </a:ext>
            </a:extLst>
          </p:cNvPr>
          <p:cNvSpPr txBox="1"/>
          <p:nvPr/>
        </p:nvSpPr>
        <p:spPr>
          <a:xfrm>
            <a:off x="11320272" y="19870393"/>
            <a:ext cx="10058400" cy="11910953"/>
          </a:xfrm>
          <a:prstGeom prst="rect">
            <a:avLst/>
          </a:prstGeom>
          <a:noFill/>
        </p:spPr>
        <p:txBody>
          <a:bodyPr wrap="square" rtlCol="0">
            <a:spAutoFit/>
          </a:bodyPr>
          <a:lstStyle>
            <a:defPPr>
              <a:defRPr kern="1200"/>
            </a:defPPr>
          </a:lstStyle>
          <a:p>
            <a:r>
              <a:rPr lang="en-US" dirty="0"/>
              <a:t>PAC Computation. To quantify how well a patient's brain is entrained to the 40 Hz stimulus, I computed phase-amplitude coupling (PAC) using the Modulation Index method (Tort et al., 2010). PAC measures how strongly high-frequency gamma amplitude (38-42 Hz) is modulated by lower-frequency theta phase (4-8 Hz). When the brain is successfully entrained, gamma oscillations lock to the theta rhythm, producing a high Modulation Index. When entrainment is lost, gamma and theta decouple and the index drops. I computed PAC at the epoch level (full 20-40 second stimulus or rest blocks) and assigned the value to each constituent 2-second window within that epoch.</a:t>
            </a:r>
          </a:p>
          <a:p>
            <a:endParaRPr lang="en-US" dirty="0"/>
          </a:p>
          <a:p>
            <a:r>
              <a:rPr lang="en-US" dirty="0"/>
              <a:t>Causal Temporal Dataset Construction. To predict future PAC, I constructed temporal sequences from the processed EEG windows. Each timestep contains 73 input features: 61 spectral power features capturing band power across frequency ranges, 7 PAC-derived features reflecting current coupling strength and recent trends, and 5 stimulation context features encoding whether the patient is currently receiving stimulation or resting, and for how long. The model receives 20 timesteps of history (20 seconds) and predicts PAC 5 seconds into the future. No input feature at time </a:t>
            </a:r>
            <a:r>
              <a:rPr lang="en-US" i="1" dirty="0"/>
              <a:t>t</a:t>
            </a:r>
            <a:r>
              <a:rPr lang="en-US" dirty="0"/>
              <a:t> contains any information from time </a:t>
            </a:r>
            <a:r>
              <a:rPr lang="en-US" i="1" dirty="0"/>
              <a:t>t+1</a:t>
            </a:r>
            <a:r>
              <a:rPr lang="en-US" dirty="0"/>
              <a:t> or beyond. All features and targets were z-score normalized using statistics computed only from the training set, so no information from validation or test subjects could leak into the model.</a:t>
            </a:r>
          </a:p>
          <a:p>
            <a:endParaRPr lang="en-US" dirty="0"/>
          </a:p>
          <a:p>
            <a:r>
              <a:rPr lang="en-US" dirty="0"/>
              <a:t>Closed-Loop Controller. The controller takes the TCN's predicted future PAC and turns it into a stimulation decision. It maintains a rolling 30-second baseline of each patient's recent PAC values and converts the prediction into a personalized z-score. If the z-score falls below -0.5, meaning coupling is predicted to decline, the controller triggers STIMULATE. If it rises above +0.5, meaning coupling is predicted to remain strong, the controller signals REST. Otherwise, it holds the current state (MAINTAIN). A 5-second hysteresis window prevents rapid switching between states. Because the TCN predicts 5 seconds ahead, the controller begins stimulating before the patient's coupling drops, rather than waiting to react after the decline has already occurred.</a:t>
            </a:r>
          </a:p>
        </p:txBody>
      </p:sp>
      <p:graphicFrame>
        <p:nvGraphicFramePr>
          <p:cNvPr id="8" name="Table 7">
            <a:extLst>
              <a:ext uri="{FF2B5EF4-FFF2-40B4-BE49-F238E27FC236}">
                <a16:creationId xmlns:a16="http://schemas.microsoft.com/office/drawing/2014/main" id="{12E34D7A-41BD-0013-8766-228E512AB7E1}"/>
              </a:ext>
            </a:extLst>
          </p:cNvPr>
          <p:cNvGraphicFramePr>
            <a:graphicFrameLocks noGrp="1"/>
          </p:cNvGraphicFramePr>
          <p:nvPr>
            <p:extLst>
              <p:ext uri="{D42A27DB-BD31-4B8C-83A1-F6EECF244321}">
                <p14:modId xmlns:p14="http://schemas.microsoft.com/office/powerpoint/2010/main" val="3580018590"/>
              </p:ext>
            </p:extLst>
          </p:nvPr>
        </p:nvGraphicFramePr>
        <p:xfrm>
          <a:off x="11411712" y="14249400"/>
          <a:ext cx="9878569" cy="3903814"/>
        </p:xfrm>
        <a:graphic>
          <a:graphicData uri="http://schemas.openxmlformats.org/drawingml/2006/table">
            <a:tbl>
              <a:tblPr firstRow="1" bandRow="1">
                <a:tableStyleId>{073A0DAA-6AF3-43AB-8588-CEC1D06C72B9}</a:tableStyleId>
              </a:tblPr>
              <a:tblGrid>
                <a:gridCol w="1918566">
                  <a:extLst>
                    <a:ext uri="{9D8B030D-6E8A-4147-A177-3AD203B41FA5}">
                      <a16:colId xmlns:a16="http://schemas.microsoft.com/office/drawing/2014/main" val="476290120"/>
                    </a:ext>
                  </a:extLst>
                </a:gridCol>
                <a:gridCol w="4082053">
                  <a:extLst>
                    <a:ext uri="{9D8B030D-6E8A-4147-A177-3AD203B41FA5}">
                      <a16:colId xmlns:a16="http://schemas.microsoft.com/office/drawing/2014/main" val="2226223649"/>
                    </a:ext>
                  </a:extLst>
                </a:gridCol>
                <a:gridCol w="3877950">
                  <a:extLst>
                    <a:ext uri="{9D8B030D-6E8A-4147-A177-3AD203B41FA5}">
                      <a16:colId xmlns:a16="http://schemas.microsoft.com/office/drawing/2014/main" val="1535894409"/>
                    </a:ext>
                  </a:extLst>
                </a:gridCol>
              </a:tblGrid>
              <a:tr h="522514">
                <a:tc>
                  <a:txBody>
                    <a:bodyPr/>
                    <a:lstStyle/>
                    <a:p>
                      <a:endParaRPr lang="en-US" sz="1800" dirty="0"/>
                    </a:p>
                  </a:txBody>
                  <a:tcPr/>
                </a:tc>
                <a:tc>
                  <a:txBody>
                    <a:bodyPr/>
                    <a:lstStyle/>
                    <a:p>
                      <a:r>
                        <a:rPr lang="en-US" sz="1800" dirty="0"/>
                        <a:t>EEGNet</a:t>
                      </a:r>
                    </a:p>
                  </a:txBody>
                  <a:tcPr/>
                </a:tc>
                <a:tc>
                  <a:txBody>
                    <a:bodyPr/>
                    <a:lstStyle/>
                    <a:p>
                      <a:r>
                        <a:rPr lang="en-US" sz="1800" dirty="0"/>
                        <a:t>Causal TCN</a:t>
                      </a:r>
                    </a:p>
                  </a:txBody>
                  <a:tcPr/>
                </a:tc>
                <a:extLst>
                  <a:ext uri="{0D108BD9-81ED-4DB2-BD59-A6C34878D82A}">
                    <a16:rowId xmlns:a16="http://schemas.microsoft.com/office/drawing/2014/main" val="32210522"/>
                  </a:ext>
                </a:extLst>
              </a:tr>
              <a:tr h="645622">
                <a:tc>
                  <a:txBody>
                    <a:bodyPr/>
                    <a:lstStyle/>
                    <a:p>
                      <a:r>
                        <a:rPr lang="en-US" sz="1800" dirty="0"/>
                        <a:t>Purpose</a:t>
                      </a:r>
                    </a:p>
                  </a:txBody>
                  <a:tcPr/>
                </a:tc>
                <a:tc>
                  <a:txBody>
                    <a:bodyPr/>
                    <a:lstStyle/>
                    <a:p>
                      <a:r>
                        <a:rPr lang="en-US" sz="1800" dirty="0"/>
                        <a:t>Estimate current PAC from raw EEG</a:t>
                      </a:r>
                    </a:p>
                  </a:txBody>
                  <a:tcPr/>
                </a:tc>
                <a:tc>
                  <a:txBody>
                    <a:bodyPr/>
                    <a:lstStyle/>
                    <a:p>
                      <a:r>
                        <a:rPr lang="en-US" sz="1800" dirty="0"/>
                        <a:t>Predict future PAC from history</a:t>
                      </a:r>
                    </a:p>
                  </a:txBody>
                  <a:tcPr/>
                </a:tc>
                <a:extLst>
                  <a:ext uri="{0D108BD9-81ED-4DB2-BD59-A6C34878D82A}">
                    <a16:rowId xmlns:a16="http://schemas.microsoft.com/office/drawing/2014/main" val="2185965967"/>
                  </a:ext>
                </a:extLst>
              </a:tr>
              <a:tr h="522514">
                <a:tc>
                  <a:txBody>
                    <a:bodyPr/>
                    <a:lstStyle/>
                    <a:p>
                      <a:r>
                        <a:rPr lang="en-US" sz="1800" dirty="0"/>
                        <a:t>Parameters</a:t>
                      </a:r>
                    </a:p>
                  </a:txBody>
                  <a:tcPr/>
                </a:tc>
                <a:tc>
                  <a:txBody>
                    <a:bodyPr/>
                    <a:lstStyle/>
                    <a:p>
                      <a:r>
                        <a:rPr lang="en-US" sz="1800" dirty="0"/>
                        <a:t>1457 (12 samples/param)</a:t>
                      </a:r>
                    </a:p>
                  </a:txBody>
                  <a:tcPr/>
                </a:tc>
                <a:tc>
                  <a:txBody>
                    <a:bodyPr/>
                    <a:lstStyle/>
                    <a:p>
                      <a:r>
                        <a:rPr lang="en-US" sz="1800" dirty="0"/>
                        <a:t>31,043</a:t>
                      </a:r>
                    </a:p>
                  </a:txBody>
                  <a:tcPr/>
                </a:tc>
                <a:extLst>
                  <a:ext uri="{0D108BD9-81ED-4DB2-BD59-A6C34878D82A}">
                    <a16:rowId xmlns:a16="http://schemas.microsoft.com/office/drawing/2014/main" val="833987082"/>
                  </a:ext>
                </a:extLst>
              </a:tr>
              <a:tr h="522514">
                <a:tc>
                  <a:txBody>
                    <a:bodyPr/>
                    <a:lstStyle/>
                    <a:p>
                      <a:r>
                        <a:rPr lang="en-US" sz="1800" dirty="0"/>
                        <a:t>Input</a:t>
                      </a:r>
                    </a:p>
                  </a:txBody>
                  <a:tcPr/>
                </a:tc>
                <a:tc>
                  <a:txBody>
                    <a:bodyPr/>
                    <a:lstStyle/>
                    <a:p>
                      <a:r>
                        <a:rPr lang="en-US" sz="1800" dirty="0"/>
                        <a:t>Raw EEG (7 </a:t>
                      </a:r>
                      <a:r>
                        <a:rPr lang="en-US" sz="1800" dirty="0" err="1"/>
                        <a:t>ch</a:t>
                      </a:r>
                      <a:r>
                        <a:rPr lang="en-US" sz="1800" dirty="0"/>
                        <a:t> x 500 samples)</a:t>
                      </a:r>
                    </a:p>
                  </a:txBody>
                  <a:tcPr/>
                </a:tc>
                <a:tc>
                  <a:txBody>
                    <a:bodyPr/>
                    <a:lstStyle/>
                    <a:p>
                      <a:r>
                        <a:rPr lang="en-US" sz="1800" dirty="0"/>
                        <a:t>73 features x 20 timesteps</a:t>
                      </a:r>
                    </a:p>
                  </a:txBody>
                  <a:tcPr/>
                </a:tc>
                <a:extLst>
                  <a:ext uri="{0D108BD9-81ED-4DB2-BD59-A6C34878D82A}">
                    <a16:rowId xmlns:a16="http://schemas.microsoft.com/office/drawing/2014/main" val="620352131"/>
                  </a:ext>
                </a:extLst>
              </a:tr>
              <a:tr h="522514">
                <a:tc>
                  <a:txBody>
                    <a:bodyPr/>
                    <a:lstStyle/>
                    <a:p>
                      <a:r>
                        <a:rPr lang="en-US" sz="1800" dirty="0"/>
                        <a:t>Architecture</a:t>
                      </a:r>
                    </a:p>
                  </a:txBody>
                  <a:tcPr/>
                </a:tc>
                <a:tc>
                  <a:txBody>
                    <a:bodyPr/>
                    <a:lstStyle/>
                    <a:p>
                      <a:r>
                        <a:rPr lang="en-US" sz="1800" dirty="0"/>
                        <a:t>Temporal + </a:t>
                      </a:r>
                      <a:r>
                        <a:rPr lang="en-US" sz="1800" dirty="0" err="1"/>
                        <a:t>depthwise</a:t>
                      </a:r>
                      <a:r>
                        <a:rPr lang="en-US" sz="1800" dirty="0"/>
                        <a:t> spatial conv.</a:t>
                      </a:r>
                    </a:p>
                  </a:txBody>
                  <a:tcPr/>
                </a:tc>
                <a:tc>
                  <a:txBody>
                    <a:bodyPr/>
                    <a:lstStyle/>
                    <a:p>
                      <a:r>
                        <a:rPr lang="en-US" sz="1800" dirty="0"/>
                        <a:t>Dilated causal conv (d=1,2,4,8)</a:t>
                      </a:r>
                    </a:p>
                  </a:txBody>
                  <a:tcPr/>
                </a:tc>
                <a:extLst>
                  <a:ext uri="{0D108BD9-81ED-4DB2-BD59-A6C34878D82A}">
                    <a16:rowId xmlns:a16="http://schemas.microsoft.com/office/drawing/2014/main" val="1033956266"/>
                  </a:ext>
                </a:extLst>
              </a:tr>
              <a:tr h="522514">
                <a:tc>
                  <a:txBody>
                    <a:bodyPr/>
                    <a:lstStyle/>
                    <a:p>
                      <a:r>
                        <a:rPr lang="en-US" sz="1800" dirty="0"/>
                        <a:t>Output</a:t>
                      </a:r>
                    </a:p>
                  </a:txBody>
                  <a:tcPr/>
                </a:tc>
                <a:tc>
                  <a:txBody>
                    <a:bodyPr/>
                    <a:lstStyle/>
                    <a:p>
                      <a:r>
                        <a:rPr lang="en-US" sz="1800" dirty="0"/>
                        <a:t>Current PAC Estimate</a:t>
                      </a:r>
                    </a:p>
                  </a:txBody>
                  <a:tcPr/>
                </a:tc>
                <a:tc>
                  <a:txBody>
                    <a:bodyPr/>
                    <a:lstStyle/>
                    <a:p>
                      <a:r>
                        <a:rPr lang="en-US" sz="1800" dirty="0"/>
                        <a:t>Future PAC (5s Horizon)</a:t>
                      </a:r>
                    </a:p>
                  </a:txBody>
                  <a:tcPr/>
                </a:tc>
                <a:extLst>
                  <a:ext uri="{0D108BD9-81ED-4DB2-BD59-A6C34878D82A}">
                    <a16:rowId xmlns:a16="http://schemas.microsoft.com/office/drawing/2014/main" val="1634207841"/>
                  </a:ext>
                </a:extLst>
              </a:tr>
              <a:tr h="645622">
                <a:tc>
                  <a:txBody>
                    <a:bodyPr/>
                    <a:lstStyle/>
                    <a:p>
                      <a:r>
                        <a:rPr lang="en-US" sz="1800" dirty="0"/>
                        <a:t>Key Feature</a:t>
                      </a:r>
                    </a:p>
                  </a:txBody>
                  <a:tcPr/>
                </a:tc>
                <a:tc>
                  <a:txBody>
                    <a:bodyPr/>
                    <a:lstStyle/>
                    <a:p>
                      <a:r>
                        <a:rPr lang="en-US" sz="1800" dirty="0"/>
                        <a:t>Real-time-inference</a:t>
                      </a:r>
                    </a:p>
                  </a:txBody>
                  <a:tcPr/>
                </a:tc>
                <a:tc>
                  <a:txBody>
                    <a:bodyPr/>
                    <a:lstStyle/>
                    <a:p>
                      <a:r>
                        <a:rPr lang="en-US" sz="1800" dirty="0"/>
                        <a:t>44-second receptive field, causal (no future leakage)</a:t>
                      </a:r>
                    </a:p>
                  </a:txBody>
                  <a:tcPr/>
                </a:tc>
                <a:extLst>
                  <a:ext uri="{0D108BD9-81ED-4DB2-BD59-A6C34878D82A}">
                    <a16:rowId xmlns:a16="http://schemas.microsoft.com/office/drawing/2014/main" val="3369638341"/>
                  </a:ext>
                </a:extLst>
              </a:tr>
            </a:tbl>
          </a:graphicData>
        </a:graphic>
      </p:graphicFrame>
      <p:sp>
        <p:nvSpPr>
          <p:cNvPr id="10" name="TextBox 9">
            <a:extLst>
              <a:ext uri="{FF2B5EF4-FFF2-40B4-BE49-F238E27FC236}">
                <a16:creationId xmlns:a16="http://schemas.microsoft.com/office/drawing/2014/main" id="{E7FACB0A-DCB8-4CBE-08F4-AF3C7A33C3FD}"/>
              </a:ext>
            </a:extLst>
          </p:cNvPr>
          <p:cNvSpPr txBox="1"/>
          <p:nvPr/>
        </p:nvSpPr>
        <p:spPr>
          <a:xfrm>
            <a:off x="11201400" y="19029145"/>
            <a:ext cx="8220866"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Methods</a:t>
            </a:r>
          </a:p>
        </p:txBody>
      </p:sp>
      <p:sp>
        <p:nvSpPr>
          <p:cNvPr id="11" name="TextBox 10">
            <a:extLst>
              <a:ext uri="{FF2B5EF4-FFF2-40B4-BE49-F238E27FC236}">
                <a16:creationId xmlns:a16="http://schemas.microsoft.com/office/drawing/2014/main" id="{5DC7AC48-C466-3C41-5AAA-FBCDAA694280}"/>
              </a:ext>
            </a:extLst>
          </p:cNvPr>
          <p:cNvSpPr txBox="1"/>
          <p:nvPr/>
        </p:nvSpPr>
        <p:spPr>
          <a:xfrm>
            <a:off x="11320272" y="8558784"/>
            <a:ext cx="10058400" cy="5632311"/>
          </a:xfrm>
          <a:prstGeom prst="rect">
            <a:avLst/>
          </a:prstGeom>
          <a:noFill/>
        </p:spPr>
        <p:txBody>
          <a:bodyPr wrap="square" rtlCol="0">
            <a:spAutoFit/>
          </a:bodyPr>
          <a:lstStyle>
            <a:defPPr>
              <a:defRPr kern="1200"/>
            </a:defPPr>
          </a:lstStyle>
          <a:p>
            <a:pPr algn="just"/>
            <a:r>
              <a:rPr lang="en-US" dirty="0"/>
              <a:t>Dataset:</a:t>
            </a:r>
          </a:p>
          <a:p>
            <a:pPr marL="342900" indent="-342900" algn="just">
              <a:buFontTx/>
              <a:buChar char="-"/>
            </a:pPr>
            <a:r>
              <a:rPr lang="en-US" dirty="0"/>
              <a:t>35 dementia patients, OpenNeuro ds005048 (Lahijanian et al., 2024)</a:t>
            </a:r>
          </a:p>
          <a:p>
            <a:pPr marL="342900" indent="-342900" algn="just">
              <a:buFontTx/>
              <a:buChar char="-"/>
            </a:pPr>
            <a:r>
              <a:rPr lang="en-US" dirty="0"/>
              <a:t>19-channel EEG at 250 Hz sampling rate; 7 frontal channels selected (Fp1, Fp2, F3, F4, F7, F8, Fz)</a:t>
            </a:r>
          </a:p>
          <a:p>
            <a:pPr marL="342900" indent="-342900" algn="just">
              <a:buFontTx/>
              <a:buChar char="-"/>
            </a:pPr>
            <a:r>
              <a:rPr lang="en-US" dirty="0"/>
              <a:t>Alternating Stimulus (40 Hz AM auditory) &amp; Rest epochs, 20-40 sec each</a:t>
            </a:r>
          </a:p>
          <a:p>
            <a:pPr marL="342900" indent="-342900" algn="just">
              <a:buFontTx/>
              <a:buChar char="-"/>
            </a:pPr>
            <a:r>
              <a:rPr lang="en-US" dirty="0"/>
              <a:t>17,283 two-second analysis windows extracted</a:t>
            </a:r>
          </a:p>
          <a:p>
            <a:pPr marL="342900" indent="-342900" algn="just">
              <a:buFontTx/>
              <a:buChar char="-"/>
            </a:pPr>
            <a:r>
              <a:rPr lang="en-US" dirty="0"/>
              <a:t>Subject-level train/validation/test splits (24/5/6 subjects)</a:t>
            </a:r>
          </a:p>
          <a:p>
            <a:pPr algn="just"/>
            <a:endParaRPr lang="en-US" dirty="0"/>
          </a:p>
          <a:p>
            <a:pPr algn="just"/>
            <a:r>
              <a:rPr lang="en-US" dirty="0"/>
              <a:t>Software &amp; Compute:</a:t>
            </a:r>
          </a:p>
          <a:p>
            <a:pPr marL="342900" indent="-342900" algn="just">
              <a:buFontTx/>
              <a:buChar char="-"/>
            </a:pPr>
            <a:r>
              <a:rPr lang="en-US" dirty="0"/>
              <a:t>Python 3.13, </a:t>
            </a:r>
            <a:r>
              <a:rPr lang="en-US" dirty="0" err="1"/>
              <a:t>PyTorch</a:t>
            </a:r>
            <a:r>
              <a:rPr lang="en-US" dirty="0"/>
              <a:t> (deep learning framework)</a:t>
            </a:r>
          </a:p>
          <a:p>
            <a:pPr marL="342900" indent="-342900" algn="just">
              <a:buFontTx/>
              <a:buChar char="-"/>
            </a:pPr>
            <a:r>
              <a:rPr lang="en-US" dirty="0"/>
              <a:t>All training and inference run on Apple Silicon (MPS)</a:t>
            </a:r>
          </a:p>
          <a:p>
            <a:pPr marL="342900" indent="-342900" algn="just">
              <a:buFontTx/>
              <a:buChar char="-"/>
            </a:pPr>
            <a:r>
              <a:rPr lang="en-US" dirty="0"/>
              <a:t>Full pipeline: preprocessing, PAC computation, model training, closed-loop simulation, statistical analysis</a:t>
            </a:r>
          </a:p>
          <a:p>
            <a:pPr algn="just"/>
            <a:endParaRPr lang="en-US" dirty="0"/>
          </a:p>
          <a:p>
            <a:pPr algn="just"/>
            <a:r>
              <a:rPr lang="en-US" dirty="0"/>
              <a:t>Two Neural Networks (sized for dataset to prevent overfitting):</a:t>
            </a:r>
          </a:p>
        </p:txBody>
      </p:sp>
      <p:pic>
        <p:nvPicPr>
          <p:cNvPr id="16" name="Picture 15">
            <a:extLst>
              <a:ext uri="{FF2B5EF4-FFF2-40B4-BE49-F238E27FC236}">
                <a16:creationId xmlns:a16="http://schemas.microsoft.com/office/drawing/2014/main" id="{314508C9-6A2B-F748-EA90-B4C4B2AB9687}"/>
              </a:ext>
            </a:extLst>
          </p:cNvPr>
          <p:cNvPicPr>
            <a:picLocks noChangeAspect="1"/>
          </p:cNvPicPr>
          <p:nvPr/>
        </p:nvPicPr>
        <p:blipFill>
          <a:blip r:embed="rId4"/>
          <a:stretch>
            <a:fillRect/>
          </a:stretch>
        </p:blipFill>
        <p:spPr>
          <a:xfrm>
            <a:off x="11484864" y="31726061"/>
            <a:ext cx="9732804" cy="5383339"/>
          </a:xfrm>
          <a:prstGeom prst="rect">
            <a:avLst/>
          </a:prstGeom>
        </p:spPr>
      </p:pic>
      <p:sp>
        <p:nvSpPr>
          <p:cNvPr id="17" name="TextBox 16">
            <a:extLst>
              <a:ext uri="{FF2B5EF4-FFF2-40B4-BE49-F238E27FC236}">
                <a16:creationId xmlns:a16="http://schemas.microsoft.com/office/drawing/2014/main" id="{235DAFE2-CA6F-95F3-1133-4CDC83D159C6}"/>
              </a:ext>
            </a:extLst>
          </p:cNvPr>
          <p:cNvSpPr txBox="1"/>
          <p:nvPr/>
        </p:nvSpPr>
        <p:spPr>
          <a:xfrm>
            <a:off x="22399141" y="21652753"/>
            <a:ext cx="10250309"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Procedures</a:t>
            </a:r>
          </a:p>
        </p:txBody>
      </p:sp>
      <p:sp>
        <p:nvSpPr>
          <p:cNvPr id="25" name="TextBox 24">
            <a:extLst>
              <a:ext uri="{FF2B5EF4-FFF2-40B4-BE49-F238E27FC236}">
                <a16:creationId xmlns:a16="http://schemas.microsoft.com/office/drawing/2014/main" id="{A165349F-C887-4637-758A-8B7199D88181}"/>
              </a:ext>
            </a:extLst>
          </p:cNvPr>
          <p:cNvSpPr txBox="1"/>
          <p:nvPr/>
        </p:nvSpPr>
        <p:spPr>
          <a:xfrm>
            <a:off x="22521672" y="22494001"/>
            <a:ext cx="10058400" cy="11910953"/>
          </a:xfrm>
          <a:prstGeom prst="rect">
            <a:avLst/>
          </a:prstGeom>
          <a:noFill/>
        </p:spPr>
        <p:txBody>
          <a:bodyPr wrap="square" rtlCol="0">
            <a:spAutoFit/>
          </a:bodyPr>
          <a:lstStyle>
            <a:defPPr>
              <a:defRPr kern="1200"/>
            </a:defPPr>
          </a:lstStyle>
          <a:p>
            <a:r>
              <a:rPr lang="en-US" dirty="0"/>
              <a:t>Model Training. I trained the EEGNet on raw EEG windows to estimate current PAC, using mean squared error (MSE) loss, the Adam optimizer, and gradient clipping at </a:t>
            </a:r>
            <a:r>
              <a:rPr lang="en-US" dirty="0" err="1"/>
              <a:t>max_norm</a:t>
            </a:r>
            <a:r>
              <a:rPr lang="en-US" dirty="0"/>
              <a:t>=1.0 to stabilize training. Early stopping halted training when validation performance stopped improving, preventing the model from memorizing the training data. I trained the Causal TCN on temporal sequences to predict future PAC using Huber loss for robust regression, which reduces sensitivity to PAC outliers compared to MSE. The model architecture supports optional multi-task learning (delta prediction + consistency penalty) but the best checkpoint uses single-task Huber loss. The learning rate was reduced automatically when validation loss plateaued, and training stopped if 20 consecutive epochs passed without improvement (early stopping patience of 20). All hyperparameter decisions were made using the validation set (5 subjects). The test set (6 subjects) was used only for the final reported evaluation and was never seen during model development.</a:t>
            </a:r>
          </a:p>
          <a:p>
            <a:endParaRPr lang="en-US" dirty="0"/>
          </a:p>
          <a:p>
            <a:r>
              <a:rPr lang="en-US" dirty="0"/>
              <a:t>Validation Protocol. For the primary validation, I replayed the TCN controller on all 35 subjects' actual EEG recordings. The controller processed each subject's data as if running in real time, making stimulation decisions at every 2-second window based on the model's predictions. This tests the controller on real brain data, though because the recordings are historical, the controller cannot observe how the brain would respond to its decisions (offline counterfactual replay). For a secondary validation, I ran closed-loop simulations that model neural fatigue, where the brain's response to stimulation progressively weakens over time. I tested across 6 fatigue severity levels (none through severe), running 50 independent 600-second trials per condition. All statistical comparisons used Wilcoxon signed-rank tests (non-parametric, paired), bootstrap 95% confidence intervals, and Hedges' g effect sizes. I compared four control strategies: Fixed Schedule (the current clinical standard of 40s on / 20s off), Reactive Threshold (responds to current PAC after decline has already occurred), PI Controller (proportional-integral feedback), and Alignment Oracle (perfect future knowledge, serving as the theoretical upper bound on what any controller could achieve).</a:t>
            </a:r>
          </a:p>
        </p:txBody>
      </p:sp>
      <p:sp>
        <p:nvSpPr>
          <p:cNvPr id="26" name="Rectangle 25">
            <a:extLst>
              <a:ext uri="{FF2B5EF4-FFF2-40B4-BE49-F238E27FC236}">
                <a16:creationId xmlns:a16="http://schemas.microsoft.com/office/drawing/2014/main" id="{E2D4C366-FDF2-C5BD-0470-2E5B24CF3B06}"/>
              </a:ext>
            </a:extLst>
          </p:cNvPr>
          <p:cNvSpPr/>
          <p:nvPr/>
        </p:nvSpPr>
        <p:spPr>
          <a:xfrm>
            <a:off x="10972800" y="45260382"/>
            <a:ext cx="10747772" cy="55088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32" name="Rectangle 31">
            <a:extLst>
              <a:ext uri="{FF2B5EF4-FFF2-40B4-BE49-F238E27FC236}">
                <a16:creationId xmlns:a16="http://schemas.microsoft.com/office/drawing/2014/main" id="{B71B24CE-1E29-72FF-D84C-C07F5B57EBD5}"/>
              </a:ext>
            </a:extLst>
          </p:cNvPr>
          <p:cNvSpPr/>
          <p:nvPr/>
        </p:nvSpPr>
        <p:spPr>
          <a:xfrm>
            <a:off x="22174199" y="34685343"/>
            <a:ext cx="10744200" cy="6167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pic>
        <p:nvPicPr>
          <p:cNvPr id="33" name="Picture 32">
            <a:extLst>
              <a:ext uri="{FF2B5EF4-FFF2-40B4-BE49-F238E27FC236}">
                <a16:creationId xmlns:a16="http://schemas.microsoft.com/office/drawing/2014/main" id="{4D178815-A976-4D88-501B-30A7B3622FF3}"/>
              </a:ext>
            </a:extLst>
          </p:cNvPr>
          <p:cNvPicPr>
            <a:picLocks noChangeAspect="1"/>
          </p:cNvPicPr>
          <p:nvPr/>
        </p:nvPicPr>
        <p:blipFill>
          <a:blip r:embed="rId5"/>
          <a:stretch>
            <a:fillRect/>
          </a:stretch>
        </p:blipFill>
        <p:spPr>
          <a:xfrm>
            <a:off x="11438827" y="45341628"/>
            <a:ext cx="9772268" cy="5346336"/>
          </a:xfrm>
          <a:prstGeom prst="rect">
            <a:avLst/>
          </a:prstGeom>
        </p:spPr>
      </p:pic>
      <p:sp>
        <p:nvSpPr>
          <p:cNvPr id="34" name="Rectangle 33">
            <a:extLst>
              <a:ext uri="{FF2B5EF4-FFF2-40B4-BE49-F238E27FC236}">
                <a16:creationId xmlns:a16="http://schemas.microsoft.com/office/drawing/2014/main" id="{417C3252-8AF8-75BE-2657-5A7C909120C8}"/>
              </a:ext>
            </a:extLst>
          </p:cNvPr>
          <p:cNvSpPr/>
          <p:nvPr/>
        </p:nvSpPr>
        <p:spPr>
          <a:xfrm>
            <a:off x="10972800" y="37482056"/>
            <a:ext cx="10744200" cy="75101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35" name="TextBox 34">
            <a:extLst>
              <a:ext uri="{FF2B5EF4-FFF2-40B4-BE49-F238E27FC236}">
                <a16:creationId xmlns:a16="http://schemas.microsoft.com/office/drawing/2014/main" id="{1EE75D3A-4114-380E-C7F4-CEDDDCF1CC0E}"/>
              </a:ext>
            </a:extLst>
          </p:cNvPr>
          <p:cNvSpPr txBox="1"/>
          <p:nvPr/>
        </p:nvSpPr>
        <p:spPr>
          <a:xfrm>
            <a:off x="11201400" y="37759253"/>
            <a:ext cx="10775701"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Data, Charts, &amp; Models</a:t>
            </a:r>
          </a:p>
        </p:txBody>
      </p:sp>
      <p:sp>
        <p:nvSpPr>
          <p:cNvPr id="36" name="TextBox 35">
            <a:extLst>
              <a:ext uri="{FF2B5EF4-FFF2-40B4-BE49-F238E27FC236}">
                <a16:creationId xmlns:a16="http://schemas.microsoft.com/office/drawing/2014/main" id="{37DE4845-82FC-AAE2-8847-48F01115C620}"/>
              </a:ext>
            </a:extLst>
          </p:cNvPr>
          <p:cNvSpPr txBox="1"/>
          <p:nvPr/>
        </p:nvSpPr>
        <p:spPr>
          <a:xfrm>
            <a:off x="731520" y="34169017"/>
            <a:ext cx="9509760" cy="4893647"/>
          </a:xfrm>
          <a:prstGeom prst="rect">
            <a:avLst/>
          </a:prstGeom>
          <a:noFill/>
        </p:spPr>
        <p:txBody>
          <a:bodyPr wrap="square" rtlCol="0">
            <a:spAutoFit/>
          </a:bodyPr>
          <a:lstStyle>
            <a:defPPr>
              <a:defRPr kern="1200"/>
            </a:defPPr>
          </a:lstStyle>
          <a:p>
            <a:pPr algn="just"/>
            <a:r>
              <a:rPr lang="en-US" dirty="0"/>
              <a:t>A causal temporal convolutional network can predict future PAC at 5-10 second horizons where simpler methods fail, enabling adaptive stimulation scheduling that targets periods of genuine therapeutic need.</a:t>
            </a:r>
          </a:p>
          <a:p>
            <a:pPr algn="just"/>
            <a:endParaRPr lang="en-US" dirty="0"/>
          </a:p>
          <a:p>
            <a:pPr algn="just"/>
            <a:r>
              <a:rPr lang="en-US" dirty="0"/>
              <a:t>Prediction: Build a deep learning model that predicts brain entrainment state 5-10 seconds into the future — the minimum lead time required for a controller to act proactively</a:t>
            </a:r>
          </a:p>
          <a:p>
            <a:pPr algn="just"/>
            <a:endParaRPr lang="en-US" dirty="0"/>
          </a:p>
          <a:p>
            <a:pPr algn="just"/>
            <a:r>
              <a:rPr lang="en-US" dirty="0"/>
              <a:t>Control: Integrate predictions into a closed-loop controller that decides when to stimulate, rest, or maintain current state</a:t>
            </a:r>
          </a:p>
          <a:p>
            <a:pPr algn="just"/>
            <a:endParaRPr lang="en-US" dirty="0"/>
          </a:p>
          <a:p>
            <a:pPr algn="just"/>
            <a:r>
              <a:rPr lang="en-US" dirty="0"/>
              <a:t>Validation: Demonstrate on real patient EEG data (not just simulation) that predictive control outperforms both fixed schedules and reactive approaches</a:t>
            </a:r>
          </a:p>
        </p:txBody>
      </p:sp>
      <p:sp>
        <p:nvSpPr>
          <p:cNvPr id="37" name="TextBox 36">
            <a:extLst>
              <a:ext uri="{FF2B5EF4-FFF2-40B4-BE49-F238E27FC236}">
                <a16:creationId xmlns:a16="http://schemas.microsoft.com/office/drawing/2014/main" id="{7E3AA184-4867-7B54-DFA4-6E7F93EC4BBC}"/>
              </a:ext>
            </a:extLst>
          </p:cNvPr>
          <p:cNvSpPr txBox="1"/>
          <p:nvPr/>
        </p:nvSpPr>
        <p:spPr>
          <a:xfrm>
            <a:off x="11320272" y="38600501"/>
            <a:ext cx="10058400" cy="6370975"/>
          </a:xfrm>
          <a:prstGeom prst="rect">
            <a:avLst/>
          </a:prstGeom>
          <a:noFill/>
        </p:spPr>
        <p:txBody>
          <a:bodyPr wrap="square" rtlCol="0">
            <a:spAutoFit/>
          </a:bodyPr>
          <a:lstStyle>
            <a:defPPr>
              <a:defRPr kern="1200"/>
            </a:defPPr>
          </a:lstStyle>
          <a:p>
            <a:r>
              <a:rPr lang="en-US" dirty="0"/>
              <a:t>Figure 3 captures the project's central finding. At short prediction horizons (1-2 seconds), simple baselines perform well; persistence (just repeating the last observed value) achieves R² = 0.76, and Ridge egression reaches 0.81. At these timescales, PAC changes so little that "nothing will change" is a strong prediction, and the TCN offers no advantage.</a:t>
            </a:r>
          </a:p>
          <a:p>
            <a:endParaRPr lang="en-US" dirty="0"/>
          </a:p>
          <a:p>
            <a:r>
              <a:rPr lang="en-US" dirty="0"/>
              <a:t>But a closed-loop controller cannot act on 1-second predictions. By the time the system detects a decline, decides to stimulate, and the brain begins responding, 5-10 seconds have elapsed. This is the operationally relevant prediction window. At exactly these horizons, both baselines collapse to negative R² — performing worse than simply predicting the population mean — because PAC dynamics shift substantially over 5-10 seconds as stimulation blocks begin and end.</a:t>
            </a:r>
          </a:p>
          <a:p>
            <a:r>
              <a:rPr lang="en-US" dirty="0"/>
              <a:t> </a:t>
            </a:r>
          </a:p>
          <a:p>
            <a:r>
              <a:rPr lang="en-US" dirty="0"/>
              <a:t>The causal TCN (bottom of figure 4), by contrast, maintains R² of approximately 0.25 across the entire 5-10 second range. This +0.5 R² margin over baselines is what transforms PAC prediction from an academic exercise into a practical tool for proactive stimulation control.</a:t>
            </a:r>
          </a:p>
        </p:txBody>
      </p:sp>
      <p:sp>
        <p:nvSpPr>
          <p:cNvPr id="38" name="TextBox 37">
            <a:extLst>
              <a:ext uri="{FF2B5EF4-FFF2-40B4-BE49-F238E27FC236}">
                <a16:creationId xmlns:a16="http://schemas.microsoft.com/office/drawing/2014/main" id="{BB03B6A9-5EC8-AC59-B26D-712209928C4B}"/>
              </a:ext>
            </a:extLst>
          </p:cNvPr>
          <p:cNvSpPr txBox="1"/>
          <p:nvPr/>
        </p:nvSpPr>
        <p:spPr>
          <a:xfrm>
            <a:off x="33723072" y="8558784"/>
            <a:ext cx="9372600" cy="1569660"/>
          </a:xfrm>
          <a:prstGeom prst="rect">
            <a:avLst/>
          </a:prstGeom>
          <a:noFill/>
        </p:spPr>
        <p:txBody>
          <a:bodyPr wrap="square" rtlCol="0">
            <a:spAutoFit/>
          </a:bodyPr>
          <a:lstStyle>
            <a:defPPr>
              <a:defRPr kern="1200"/>
            </a:defPPr>
          </a:lstStyle>
          <a:p>
            <a:pPr algn="just"/>
            <a:r>
              <a:rPr lang="en-US" b="1" dirty="0"/>
              <a:t>Result 1: TCN Predictive Control Outperforms All Alternatives</a:t>
            </a:r>
          </a:p>
          <a:p>
            <a:pPr algn="just"/>
            <a:r>
              <a:rPr lang="en-US" b="1" dirty="0"/>
              <a:t>Controller performance replayed on all 35 subjects' real EEG:</a:t>
            </a:r>
          </a:p>
          <a:p>
            <a:pPr algn="just"/>
            <a:endParaRPr lang="en-US" b="1" dirty="0"/>
          </a:p>
          <a:p>
            <a:pPr algn="just"/>
            <a:endParaRPr lang="en-US" b="1" dirty="0"/>
          </a:p>
        </p:txBody>
      </p:sp>
      <p:graphicFrame>
        <p:nvGraphicFramePr>
          <p:cNvPr id="39" name="Table 38">
            <a:extLst>
              <a:ext uri="{FF2B5EF4-FFF2-40B4-BE49-F238E27FC236}">
                <a16:creationId xmlns:a16="http://schemas.microsoft.com/office/drawing/2014/main" id="{B26EACF4-02CC-5ACE-8785-8632BCD7DEB5}"/>
              </a:ext>
            </a:extLst>
          </p:cNvPr>
          <p:cNvGraphicFramePr>
            <a:graphicFrameLocks noGrp="1"/>
          </p:cNvGraphicFramePr>
          <p:nvPr>
            <p:extLst>
              <p:ext uri="{D42A27DB-BD31-4B8C-83A1-F6EECF244321}">
                <p14:modId xmlns:p14="http://schemas.microsoft.com/office/powerpoint/2010/main" val="785462437"/>
              </p:ext>
            </p:extLst>
          </p:nvPr>
        </p:nvGraphicFramePr>
        <p:xfrm>
          <a:off x="33805368" y="9520646"/>
          <a:ext cx="9169700" cy="3073456"/>
        </p:xfrm>
        <a:graphic>
          <a:graphicData uri="http://schemas.openxmlformats.org/drawingml/2006/table">
            <a:tbl>
              <a:tblPr firstRow="1" bandRow="1">
                <a:tableStyleId>{93296810-A885-4BE3-A3E7-6D5BEEA58F35}</a:tableStyleId>
              </a:tblPr>
              <a:tblGrid>
                <a:gridCol w="1833940">
                  <a:extLst>
                    <a:ext uri="{9D8B030D-6E8A-4147-A177-3AD203B41FA5}">
                      <a16:colId xmlns:a16="http://schemas.microsoft.com/office/drawing/2014/main" val="3839222090"/>
                    </a:ext>
                  </a:extLst>
                </a:gridCol>
                <a:gridCol w="1833940">
                  <a:extLst>
                    <a:ext uri="{9D8B030D-6E8A-4147-A177-3AD203B41FA5}">
                      <a16:colId xmlns:a16="http://schemas.microsoft.com/office/drawing/2014/main" val="50388315"/>
                    </a:ext>
                  </a:extLst>
                </a:gridCol>
                <a:gridCol w="1833940">
                  <a:extLst>
                    <a:ext uri="{9D8B030D-6E8A-4147-A177-3AD203B41FA5}">
                      <a16:colId xmlns:a16="http://schemas.microsoft.com/office/drawing/2014/main" val="1426794024"/>
                    </a:ext>
                  </a:extLst>
                </a:gridCol>
                <a:gridCol w="1833940">
                  <a:extLst>
                    <a:ext uri="{9D8B030D-6E8A-4147-A177-3AD203B41FA5}">
                      <a16:colId xmlns:a16="http://schemas.microsoft.com/office/drawing/2014/main" val="1992107126"/>
                    </a:ext>
                  </a:extLst>
                </a:gridCol>
                <a:gridCol w="1833940">
                  <a:extLst>
                    <a:ext uri="{9D8B030D-6E8A-4147-A177-3AD203B41FA5}">
                      <a16:colId xmlns:a16="http://schemas.microsoft.com/office/drawing/2014/main" val="2191578843"/>
                    </a:ext>
                  </a:extLst>
                </a:gridCol>
              </a:tblGrid>
              <a:tr h="568709">
                <a:tc>
                  <a:txBody>
                    <a:bodyPr/>
                    <a:lstStyle/>
                    <a:p>
                      <a:r>
                        <a:rPr lang="en-US" dirty="0"/>
                        <a:t>Controller</a:t>
                      </a:r>
                    </a:p>
                  </a:txBody>
                  <a:tcPr/>
                </a:tc>
                <a:tc>
                  <a:txBody>
                    <a:bodyPr/>
                    <a:lstStyle/>
                    <a:p>
                      <a:r>
                        <a:rPr lang="en-US" dirty="0"/>
                        <a:t>Alignment</a:t>
                      </a:r>
                    </a:p>
                  </a:txBody>
                  <a:tcPr/>
                </a:tc>
                <a:tc>
                  <a:txBody>
                    <a:bodyPr/>
                    <a:lstStyle/>
                    <a:p>
                      <a:r>
                        <a:rPr lang="en-US" dirty="0"/>
                        <a:t>Low-PAC Targeting</a:t>
                      </a:r>
                    </a:p>
                  </a:txBody>
                  <a:tcPr/>
                </a:tc>
                <a:tc>
                  <a:txBody>
                    <a:bodyPr/>
                    <a:lstStyle/>
                    <a:p>
                      <a:r>
                        <a:rPr lang="en-US" dirty="0"/>
                        <a:t>PAC Gap (</a:t>
                      </a:r>
                      <a:r>
                        <a:rPr lang="en-US" sz="1800" b="1" kern="1200" dirty="0">
                          <a:solidFill>
                            <a:schemeClr val="lt1"/>
                          </a:solidFill>
                          <a:effectLst/>
                        </a:rPr>
                        <a:t>µV²)</a:t>
                      </a:r>
                      <a:endParaRPr lang="en-US" dirty="0"/>
                    </a:p>
                  </a:txBody>
                  <a:tcPr/>
                </a:tc>
                <a:tc>
                  <a:txBody>
                    <a:bodyPr/>
                    <a:lstStyle/>
                    <a:p>
                      <a:r>
                        <a:rPr lang="en-US" dirty="0"/>
                        <a:t>Stim %</a:t>
                      </a:r>
                    </a:p>
                  </a:txBody>
                  <a:tcPr/>
                </a:tc>
                <a:extLst>
                  <a:ext uri="{0D108BD9-81ED-4DB2-BD59-A6C34878D82A}">
                    <a16:rowId xmlns:a16="http://schemas.microsoft.com/office/drawing/2014/main" val="1483437577"/>
                  </a:ext>
                </a:extLst>
              </a:tr>
              <a:tr h="576608">
                <a:tc>
                  <a:txBody>
                    <a:bodyPr/>
                    <a:lstStyle/>
                    <a:p>
                      <a:r>
                        <a:rPr lang="en-US" dirty="0"/>
                        <a:t>Fixed Schedule</a:t>
                      </a:r>
                    </a:p>
                  </a:txBody>
                  <a:tcPr/>
                </a:tc>
                <a:tc>
                  <a:txBody>
                    <a:bodyPr/>
                    <a:lstStyle/>
                    <a:p>
                      <a:r>
                        <a:rPr lang="en-US" dirty="0"/>
                        <a:t>45.0%</a:t>
                      </a:r>
                    </a:p>
                  </a:txBody>
                  <a:tcPr/>
                </a:tc>
                <a:tc>
                  <a:txBody>
                    <a:bodyPr/>
                    <a:lstStyle/>
                    <a:p>
                      <a:r>
                        <a:rPr lang="en-US" dirty="0"/>
                        <a:t>61.4%</a:t>
                      </a:r>
                    </a:p>
                  </a:txBody>
                  <a:tcPr/>
                </a:tc>
                <a:tc>
                  <a:txBody>
                    <a:bodyPr/>
                    <a:lstStyle/>
                    <a:p>
                      <a:r>
                        <a:rPr lang="en-US" dirty="0"/>
                        <a:t>-6.6 (wrong direction)</a:t>
                      </a:r>
                    </a:p>
                  </a:txBody>
                  <a:tcPr/>
                </a:tc>
                <a:tc>
                  <a:txBody>
                    <a:bodyPr/>
                    <a:lstStyle/>
                    <a:p>
                      <a:r>
                        <a:rPr lang="en-US" dirty="0"/>
                        <a:t>66.6%</a:t>
                      </a:r>
                    </a:p>
                  </a:txBody>
                  <a:tcPr/>
                </a:tc>
                <a:extLst>
                  <a:ext uri="{0D108BD9-81ED-4DB2-BD59-A6C34878D82A}">
                    <a16:rowId xmlns:a16="http://schemas.microsoft.com/office/drawing/2014/main" val="3950006189"/>
                  </a:ext>
                </a:extLst>
              </a:tr>
              <a:tr h="576608">
                <a:tc>
                  <a:txBody>
                    <a:bodyPr/>
                    <a:lstStyle/>
                    <a:p>
                      <a:r>
                        <a:rPr lang="en-US" dirty="0"/>
                        <a:t>Reactive</a:t>
                      </a:r>
                    </a:p>
                  </a:txBody>
                  <a:tcPr/>
                </a:tc>
                <a:tc>
                  <a:txBody>
                    <a:bodyPr/>
                    <a:lstStyle/>
                    <a:p>
                      <a:r>
                        <a:rPr lang="en-US" dirty="0"/>
                        <a:t>64.5%</a:t>
                      </a:r>
                    </a:p>
                  </a:txBody>
                  <a:tcPr/>
                </a:tc>
                <a:tc>
                  <a:txBody>
                    <a:bodyPr/>
                    <a:lstStyle/>
                    <a:p>
                      <a:r>
                        <a:rPr lang="en-US" dirty="0"/>
                        <a:t>51.7%</a:t>
                      </a:r>
                    </a:p>
                  </a:txBody>
                  <a:tcPr/>
                </a:tc>
                <a:tc>
                  <a:txBody>
                    <a:bodyPr/>
                    <a:lstStyle/>
                    <a:p>
                      <a:r>
                        <a:rPr lang="en-US" dirty="0"/>
                        <a:t>+21.1</a:t>
                      </a:r>
                    </a:p>
                  </a:txBody>
                  <a:tcPr/>
                </a:tc>
                <a:tc>
                  <a:txBody>
                    <a:bodyPr/>
                    <a:lstStyle/>
                    <a:p>
                      <a:r>
                        <a:rPr lang="en-US" dirty="0"/>
                        <a:t>36.7%</a:t>
                      </a:r>
                    </a:p>
                  </a:txBody>
                  <a:tcPr/>
                </a:tc>
                <a:extLst>
                  <a:ext uri="{0D108BD9-81ED-4DB2-BD59-A6C34878D82A}">
                    <a16:rowId xmlns:a16="http://schemas.microsoft.com/office/drawing/2014/main" val="3910811135"/>
                  </a:ext>
                </a:extLst>
              </a:tr>
              <a:tr h="576608">
                <a:tc>
                  <a:txBody>
                    <a:bodyPr/>
                    <a:lstStyle/>
                    <a:p>
                      <a:r>
                        <a:rPr lang="en-US" b="1" dirty="0"/>
                        <a:t>TCN Predictive</a:t>
                      </a:r>
                    </a:p>
                  </a:txBody>
                  <a:tcPr/>
                </a:tc>
                <a:tc>
                  <a:txBody>
                    <a:bodyPr/>
                    <a:lstStyle/>
                    <a:p>
                      <a:r>
                        <a:rPr lang="en-US" b="1" dirty="0"/>
                        <a:t>72.1%</a:t>
                      </a:r>
                    </a:p>
                  </a:txBody>
                  <a:tcPr/>
                </a:tc>
                <a:tc>
                  <a:txBody>
                    <a:bodyPr/>
                    <a:lstStyle/>
                    <a:p>
                      <a:r>
                        <a:rPr lang="en-US" b="1" dirty="0"/>
                        <a:t>82.6%</a:t>
                      </a:r>
                    </a:p>
                  </a:txBody>
                  <a:tcPr/>
                </a:tc>
                <a:tc>
                  <a:txBody>
                    <a:bodyPr/>
                    <a:lstStyle/>
                    <a:p>
                      <a:r>
                        <a:rPr lang="en-US" b="1" dirty="0"/>
                        <a:t>+30.5</a:t>
                      </a:r>
                    </a:p>
                  </a:txBody>
                  <a:tcPr/>
                </a:tc>
                <a:tc>
                  <a:txBody>
                    <a:bodyPr/>
                    <a:lstStyle/>
                    <a:p>
                      <a:r>
                        <a:rPr lang="en-US" b="1" dirty="0"/>
                        <a:t>59.7%</a:t>
                      </a:r>
                    </a:p>
                  </a:txBody>
                  <a:tcPr/>
                </a:tc>
                <a:extLst>
                  <a:ext uri="{0D108BD9-81ED-4DB2-BD59-A6C34878D82A}">
                    <a16:rowId xmlns:a16="http://schemas.microsoft.com/office/drawing/2014/main" val="2054531399"/>
                  </a:ext>
                </a:extLst>
              </a:tr>
              <a:tr h="576608">
                <a:tc>
                  <a:txBody>
                    <a:bodyPr/>
                    <a:lstStyle/>
                    <a:p>
                      <a:r>
                        <a:rPr lang="en-US" dirty="0"/>
                        <a:t>Oracle (upper bound)</a:t>
                      </a:r>
                    </a:p>
                  </a:txBody>
                  <a:tcPr/>
                </a:tc>
                <a:tc>
                  <a:txBody>
                    <a:bodyPr/>
                    <a:lstStyle/>
                    <a:p>
                      <a:r>
                        <a:rPr lang="en-US" dirty="0"/>
                        <a:t>100.0%</a:t>
                      </a:r>
                    </a:p>
                  </a:txBody>
                  <a:tcPr/>
                </a:tc>
                <a:tc>
                  <a:txBody>
                    <a:bodyPr/>
                    <a:lstStyle/>
                    <a:p>
                      <a:r>
                        <a:rPr lang="en-US" dirty="0"/>
                        <a:t>100.0%</a:t>
                      </a:r>
                    </a:p>
                  </a:txBody>
                  <a:tcPr/>
                </a:tc>
                <a:tc>
                  <a:txBody>
                    <a:bodyPr/>
                    <a:lstStyle/>
                    <a:p>
                      <a:r>
                        <a:rPr lang="en-US" dirty="0"/>
                        <a:t>+33.3</a:t>
                      </a:r>
                    </a:p>
                  </a:txBody>
                  <a:tcPr/>
                </a:tc>
                <a:tc>
                  <a:txBody>
                    <a:bodyPr/>
                    <a:lstStyle/>
                    <a:p>
                      <a:r>
                        <a:rPr lang="en-US" dirty="0"/>
                        <a:t>48.3%</a:t>
                      </a:r>
                    </a:p>
                  </a:txBody>
                  <a:tcPr/>
                </a:tc>
                <a:extLst>
                  <a:ext uri="{0D108BD9-81ED-4DB2-BD59-A6C34878D82A}">
                    <a16:rowId xmlns:a16="http://schemas.microsoft.com/office/drawing/2014/main" val="3610958757"/>
                  </a:ext>
                </a:extLst>
              </a:tr>
            </a:tbl>
          </a:graphicData>
        </a:graphic>
      </p:graphicFrame>
      <p:sp>
        <p:nvSpPr>
          <p:cNvPr id="40" name="TextBox 39">
            <a:extLst>
              <a:ext uri="{FF2B5EF4-FFF2-40B4-BE49-F238E27FC236}">
                <a16:creationId xmlns:a16="http://schemas.microsoft.com/office/drawing/2014/main" id="{394BE20B-692B-BAFA-8246-626FAF715D34}"/>
              </a:ext>
            </a:extLst>
          </p:cNvPr>
          <p:cNvSpPr txBox="1"/>
          <p:nvPr/>
        </p:nvSpPr>
        <p:spPr>
          <a:xfrm>
            <a:off x="33723072" y="12573000"/>
            <a:ext cx="9372600" cy="1200329"/>
          </a:xfrm>
          <a:prstGeom prst="rect">
            <a:avLst/>
          </a:prstGeom>
          <a:noFill/>
        </p:spPr>
        <p:txBody>
          <a:bodyPr wrap="square" rtlCol="0">
            <a:spAutoFit/>
          </a:bodyPr>
          <a:lstStyle>
            <a:defPPr>
              <a:defRPr kern="1200"/>
            </a:defPPr>
          </a:lstStyle>
          <a:p>
            <a:pPr algn="just"/>
            <a:r>
              <a:rPr lang="en-US" dirty="0"/>
              <a:t>TCN vs Reactive: Alignment g = +1.31, Low-PAC targeting g = +4.47, PAC gap g = +1.57 (all p &lt; 0.001, Wilcoxon signed-rank). TCN reaches 91% of the theoretical oracle bound.</a:t>
            </a:r>
          </a:p>
        </p:txBody>
      </p:sp>
      <p:pic>
        <p:nvPicPr>
          <p:cNvPr id="43" name="Picture 42">
            <a:extLst>
              <a:ext uri="{FF2B5EF4-FFF2-40B4-BE49-F238E27FC236}">
                <a16:creationId xmlns:a16="http://schemas.microsoft.com/office/drawing/2014/main" id="{FE70D03D-E294-943B-D137-77C2733A6F3E}"/>
              </a:ext>
            </a:extLst>
          </p:cNvPr>
          <p:cNvPicPr>
            <a:picLocks noChangeAspect="1"/>
          </p:cNvPicPr>
          <p:nvPr/>
        </p:nvPicPr>
        <p:blipFill>
          <a:blip r:embed="rId6"/>
          <a:stretch>
            <a:fillRect/>
          </a:stretch>
        </p:blipFill>
        <p:spPr>
          <a:xfrm>
            <a:off x="33549336" y="13716000"/>
            <a:ext cx="9722612" cy="5298064"/>
          </a:xfrm>
          <a:prstGeom prst="rect">
            <a:avLst/>
          </a:prstGeom>
        </p:spPr>
      </p:pic>
      <p:sp>
        <p:nvSpPr>
          <p:cNvPr id="44" name="TextBox 43">
            <a:extLst>
              <a:ext uri="{FF2B5EF4-FFF2-40B4-BE49-F238E27FC236}">
                <a16:creationId xmlns:a16="http://schemas.microsoft.com/office/drawing/2014/main" id="{EB3CB05E-5E8E-96F1-D22C-E57641116716}"/>
              </a:ext>
            </a:extLst>
          </p:cNvPr>
          <p:cNvSpPr txBox="1"/>
          <p:nvPr/>
        </p:nvSpPr>
        <p:spPr>
          <a:xfrm>
            <a:off x="33818054" y="18821400"/>
            <a:ext cx="9169698" cy="461665"/>
          </a:xfrm>
          <a:prstGeom prst="rect">
            <a:avLst/>
          </a:prstGeom>
          <a:noFill/>
        </p:spPr>
        <p:txBody>
          <a:bodyPr wrap="square" rtlCol="0">
            <a:spAutoFit/>
          </a:bodyPr>
          <a:lstStyle>
            <a:defPPr>
              <a:defRPr kern="1200"/>
            </a:defPPr>
          </a:lstStyle>
          <a:p>
            <a:pPr algn="just"/>
            <a:r>
              <a:rPr lang="en-US" b="1" dirty="0"/>
              <a:t>Result 2: Every Patient Benefits</a:t>
            </a:r>
            <a:endParaRPr lang="en-US" dirty="0"/>
          </a:p>
        </p:txBody>
      </p:sp>
      <p:sp>
        <p:nvSpPr>
          <p:cNvPr id="45" name="TextBox 44">
            <a:extLst>
              <a:ext uri="{FF2B5EF4-FFF2-40B4-BE49-F238E27FC236}">
                <a16:creationId xmlns:a16="http://schemas.microsoft.com/office/drawing/2014/main" id="{3E48B729-1916-AA61-7297-972DAD18D636}"/>
              </a:ext>
            </a:extLst>
          </p:cNvPr>
          <p:cNvSpPr txBox="1"/>
          <p:nvPr/>
        </p:nvSpPr>
        <p:spPr>
          <a:xfrm>
            <a:off x="33723072" y="24757851"/>
            <a:ext cx="9372600" cy="3046988"/>
          </a:xfrm>
          <a:prstGeom prst="rect">
            <a:avLst/>
          </a:prstGeom>
          <a:noFill/>
        </p:spPr>
        <p:txBody>
          <a:bodyPr wrap="square" rtlCol="0">
            <a:spAutoFit/>
          </a:bodyPr>
          <a:lstStyle>
            <a:defPPr>
              <a:defRPr kern="1200"/>
            </a:defPPr>
          </a:lstStyle>
          <a:p>
            <a:pPr algn="just"/>
            <a:r>
              <a:rPr lang="en-US" dirty="0"/>
              <a:t>35/35 subjects (100%) show higher clinical utility with TCN vs Reactive (binomial p &lt; 0.001). The advantage holds across train (24), validation (5), and test (6) subject splits, including 6 subjects the model never saw during training.</a:t>
            </a:r>
          </a:p>
          <a:p>
            <a:pPr algn="just"/>
            <a:endParaRPr lang="en-US" dirty="0"/>
          </a:p>
          <a:p>
            <a:pPr algn="just"/>
            <a:r>
              <a:rPr lang="en-US" b="1" dirty="0"/>
              <a:t>Result 3: Adaptive Advantage Increases with Fatigue</a:t>
            </a:r>
          </a:p>
          <a:p>
            <a:pPr algn="just"/>
            <a:r>
              <a:rPr lang="en-US" dirty="0"/>
              <a:t>Simulation results across 6 fatigue severity levels (n = 50 trials each):</a:t>
            </a:r>
            <a:endParaRPr lang="en-US" b="1" dirty="0"/>
          </a:p>
          <a:p>
            <a:pPr algn="just"/>
            <a:endParaRPr lang="en-US" dirty="0"/>
          </a:p>
        </p:txBody>
      </p:sp>
      <p:pic>
        <p:nvPicPr>
          <p:cNvPr id="71" name="Picture 70">
            <a:extLst>
              <a:ext uri="{FF2B5EF4-FFF2-40B4-BE49-F238E27FC236}">
                <a16:creationId xmlns:a16="http://schemas.microsoft.com/office/drawing/2014/main" id="{5D353BB6-E78B-BF74-4D36-2DDD40ED3342}"/>
              </a:ext>
            </a:extLst>
          </p:cNvPr>
          <p:cNvPicPr>
            <a:picLocks noChangeAspect="1"/>
          </p:cNvPicPr>
          <p:nvPr/>
        </p:nvPicPr>
        <p:blipFill>
          <a:blip r:embed="rId7"/>
          <a:stretch>
            <a:fillRect/>
          </a:stretch>
        </p:blipFill>
        <p:spPr>
          <a:xfrm>
            <a:off x="33723072" y="19392334"/>
            <a:ext cx="9371391" cy="5106676"/>
          </a:xfrm>
          <a:prstGeom prst="rect">
            <a:avLst/>
          </a:prstGeom>
        </p:spPr>
      </p:pic>
      <p:graphicFrame>
        <p:nvGraphicFramePr>
          <p:cNvPr id="73" name="Table 72">
            <a:extLst>
              <a:ext uri="{FF2B5EF4-FFF2-40B4-BE49-F238E27FC236}">
                <a16:creationId xmlns:a16="http://schemas.microsoft.com/office/drawing/2014/main" id="{24B70595-7B2E-A1FE-E80E-88C193EA1206}"/>
              </a:ext>
            </a:extLst>
          </p:cNvPr>
          <p:cNvGraphicFramePr>
            <a:graphicFrameLocks noGrp="1"/>
          </p:cNvGraphicFramePr>
          <p:nvPr>
            <p:extLst>
              <p:ext uri="{D42A27DB-BD31-4B8C-83A1-F6EECF244321}">
                <p14:modId xmlns:p14="http://schemas.microsoft.com/office/powerpoint/2010/main" val="2987628580"/>
              </p:ext>
            </p:extLst>
          </p:nvPr>
        </p:nvGraphicFramePr>
        <p:xfrm>
          <a:off x="34079688" y="27488332"/>
          <a:ext cx="8662556" cy="3451749"/>
        </p:xfrm>
        <a:graphic>
          <a:graphicData uri="http://schemas.openxmlformats.org/drawingml/2006/table">
            <a:tbl>
              <a:tblPr firstRow="1" bandRow="1">
                <a:tableStyleId>{93296810-A885-4BE3-A3E7-6D5BEEA58F35}</a:tableStyleId>
              </a:tblPr>
              <a:tblGrid>
                <a:gridCol w="2165639">
                  <a:extLst>
                    <a:ext uri="{9D8B030D-6E8A-4147-A177-3AD203B41FA5}">
                      <a16:colId xmlns:a16="http://schemas.microsoft.com/office/drawing/2014/main" val="3839222090"/>
                    </a:ext>
                  </a:extLst>
                </a:gridCol>
                <a:gridCol w="2165639">
                  <a:extLst>
                    <a:ext uri="{9D8B030D-6E8A-4147-A177-3AD203B41FA5}">
                      <a16:colId xmlns:a16="http://schemas.microsoft.com/office/drawing/2014/main" val="50388315"/>
                    </a:ext>
                  </a:extLst>
                </a:gridCol>
                <a:gridCol w="2165639">
                  <a:extLst>
                    <a:ext uri="{9D8B030D-6E8A-4147-A177-3AD203B41FA5}">
                      <a16:colId xmlns:a16="http://schemas.microsoft.com/office/drawing/2014/main" val="1426794024"/>
                    </a:ext>
                  </a:extLst>
                </a:gridCol>
                <a:gridCol w="2165639">
                  <a:extLst>
                    <a:ext uri="{9D8B030D-6E8A-4147-A177-3AD203B41FA5}">
                      <a16:colId xmlns:a16="http://schemas.microsoft.com/office/drawing/2014/main" val="1992107126"/>
                    </a:ext>
                  </a:extLst>
                </a:gridCol>
              </a:tblGrid>
              <a:tr h="568709">
                <a:tc>
                  <a:txBody>
                    <a:bodyPr/>
                    <a:lstStyle/>
                    <a:p>
                      <a:r>
                        <a:rPr lang="en-US" dirty="0"/>
                        <a:t>Fatigue Level</a:t>
                      </a:r>
                    </a:p>
                  </a:txBody>
                  <a:tcPr/>
                </a:tc>
                <a:tc>
                  <a:txBody>
                    <a:bodyPr/>
                    <a:lstStyle/>
                    <a:p>
                      <a:r>
                        <a:rPr lang="en-US" dirty="0"/>
                        <a:t>Fixed Efficiency</a:t>
                      </a:r>
                    </a:p>
                  </a:txBody>
                  <a:tcPr/>
                </a:tc>
                <a:tc>
                  <a:txBody>
                    <a:bodyPr/>
                    <a:lstStyle/>
                    <a:p>
                      <a:r>
                        <a:rPr lang="en-US" dirty="0"/>
                        <a:t>Adaptive Efficiency</a:t>
                      </a:r>
                    </a:p>
                  </a:txBody>
                  <a:tcPr/>
                </a:tc>
                <a:tc>
                  <a:txBody>
                    <a:bodyPr/>
                    <a:lstStyle/>
                    <a:p>
                      <a:r>
                        <a:rPr lang="en-US" dirty="0"/>
                        <a:t>Improvement</a:t>
                      </a:r>
                    </a:p>
                  </a:txBody>
                  <a:tcPr/>
                </a:tc>
                <a:extLst>
                  <a:ext uri="{0D108BD9-81ED-4DB2-BD59-A6C34878D82A}">
                    <a16:rowId xmlns:a16="http://schemas.microsoft.com/office/drawing/2014/main" val="1483437577"/>
                  </a:ext>
                </a:extLst>
              </a:tr>
              <a:tr h="576608">
                <a:tc>
                  <a:txBody>
                    <a:bodyPr/>
                    <a:lstStyle/>
                    <a:p>
                      <a:r>
                        <a:rPr lang="en-US" dirty="0"/>
                        <a:t>None</a:t>
                      </a:r>
                    </a:p>
                  </a:txBody>
                  <a:tcPr/>
                </a:tc>
                <a:tc>
                  <a:txBody>
                    <a:bodyPr/>
                    <a:lstStyle/>
                    <a:p>
                      <a:r>
                        <a:rPr lang="en-US" dirty="0"/>
                        <a:t>0.343</a:t>
                      </a:r>
                    </a:p>
                  </a:txBody>
                  <a:tcPr/>
                </a:tc>
                <a:tc>
                  <a:txBody>
                    <a:bodyPr/>
                    <a:lstStyle/>
                    <a:p>
                      <a:r>
                        <a:rPr lang="en-US" dirty="0"/>
                        <a:t>0.375</a:t>
                      </a:r>
                    </a:p>
                  </a:txBody>
                  <a:tcPr/>
                </a:tc>
                <a:tc>
                  <a:txBody>
                    <a:bodyPr/>
                    <a:lstStyle/>
                    <a:p>
                      <a:r>
                        <a:rPr lang="en-US" dirty="0"/>
                        <a:t>+9.5%***</a:t>
                      </a:r>
                    </a:p>
                  </a:txBody>
                  <a:tcPr/>
                </a:tc>
                <a:extLst>
                  <a:ext uri="{0D108BD9-81ED-4DB2-BD59-A6C34878D82A}">
                    <a16:rowId xmlns:a16="http://schemas.microsoft.com/office/drawing/2014/main" val="3950006189"/>
                  </a:ext>
                </a:extLst>
              </a:tr>
              <a:tr h="576608">
                <a:tc>
                  <a:txBody>
                    <a:bodyPr/>
                    <a:lstStyle/>
                    <a:p>
                      <a:r>
                        <a:rPr lang="en-US" dirty="0"/>
                        <a:t>Mild</a:t>
                      </a:r>
                    </a:p>
                  </a:txBody>
                  <a:tcPr/>
                </a:tc>
                <a:tc>
                  <a:txBody>
                    <a:bodyPr/>
                    <a:lstStyle/>
                    <a:p>
                      <a:r>
                        <a:rPr lang="en-US" dirty="0"/>
                        <a:t>0.341</a:t>
                      </a:r>
                    </a:p>
                  </a:txBody>
                  <a:tcPr/>
                </a:tc>
                <a:tc>
                  <a:txBody>
                    <a:bodyPr/>
                    <a:lstStyle/>
                    <a:p>
                      <a:r>
                        <a:rPr lang="en-US" dirty="0"/>
                        <a:t>0.375</a:t>
                      </a:r>
                    </a:p>
                  </a:txBody>
                  <a:tcPr/>
                </a:tc>
                <a:tc>
                  <a:txBody>
                    <a:bodyPr/>
                    <a:lstStyle/>
                    <a:p>
                      <a:r>
                        <a:rPr lang="en-US" dirty="0"/>
                        <a:t>+10.0%***</a:t>
                      </a:r>
                    </a:p>
                  </a:txBody>
                  <a:tcPr/>
                </a:tc>
                <a:extLst>
                  <a:ext uri="{0D108BD9-81ED-4DB2-BD59-A6C34878D82A}">
                    <a16:rowId xmlns:a16="http://schemas.microsoft.com/office/drawing/2014/main" val="3910811135"/>
                  </a:ext>
                </a:extLst>
              </a:tr>
              <a:tr h="576608">
                <a:tc>
                  <a:txBody>
                    <a:bodyPr/>
                    <a:lstStyle/>
                    <a:p>
                      <a:r>
                        <a:rPr lang="en-US" b="0" dirty="0"/>
                        <a:t>Moderate</a:t>
                      </a:r>
                    </a:p>
                  </a:txBody>
                  <a:tcPr/>
                </a:tc>
                <a:tc>
                  <a:txBody>
                    <a:bodyPr/>
                    <a:lstStyle/>
                    <a:p>
                      <a:r>
                        <a:rPr lang="en-US" b="0" dirty="0"/>
                        <a:t>0.335</a:t>
                      </a:r>
                    </a:p>
                  </a:txBody>
                  <a:tcPr/>
                </a:tc>
                <a:tc>
                  <a:txBody>
                    <a:bodyPr/>
                    <a:lstStyle/>
                    <a:p>
                      <a:r>
                        <a:rPr lang="en-US" b="0" dirty="0"/>
                        <a:t>0.366</a:t>
                      </a:r>
                    </a:p>
                  </a:txBody>
                  <a:tcPr/>
                </a:tc>
                <a:tc>
                  <a:txBody>
                    <a:bodyPr/>
                    <a:lstStyle/>
                    <a:p>
                      <a:r>
                        <a:rPr lang="en-US" b="0" dirty="0"/>
                        <a:t>+9.0%***</a:t>
                      </a:r>
                    </a:p>
                  </a:txBody>
                  <a:tcPr/>
                </a:tc>
                <a:extLst>
                  <a:ext uri="{0D108BD9-81ED-4DB2-BD59-A6C34878D82A}">
                    <a16:rowId xmlns:a16="http://schemas.microsoft.com/office/drawing/2014/main" val="2054531399"/>
                  </a:ext>
                </a:extLst>
              </a:tr>
              <a:tr h="576608">
                <a:tc>
                  <a:txBody>
                    <a:bodyPr/>
                    <a:lstStyle/>
                    <a:p>
                      <a:r>
                        <a:rPr lang="en-US" dirty="0"/>
                        <a:t>High</a:t>
                      </a:r>
                    </a:p>
                  </a:txBody>
                  <a:tcPr/>
                </a:tc>
                <a:tc>
                  <a:txBody>
                    <a:bodyPr/>
                    <a:lstStyle/>
                    <a:p>
                      <a:r>
                        <a:rPr lang="en-US" dirty="0"/>
                        <a:t>0.319</a:t>
                      </a:r>
                    </a:p>
                  </a:txBody>
                  <a:tcPr/>
                </a:tc>
                <a:tc>
                  <a:txBody>
                    <a:bodyPr/>
                    <a:lstStyle/>
                    <a:p>
                      <a:r>
                        <a:rPr lang="en-US" dirty="0"/>
                        <a:t>0.354</a:t>
                      </a:r>
                    </a:p>
                  </a:txBody>
                  <a:tcPr/>
                </a:tc>
                <a:tc>
                  <a:txBody>
                    <a:bodyPr/>
                    <a:lstStyle/>
                    <a:p>
                      <a:r>
                        <a:rPr lang="en-US" dirty="0"/>
                        <a:t>+10.8%***</a:t>
                      </a:r>
                    </a:p>
                  </a:txBody>
                  <a:tcPr/>
                </a:tc>
                <a:extLst>
                  <a:ext uri="{0D108BD9-81ED-4DB2-BD59-A6C34878D82A}">
                    <a16:rowId xmlns:a16="http://schemas.microsoft.com/office/drawing/2014/main" val="3610958757"/>
                  </a:ext>
                </a:extLst>
              </a:tr>
              <a:tr h="576608">
                <a:tc>
                  <a:txBody>
                    <a:bodyPr/>
                    <a:lstStyle/>
                    <a:p>
                      <a:r>
                        <a:rPr lang="en-US" dirty="0"/>
                        <a:t>Severe</a:t>
                      </a:r>
                    </a:p>
                  </a:txBody>
                  <a:tcPr/>
                </a:tc>
                <a:tc>
                  <a:txBody>
                    <a:bodyPr/>
                    <a:lstStyle/>
                    <a:p>
                      <a:r>
                        <a:rPr lang="en-US" dirty="0"/>
                        <a:t>0.316</a:t>
                      </a:r>
                    </a:p>
                  </a:txBody>
                  <a:tcPr/>
                </a:tc>
                <a:tc>
                  <a:txBody>
                    <a:bodyPr/>
                    <a:lstStyle/>
                    <a:p>
                      <a:r>
                        <a:rPr lang="en-US" dirty="0"/>
                        <a:t>0.352</a:t>
                      </a:r>
                    </a:p>
                  </a:txBody>
                  <a:tcPr/>
                </a:tc>
                <a:tc>
                  <a:txBody>
                    <a:bodyPr/>
                    <a:lstStyle/>
                    <a:p>
                      <a:r>
                        <a:rPr lang="en-US" dirty="0"/>
                        <a:t>+11.2%***</a:t>
                      </a:r>
                    </a:p>
                  </a:txBody>
                  <a:tcPr/>
                </a:tc>
                <a:extLst>
                  <a:ext uri="{0D108BD9-81ED-4DB2-BD59-A6C34878D82A}">
                    <a16:rowId xmlns:a16="http://schemas.microsoft.com/office/drawing/2014/main" val="1936147427"/>
                  </a:ext>
                </a:extLst>
              </a:tr>
            </a:tbl>
          </a:graphicData>
        </a:graphic>
      </p:graphicFrame>
      <p:sp>
        <p:nvSpPr>
          <p:cNvPr id="74" name="TextBox 73">
            <a:extLst>
              <a:ext uri="{FF2B5EF4-FFF2-40B4-BE49-F238E27FC236}">
                <a16:creationId xmlns:a16="http://schemas.microsoft.com/office/drawing/2014/main" id="{BE37E21D-EEEA-E7E1-A5F2-1362473E7033}"/>
              </a:ext>
            </a:extLst>
          </p:cNvPr>
          <p:cNvSpPr txBox="1"/>
          <p:nvPr/>
        </p:nvSpPr>
        <p:spPr>
          <a:xfrm>
            <a:off x="33723072" y="31141055"/>
            <a:ext cx="9372600" cy="3046988"/>
          </a:xfrm>
          <a:prstGeom prst="rect">
            <a:avLst/>
          </a:prstGeom>
          <a:noFill/>
        </p:spPr>
        <p:txBody>
          <a:bodyPr wrap="square" rtlCol="0">
            <a:spAutoFit/>
          </a:bodyPr>
          <a:lstStyle>
            <a:defPPr>
              <a:defRPr kern="1200"/>
            </a:defPPr>
          </a:lstStyle>
          <a:p>
            <a:pPr algn="just"/>
            <a:r>
              <a:rPr lang="en-US" dirty="0"/>
              <a:t>***p &lt; 0.001, Wilcoxon signed-rank, Hedges' g = 1.7-2.4 (large-very large effects) The adaptive advantage generally grows from +9.0% to +11.2% as fatigue worsens, exactly when personalization matters most.</a:t>
            </a:r>
          </a:p>
          <a:p>
            <a:pPr algn="just"/>
            <a:endParaRPr lang="en-US" dirty="0"/>
          </a:p>
          <a:p>
            <a:pPr algn="just"/>
            <a:r>
              <a:rPr lang="en-US" b="1" dirty="0"/>
              <a:t>Result 4: Robust Across Fatigue Model Assumptions</a:t>
            </a:r>
            <a:endParaRPr lang="en-US" dirty="0"/>
          </a:p>
          <a:p>
            <a:pPr algn="just"/>
            <a:r>
              <a:rPr lang="en-US" dirty="0"/>
              <a:t>Tested under 4 different mathematical models of neural fatigue (n = 50 trials each):</a:t>
            </a:r>
          </a:p>
          <a:p>
            <a:pPr algn="just"/>
            <a:endParaRPr lang="en-US" dirty="0"/>
          </a:p>
        </p:txBody>
      </p:sp>
      <p:graphicFrame>
        <p:nvGraphicFramePr>
          <p:cNvPr id="75" name="Table 74">
            <a:extLst>
              <a:ext uri="{FF2B5EF4-FFF2-40B4-BE49-F238E27FC236}">
                <a16:creationId xmlns:a16="http://schemas.microsoft.com/office/drawing/2014/main" id="{34CD15DE-2C6F-BA1F-07B4-9A7AD2D70623}"/>
              </a:ext>
            </a:extLst>
          </p:cNvPr>
          <p:cNvGraphicFramePr>
            <a:graphicFrameLocks noGrp="1"/>
          </p:cNvGraphicFramePr>
          <p:nvPr>
            <p:extLst>
              <p:ext uri="{D42A27DB-BD31-4B8C-83A1-F6EECF244321}">
                <p14:modId xmlns:p14="http://schemas.microsoft.com/office/powerpoint/2010/main" val="3329942779"/>
              </p:ext>
            </p:extLst>
          </p:nvPr>
        </p:nvGraphicFramePr>
        <p:xfrm>
          <a:off x="34061400" y="33895759"/>
          <a:ext cx="8662556" cy="2938613"/>
        </p:xfrm>
        <a:graphic>
          <a:graphicData uri="http://schemas.openxmlformats.org/drawingml/2006/table">
            <a:tbl>
              <a:tblPr firstRow="1" bandRow="1">
                <a:tableStyleId>{2A488322-F2BA-4B5B-9748-0D474271808F}</a:tableStyleId>
              </a:tblPr>
              <a:tblGrid>
                <a:gridCol w="2165639">
                  <a:extLst>
                    <a:ext uri="{9D8B030D-6E8A-4147-A177-3AD203B41FA5}">
                      <a16:colId xmlns:a16="http://schemas.microsoft.com/office/drawing/2014/main" val="3839222090"/>
                    </a:ext>
                  </a:extLst>
                </a:gridCol>
                <a:gridCol w="2165639">
                  <a:extLst>
                    <a:ext uri="{9D8B030D-6E8A-4147-A177-3AD203B41FA5}">
                      <a16:colId xmlns:a16="http://schemas.microsoft.com/office/drawing/2014/main" val="50388315"/>
                    </a:ext>
                  </a:extLst>
                </a:gridCol>
                <a:gridCol w="2165639">
                  <a:extLst>
                    <a:ext uri="{9D8B030D-6E8A-4147-A177-3AD203B41FA5}">
                      <a16:colId xmlns:a16="http://schemas.microsoft.com/office/drawing/2014/main" val="1426794024"/>
                    </a:ext>
                  </a:extLst>
                </a:gridCol>
                <a:gridCol w="2165639">
                  <a:extLst>
                    <a:ext uri="{9D8B030D-6E8A-4147-A177-3AD203B41FA5}">
                      <a16:colId xmlns:a16="http://schemas.microsoft.com/office/drawing/2014/main" val="1992107126"/>
                    </a:ext>
                  </a:extLst>
                </a:gridCol>
              </a:tblGrid>
              <a:tr h="568709">
                <a:tc>
                  <a:txBody>
                    <a:bodyPr/>
                    <a:lstStyle/>
                    <a:p>
                      <a:r>
                        <a:rPr lang="en-US"/>
                        <a:t>Fatigue Model</a:t>
                      </a:r>
                      <a:endParaRPr lang="en-US" dirty="0"/>
                    </a:p>
                  </a:txBody>
                  <a:tcPr/>
                </a:tc>
                <a:tc>
                  <a:txBody>
                    <a:bodyPr/>
                    <a:lstStyle/>
                    <a:p>
                      <a:r>
                        <a:rPr lang="en-US"/>
                        <a:t>Advantage</a:t>
                      </a:r>
                      <a:endParaRPr lang="en-US" dirty="0"/>
                    </a:p>
                  </a:txBody>
                  <a:tcPr/>
                </a:tc>
                <a:tc>
                  <a:txBody>
                    <a:bodyPr/>
                    <a:lstStyle/>
                    <a:p>
                      <a:r>
                        <a:rPr lang="en-US"/>
                        <a:t>P-value</a:t>
                      </a:r>
                      <a:endParaRPr lang="en-US" dirty="0"/>
                    </a:p>
                  </a:txBody>
                  <a:tcPr/>
                </a:tc>
                <a:tc>
                  <a:txBody>
                    <a:bodyPr/>
                    <a:lstStyle/>
                    <a:p>
                      <a:r>
                        <a:rPr lang="en-US"/>
                        <a:t>Hedges’ g</a:t>
                      </a:r>
                      <a:endParaRPr lang="en-US" dirty="0"/>
                    </a:p>
                  </a:txBody>
                  <a:tcPr/>
                </a:tc>
                <a:extLst>
                  <a:ext uri="{0D108BD9-81ED-4DB2-BD59-A6C34878D82A}">
                    <a16:rowId xmlns:a16="http://schemas.microsoft.com/office/drawing/2014/main" val="1483437577"/>
                  </a:ext>
                </a:extLst>
              </a:tr>
              <a:tr h="576608">
                <a:tc>
                  <a:txBody>
                    <a:bodyPr/>
                    <a:lstStyle/>
                    <a:p>
                      <a:r>
                        <a:rPr lang="en-US"/>
                        <a:t>Exponential Decay</a:t>
                      </a:r>
                      <a:endParaRPr lang="en-US" dirty="0"/>
                    </a:p>
                  </a:txBody>
                  <a:tcPr/>
                </a:tc>
                <a:tc>
                  <a:txBody>
                    <a:bodyPr/>
                    <a:lstStyle/>
                    <a:p>
                      <a:r>
                        <a:rPr lang="en-US"/>
                        <a:t>+9.0%</a:t>
                      </a:r>
                      <a:endParaRPr lang="en-US" dirty="0"/>
                    </a:p>
                  </a:txBody>
                  <a:tcPr/>
                </a:tc>
                <a:tc>
                  <a:txBody>
                    <a:bodyPr/>
                    <a:lstStyle/>
                    <a:p>
                      <a:r>
                        <a:rPr lang="en-US" sz="1800" b="0" kern="1200">
                          <a:solidFill>
                            <a:schemeClr val="dk1"/>
                          </a:solidFill>
                          <a:effectLst/>
                        </a:rPr>
                        <a:t>1.8 × 10⁻¹⁵</a:t>
                      </a:r>
                      <a:endParaRPr lang="en-US" dirty="0"/>
                    </a:p>
                  </a:txBody>
                  <a:tcPr/>
                </a:tc>
                <a:tc>
                  <a:txBody>
                    <a:bodyPr/>
                    <a:lstStyle/>
                    <a:p>
                      <a:r>
                        <a:rPr lang="en-US" dirty="0"/>
                        <a:t>2.31</a:t>
                      </a:r>
                    </a:p>
                  </a:txBody>
                  <a:tcPr/>
                </a:tc>
                <a:extLst>
                  <a:ext uri="{0D108BD9-81ED-4DB2-BD59-A6C34878D82A}">
                    <a16:rowId xmlns:a16="http://schemas.microsoft.com/office/drawing/2014/main" val="3950006189"/>
                  </a:ext>
                </a:extLst>
              </a:tr>
              <a:tr h="576608">
                <a:tc>
                  <a:txBody>
                    <a:bodyPr/>
                    <a:lstStyle/>
                    <a:p>
                      <a:r>
                        <a:rPr lang="en-US"/>
                        <a:t>Step Function</a:t>
                      </a:r>
                      <a:endParaRPr lang="en-US" dirty="0"/>
                    </a:p>
                  </a:txBody>
                  <a:tcPr/>
                </a:tc>
                <a:tc>
                  <a:txBody>
                    <a:bodyPr/>
                    <a:lstStyle/>
                    <a:p>
                      <a:r>
                        <a:rPr lang="en-US"/>
                        <a:t>+6.9%</a:t>
                      </a:r>
                      <a:endParaRPr lang="en-US" dirty="0"/>
                    </a:p>
                  </a:txBody>
                  <a:tcPr/>
                </a:tc>
                <a:tc>
                  <a:txBody>
                    <a:bodyPr/>
                    <a:lstStyle/>
                    <a:p>
                      <a:r>
                        <a:rPr lang="en-US" sz="1800" b="0" kern="1200">
                          <a:solidFill>
                            <a:schemeClr val="dk1"/>
                          </a:solidFill>
                          <a:effectLst/>
                        </a:rPr>
                        <a:t>4.4 × 10⁻¹⁴</a:t>
                      </a:r>
                      <a:endParaRPr lang="en-US" dirty="0"/>
                    </a:p>
                  </a:txBody>
                  <a:tcPr/>
                </a:tc>
                <a:tc>
                  <a:txBody>
                    <a:bodyPr/>
                    <a:lstStyle/>
                    <a:p>
                      <a:r>
                        <a:rPr lang="en-US" sz="1800" b="0" kern="1200" dirty="0">
                          <a:solidFill>
                            <a:schemeClr val="dk1"/>
                          </a:solidFill>
                          <a:effectLst/>
                        </a:rPr>
                        <a:t>1.21</a:t>
                      </a:r>
                      <a:endParaRPr lang="en-US" dirty="0"/>
                    </a:p>
                  </a:txBody>
                  <a:tcPr/>
                </a:tc>
                <a:extLst>
                  <a:ext uri="{0D108BD9-81ED-4DB2-BD59-A6C34878D82A}">
                    <a16:rowId xmlns:a16="http://schemas.microsoft.com/office/drawing/2014/main" val="3910811135"/>
                  </a:ext>
                </a:extLst>
              </a:tr>
              <a:tr h="576608">
                <a:tc>
                  <a:txBody>
                    <a:bodyPr/>
                    <a:lstStyle/>
                    <a:p>
                      <a:r>
                        <a:rPr lang="en-US" b="0" dirty="0"/>
                        <a:t>Heterogenous (50/50)</a:t>
                      </a:r>
                    </a:p>
                  </a:txBody>
                  <a:tcPr/>
                </a:tc>
                <a:tc>
                  <a:txBody>
                    <a:bodyPr/>
                    <a:lstStyle/>
                    <a:p>
                      <a:r>
                        <a:rPr lang="en-US" b="0" dirty="0"/>
                        <a:t>+8.9%</a:t>
                      </a:r>
                    </a:p>
                  </a:txBody>
                  <a:tcPr/>
                </a:tc>
                <a:tc>
                  <a:txBody>
                    <a:bodyPr/>
                    <a:lstStyle/>
                    <a:p>
                      <a:r>
                        <a:rPr lang="en-US" sz="1800" b="0" kern="1200" dirty="0">
                          <a:solidFill>
                            <a:schemeClr val="dk1"/>
                          </a:solidFill>
                          <a:effectLst/>
                        </a:rPr>
                        <a:t>2.5 × 10⁻¹⁴</a:t>
                      </a:r>
                      <a:endParaRPr lang="en-US" b="0" dirty="0"/>
                    </a:p>
                  </a:txBody>
                  <a:tcPr/>
                </a:tc>
                <a:tc>
                  <a:txBody>
                    <a:bodyPr/>
                    <a:lstStyle/>
                    <a:p>
                      <a:r>
                        <a:rPr lang="en-US" b="0" dirty="0"/>
                        <a:t>1.71</a:t>
                      </a:r>
                    </a:p>
                  </a:txBody>
                  <a:tcPr/>
                </a:tc>
                <a:extLst>
                  <a:ext uri="{0D108BD9-81ED-4DB2-BD59-A6C34878D82A}">
                    <a16:rowId xmlns:a16="http://schemas.microsoft.com/office/drawing/2014/main" val="2054531399"/>
                  </a:ext>
                </a:extLst>
              </a:tr>
              <a:tr h="576608">
                <a:tc>
                  <a:txBody>
                    <a:bodyPr/>
                    <a:lstStyle/>
                    <a:p>
                      <a:r>
                        <a:rPr lang="en-US" dirty="0"/>
                        <a:t>Saturation (synaptic)</a:t>
                      </a:r>
                    </a:p>
                  </a:txBody>
                  <a:tcPr/>
                </a:tc>
                <a:tc>
                  <a:txBody>
                    <a:bodyPr/>
                    <a:lstStyle/>
                    <a:p>
                      <a:r>
                        <a:rPr lang="en-US" dirty="0"/>
                        <a:t>+19.0%</a:t>
                      </a:r>
                    </a:p>
                  </a:txBody>
                  <a:tcPr/>
                </a:tc>
                <a:tc>
                  <a:txBody>
                    <a:bodyPr/>
                    <a:lstStyle/>
                    <a:p>
                      <a:r>
                        <a:rPr lang="en-US" sz="1800" b="0" kern="1200" dirty="0">
                          <a:solidFill>
                            <a:schemeClr val="dk1"/>
                          </a:solidFill>
                          <a:effectLst/>
                        </a:rPr>
                        <a:t>1.8 × 10⁻¹⁵</a:t>
                      </a:r>
                      <a:endParaRPr lang="en-US" dirty="0"/>
                    </a:p>
                  </a:txBody>
                  <a:tcPr/>
                </a:tc>
                <a:tc>
                  <a:txBody>
                    <a:bodyPr/>
                    <a:lstStyle/>
                    <a:p>
                      <a:r>
                        <a:rPr lang="en-US" dirty="0"/>
                        <a:t>3.66</a:t>
                      </a:r>
                    </a:p>
                  </a:txBody>
                  <a:tcPr/>
                </a:tc>
                <a:extLst>
                  <a:ext uri="{0D108BD9-81ED-4DB2-BD59-A6C34878D82A}">
                    <a16:rowId xmlns:a16="http://schemas.microsoft.com/office/drawing/2014/main" val="3610958757"/>
                  </a:ext>
                </a:extLst>
              </a:tr>
            </a:tbl>
          </a:graphicData>
        </a:graphic>
      </p:graphicFrame>
      <p:sp>
        <p:nvSpPr>
          <p:cNvPr id="76" name="TextBox 75">
            <a:extLst>
              <a:ext uri="{FF2B5EF4-FFF2-40B4-BE49-F238E27FC236}">
                <a16:creationId xmlns:a16="http://schemas.microsoft.com/office/drawing/2014/main" id="{1CA14C1F-4033-B09C-AEFD-7B80DB43BD66}"/>
              </a:ext>
            </a:extLst>
          </p:cNvPr>
          <p:cNvSpPr txBox="1"/>
          <p:nvPr/>
        </p:nvSpPr>
        <p:spPr>
          <a:xfrm>
            <a:off x="33723072" y="36942747"/>
            <a:ext cx="9372600" cy="3416320"/>
          </a:xfrm>
          <a:prstGeom prst="rect">
            <a:avLst/>
          </a:prstGeom>
          <a:noFill/>
        </p:spPr>
        <p:txBody>
          <a:bodyPr wrap="square" rtlCol="0">
            <a:spAutoFit/>
          </a:bodyPr>
          <a:lstStyle>
            <a:defPPr>
              <a:defRPr kern="1200"/>
            </a:defPPr>
          </a:lstStyle>
          <a:p>
            <a:pPr algn="just"/>
            <a:r>
              <a:rPr lang="en-US" dirty="0"/>
              <a:t>The adaptive scheduling advantage is not an artifact of one fatigue assumption. It holds under all four models with large effect sizes.</a:t>
            </a:r>
          </a:p>
          <a:p>
            <a:pPr algn="just"/>
            <a:endParaRPr lang="en-US" dirty="0"/>
          </a:p>
          <a:p>
            <a:pPr algn="just"/>
            <a:r>
              <a:rPr lang="en-US" dirty="0"/>
              <a:t>Subject-level splits prevent data leakage (6 held-out test subjects never seen during training) Shuffle-label test: R² = -0.332 (model learns real signal, not artifacts) Causal dataset construction verified (no future information in input features) Feature ablation confirms interpretability: PAC-derived features drive prediction, spectral features provide independent signal.</a:t>
            </a:r>
          </a:p>
        </p:txBody>
      </p:sp>
      <p:sp>
        <p:nvSpPr>
          <p:cNvPr id="6" name="TextBox 5">
            <a:extLst>
              <a:ext uri="{FF2B5EF4-FFF2-40B4-BE49-F238E27FC236}">
                <a16:creationId xmlns:a16="http://schemas.microsoft.com/office/drawing/2014/main" id="{724BD267-D77F-BFDC-641A-B366AD9F39F4}"/>
              </a:ext>
            </a:extLst>
          </p:cNvPr>
          <p:cNvSpPr txBox="1"/>
          <p:nvPr/>
        </p:nvSpPr>
        <p:spPr>
          <a:xfrm>
            <a:off x="33723072" y="42023020"/>
            <a:ext cx="9372600" cy="8586966"/>
          </a:xfrm>
          <a:prstGeom prst="rect">
            <a:avLst/>
          </a:prstGeom>
          <a:noFill/>
        </p:spPr>
        <p:txBody>
          <a:bodyPr wrap="square" rtlCol="0">
            <a:spAutoFit/>
          </a:bodyPr>
          <a:lstStyle>
            <a:defPPr>
              <a:defRPr kern="1200"/>
            </a:defPPr>
          </a:lstStyle>
          <a:p>
            <a:pPr algn="just"/>
            <a:r>
              <a:rPr lang="en-US" dirty="0"/>
              <a:t>At 5-10 second prediction horizons, the causal TCN maintains R² ≈ 0.25 while all baselines collapse below zero, a +0.5 R² margin at the operationally relevant range for proactive neural stimulation control</a:t>
            </a:r>
          </a:p>
          <a:p>
            <a:pPr algn="just"/>
            <a:endParaRPr lang="en-US" dirty="0"/>
          </a:p>
          <a:p>
            <a:pPr algn="just"/>
            <a:r>
              <a:rPr lang="en-US" dirty="0"/>
              <a:t>When integrated into a closed-loop controller and validated on real patient EEG, the TCN achieved 72.1% alignment versus 64.5% reactive (p &lt; 0.001), targeting 82.6% of low-PAC windows compared to 51.7%, a 60% improvement in therapeutic targeting</a:t>
            </a:r>
          </a:p>
          <a:p>
            <a:pPr algn="just"/>
            <a:endParaRPr lang="en-US" dirty="0"/>
          </a:p>
          <a:p>
            <a:pPr algn="just"/>
            <a:r>
              <a:rPr lang="en-US" dirty="0"/>
              <a:t>All 35 patients benefited from TCN-based control, including 6 held-out test subjects, demonstrating generalization across individual EEG patterns</a:t>
            </a:r>
          </a:p>
          <a:p>
            <a:pPr algn="just"/>
            <a:endParaRPr lang="en-US" dirty="0"/>
          </a:p>
          <a:p>
            <a:pPr algn="just"/>
            <a:r>
              <a:rPr lang="en-US" dirty="0"/>
              <a:t>The adaptive advantage increases with fatigue severity (+9.0% to +11.2%) and holds across four different fatigue model assumptions, confirming robustness</a:t>
            </a:r>
          </a:p>
          <a:p>
            <a:pPr algn="just"/>
            <a:endParaRPr lang="en-US" dirty="0"/>
          </a:p>
          <a:p>
            <a:pPr algn="just"/>
            <a:r>
              <a:rPr lang="en-US" dirty="0"/>
              <a:t>Half of patients habituate to stimulation while half do not, validating the fundamental need for personalized rather than fixed scheduling</a:t>
            </a:r>
          </a:p>
          <a:p>
            <a:pPr algn="just"/>
            <a:endParaRPr lang="en-US" dirty="0"/>
          </a:p>
          <a:p>
            <a:pPr algn="just"/>
            <a:r>
              <a:rPr lang="en-US" dirty="0"/>
              <a:t>Limitation: Real-data validation uses offline replay (counterfactual decisions on recorded EEG), not live closed-loop streaming. The system makes decisions on real brain data but cannot observe the brain's response to those decisions.</a:t>
            </a:r>
          </a:p>
        </p:txBody>
      </p:sp>
      <p:sp>
        <p:nvSpPr>
          <p:cNvPr id="9" name="Rectangle 8">
            <a:extLst>
              <a:ext uri="{FF2B5EF4-FFF2-40B4-BE49-F238E27FC236}">
                <a16:creationId xmlns:a16="http://schemas.microsoft.com/office/drawing/2014/main" id="{8C5D7490-2C88-6F34-2C8C-2BC70577F827}"/>
              </a:ext>
            </a:extLst>
          </p:cNvPr>
          <p:cNvSpPr/>
          <p:nvPr/>
        </p:nvSpPr>
        <p:spPr>
          <a:xfrm>
            <a:off x="22174200" y="7391398"/>
            <a:ext cx="10744200" cy="137053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12" name="TextBox 11">
            <a:extLst>
              <a:ext uri="{FF2B5EF4-FFF2-40B4-BE49-F238E27FC236}">
                <a16:creationId xmlns:a16="http://schemas.microsoft.com/office/drawing/2014/main" id="{8301C1AC-D8EF-1D14-8273-CA848BFE3FC3}"/>
              </a:ext>
            </a:extLst>
          </p:cNvPr>
          <p:cNvSpPr txBox="1"/>
          <p:nvPr/>
        </p:nvSpPr>
        <p:spPr>
          <a:xfrm>
            <a:off x="22400879" y="7662671"/>
            <a:ext cx="8338254"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Architecture Exploration</a:t>
            </a:r>
          </a:p>
        </p:txBody>
      </p:sp>
      <p:sp>
        <p:nvSpPr>
          <p:cNvPr id="14" name="TextBox 13">
            <a:extLst>
              <a:ext uri="{FF2B5EF4-FFF2-40B4-BE49-F238E27FC236}">
                <a16:creationId xmlns:a16="http://schemas.microsoft.com/office/drawing/2014/main" id="{2CD4FF00-EA34-6CA4-76FA-E1289AA6CBAA}"/>
              </a:ext>
            </a:extLst>
          </p:cNvPr>
          <p:cNvSpPr txBox="1"/>
          <p:nvPr/>
        </p:nvSpPr>
        <p:spPr>
          <a:xfrm>
            <a:off x="22521672" y="8554429"/>
            <a:ext cx="10058400" cy="1569660"/>
          </a:xfrm>
          <a:prstGeom prst="rect">
            <a:avLst/>
          </a:prstGeom>
          <a:noFill/>
        </p:spPr>
        <p:txBody>
          <a:bodyPr wrap="square" rtlCol="0">
            <a:spAutoFit/>
          </a:bodyPr>
          <a:lstStyle>
            <a:defPPr>
              <a:defRPr kern="1200"/>
            </a:defPPr>
          </a:lstStyle>
          <a:p>
            <a:pPr algn="just"/>
            <a:r>
              <a:rPr lang="en-US" dirty="0"/>
              <a:t>Before building the temporal predictor, I tested 8 different neural network architectures for static PAC prediction estimating current PAC from a single 2-second EEG window. The architectures spanned three orders of magnitude in model size:</a:t>
            </a:r>
          </a:p>
        </p:txBody>
      </p:sp>
      <p:graphicFrame>
        <p:nvGraphicFramePr>
          <p:cNvPr id="15" name="Table 14">
            <a:extLst>
              <a:ext uri="{FF2B5EF4-FFF2-40B4-BE49-F238E27FC236}">
                <a16:creationId xmlns:a16="http://schemas.microsoft.com/office/drawing/2014/main" id="{E113B216-6271-ACE1-7C55-29FF35B08DDC}"/>
              </a:ext>
            </a:extLst>
          </p:cNvPr>
          <p:cNvGraphicFramePr>
            <a:graphicFrameLocks noGrp="1"/>
          </p:cNvGraphicFramePr>
          <p:nvPr>
            <p:extLst>
              <p:ext uri="{D42A27DB-BD31-4B8C-83A1-F6EECF244321}">
                <p14:modId xmlns:p14="http://schemas.microsoft.com/office/powerpoint/2010/main" val="1437379285"/>
              </p:ext>
            </p:extLst>
          </p:nvPr>
        </p:nvGraphicFramePr>
        <p:xfrm>
          <a:off x="22647039" y="10248543"/>
          <a:ext cx="4623229" cy="5407807"/>
        </p:xfrm>
        <a:graphic>
          <a:graphicData uri="http://schemas.openxmlformats.org/drawingml/2006/table">
            <a:tbl>
              <a:tblPr firstRow="1" bandRow="1">
                <a:tableStyleId>{073A0DAA-6AF3-43AB-8588-CEC1D06C72B9}</a:tableStyleId>
              </a:tblPr>
              <a:tblGrid>
                <a:gridCol w="2398600">
                  <a:extLst>
                    <a:ext uri="{9D8B030D-6E8A-4147-A177-3AD203B41FA5}">
                      <a16:colId xmlns:a16="http://schemas.microsoft.com/office/drawing/2014/main" val="476290120"/>
                    </a:ext>
                  </a:extLst>
                </a:gridCol>
                <a:gridCol w="1191766">
                  <a:extLst>
                    <a:ext uri="{9D8B030D-6E8A-4147-A177-3AD203B41FA5}">
                      <a16:colId xmlns:a16="http://schemas.microsoft.com/office/drawing/2014/main" val="2226223649"/>
                    </a:ext>
                  </a:extLst>
                </a:gridCol>
                <a:gridCol w="1032863">
                  <a:extLst>
                    <a:ext uri="{9D8B030D-6E8A-4147-A177-3AD203B41FA5}">
                      <a16:colId xmlns:a16="http://schemas.microsoft.com/office/drawing/2014/main" val="1535894409"/>
                    </a:ext>
                  </a:extLst>
                </a:gridCol>
              </a:tblGrid>
              <a:tr h="723819">
                <a:tc>
                  <a:txBody>
                    <a:bodyPr/>
                    <a:lstStyle/>
                    <a:p>
                      <a:r>
                        <a:rPr lang="en-US" sz="1800" dirty="0"/>
                        <a:t>Architecture</a:t>
                      </a:r>
                    </a:p>
                  </a:txBody>
                  <a:tcPr/>
                </a:tc>
                <a:tc>
                  <a:txBody>
                    <a:bodyPr/>
                    <a:lstStyle/>
                    <a:p>
                      <a:r>
                        <a:rPr lang="en-US" sz="1800" dirty="0"/>
                        <a:t>Params</a:t>
                      </a:r>
                    </a:p>
                  </a:txBody>
                  <a:tcPr/>
                </a:tc>
                <a:tc>
                  <a:txBody>
                    <a:bodyPr/>
                    <a:lstStyle/>
                    <a:p>
                      <a:r>
                        <a:rPr lang="en-US" sz="1800" dirty="0"/>
                        <a:t>Test </a:t>
                      </a:r>
                      <a:r>
                        <a:rPr lang="en-US" sz="1800" b="1" i="0" kern="1200" dirty="0">
                          <a:solidFill>
                            <a:schemeClr val="lt1"/>
                          </a:solidFill>
                          <a:effectLst/>
                          <a:latin typeface="+mn-lt"/>
                          <a:ea typeface="+mn-ea"/>
                          <a:cs typeface="+mn-cs"/>
                        </a:rPr>
                        <a:t>R²</a:t>
                      </a:r>
                      <a:endParaRPr lang="en-US" sz="1800" dirty="0"/>
                    </a:p>
                  </a:txBody>
                  <a:tcPr/>
                </a:tc>
                <a:extLst>
                  <a:ext uri="{0D108BD9-81ED-4DB2-BD59-A6C34878D82A}">
                    <a16:rowId xmlns:a16="http://schemas.microsoft.com/office/drawing/2014/main" val="32210522"/>
                  </a:ext>
                </a:extLst>
              </a:tr>
              <a:tr h="894356">
                <a:tc>
                  <a:txBody>
                    <a:bodyPr/>
                    <a:lstStyle/>
                    <a:p>
                      <a:r>
                        <a:rPr lang="en-US" sz="1800" dirty="0"/>
                        <a:t>EEGNet (V1)</a:t>
                      </a:r>
                    </a:p>
                  </a:txBody>
                  <a:tcPr/>
                </a:tc>
                <a:tc>
                  <a:txBody>
                    <a:bodyPr/>
                    <a:lstStyle/>
                    <a:p>
                      <a:r>
                        <a:rPr lang="en-US" sz="1800" dirty="0"/>
                        <a:t>1457</a:t>
                      </a:r>
                    </a:p>
                  </a:txBody>
                  <a:tcPr/>
                </a:tc>
                <a:tc>
                  <a:txBody>
                    <a:bodyPr/>
                    <a:lstStyle/>
                    <a:p>
                      <a:r>
                        <a:rPr lang="en-US" sz="1800" dirty="0"/>
                        <a:t>0.287</a:t>
                      </a:r>
                    </a:p>
                  </a:txBody>
                  <a:tcPr/>
                </a:tc>
                <a:extLst>
                  <a:ext uri="{0D108BD9-81ED-4DB2-BD59-A6C34878D82A}">
                    <a16:rowId xmlns:a16="http://schemas.microsoft.com/office/drawing/2014/main" val="2185965967"/>
                  </a:ext>
                </a:extLst>
              </a:tr>
              <a:tr h="723819">
                <a:tc>
                  <a:txBody>
                    <a:bodyPr/>
                    <a:lstStyle/>
                    <a:p>
                      <a:r>
                        <a:rPr lang="en-US" sz="1800" dirty="0"/>
                        <a:t>SpecTempNet (V3)</a:t>
                      </a:r>
                    </a:p>
                  </a:txBody>
                  <a:tcPr/>
                </a:tc>
                <a:tc>
                  <a:txBody>
                    <a:bodyPr/>
                    <a:lstStyle/>
                    <a:p>
                      <a:r>
                        <a:rPr lang="en-US" sz="1800" dirty="0"/>
                        <a:t>180K</a:t>
                      </a:r>
                    </a:p>
                  </a:txBody>
                  <a:tcPr/>
                </a:tc>
                <a:tc>
                  <a:txBody>
                    <a:bodyPr/>
                    <a:lstStyle/>
                    <a:p>
                      <a:r>
                        <a:rPr lang="en-US" sz="1800" dirty="0"/>
                        <a:t>0.236</a:t>
                      </a:r>
                    </a:p>
                  </a:txBody>
                  <a:tcPr/>
                </a:tc>
                <a:extLst>
                  <a:ext uri="{0D108BD9-81ED-4DB2-BD59-A6C34878D82A}">
                    <a16:rowId xmlns:a16="http://schemas.microsoft.com/office/drawing/2014/main" val="833987082"/>
                  </a:ext>
                </a:extLst>
              </a:tr>
              <a:tr h="723819">
                <a:tc>
                  <a:txBody>
                    <a:bodyPr/>
                    <a:lstStyle/>
                    <a:p>
                      <a:r>
                        <a:rPr lang="en-US" sz="1800" dirty="0"/>
                        <a:t>ViT-TCNet (V4)</a:t>
                      </a:r>
                    </a:p>
                  </a:txBody>
                  <a:tcPr/>
                </a:tc>
                <a:tc>
                  <a:txBody>
                    <a:bodyPr/>
                    <a:lstStyle/>
                    <a:p>
                      <a:r>
                        <a:rPr lang="en-US" sz="1800" dirty="0"/>
                        <a:t>~2M</a:t>
                      </a:r>
                    </a:p>
                  </a:txBody>
                  <a:tcPr/>
                </a:tc>
                <a:tc>
                  <a:txBody>
                    <a:bodyPr/>
                    <a:lstStyle/>
                    <a:p>
                      <a:r>
                        <a:rPr lang="en-US" sz="1800" dirty="0"/>
                        <a:t>0.252</a:t>
                      </a:r>
                    </a:p>
                  </a:txBody>
                  <a:tcPr/>
                </a:tc>
                <a:extLst>
                  <a:ext uri="{0D108BD9-81ED-4DB2-BD59-A6C34878D82A}">
                    <a16:rowId xmlns:a16="http://schemas.microsoft.com/office/drawing/2014/main" val="620352131"/>
                  </a:ext>
                </a:extLst>
              </a:tr>
              <a:tr h="723819">
                <a:tc>
                  <a:txBody>
                    <a:bodyPr/>
                    <a:lstStyle/>
                    <a:p>
                      <a:r>
                        <a:rPr lang="en-US" sz="1800" dirty="0"/>
                        <a:t>Ridge Regression (V5)</a:t>
                      </a:r>
                    </a:p>
                  </a:txBody>
                  <a:tcPr/>
                </a:tc>
                <a:tc>
                  <a:txBody>
                    <a:bodyPr/>
                    <a:lstStyle/>
                    <a:p>
                      <a:r>
                        <a:rPr lang="en-US" sz="1800" dirty="0"/>
                        <a:t>135 </a:t>
                      </a:r>
                      <a:r>
                        <a:rPr lang="en-US" sz="1800" dirty="0" err="1"/>
                        <a:t>coefs</a:t>
                      </a:r>
                      <a:endParaRPr lang="en-US" sz="1800" dirty="0"/>
                    </a:p>
                  </a:txBody>
                  <a:tcPr/>
                </a:tc>
                <a:tc>
                  <a:txBody>
                    <a:bodyPr/>
                    <a:lstStyle/>
                    <a:p>
                      <a:r>
                        <a:rPr lang="en-US" sz="1800" dirty="0"/>
                        <a:t>0.287</a:t>
                      </a:r>
                    </a:p>
                  </a:txBody>
                  <a:tcPr/>
                </a:tc>
                <a:extLst>
                  <a:ext uri="{0D108BD9-81ED-4DB2-BD59-A6C34878D82A}">
                    <a16:rowId xmlns:a16="http://schemas.microsoft.com/office/drawing/2014/main" val="1033956266"/>
                  </a:ext>
                </a:extLst>
              </a:tr>
              <a:tr h="723819">
                <a:tc>
                  <a:txBody>
                    <a:bodyPr/>
                    <a:lstStyle/>
                    <a:p>
                      <a:r>
                        <a:rPr lang="en-US" sz="1800" dirty="0"/>
                        <a:t>ATCNet (V8)</a:t>
                      </a:r>
                    </a:p>
                  </a:txBody>
                  <a:tcPr/>
                </a:tc>
                <a:tc>
                  <a:txBody>
                    <a:bodyPr/>
                    <a:lstStyle/>
                    <a:p>
                      <a:r>
                        <a:rPr lang="en-US" sz="1800" dirty="0"/>
                        <a:t>25K</a:t>
                      </a:r>
                    </a:p>
                  </a:txBody>
                  <a:tcPr/>
                </a:tc>
                <a:tc>
                  <a:txBody>
                    <a:bodyPr/>
                    <a:lstStyle/>
                    <a:p>
                      <a:r>
                        <a:rPr lang="en-US" sz="1800" dirty="0"/>
                        <a:t>0.075</a:t>
                      </a:r>
                    </a:p>
                  </a:txBody>
                  <a:tcPr/>
                </a:tc>
                <a:extLst>
                  <a:ext uri="{0D108BD9-81ED-4DB2-BD59-A6C34878D82A}">
                    <a16:rowId xmlns:a16="http://schemas.microsoft.com/office/drawing/2014/main" val="1634207841"/>
                  </a:ext>
                </a:extLst>
              </a:tr>
              <a:tr h="894356">
                <a:tc>
                  <a:txBody>
                    <a:bodyPr/>
                    <a:lstStyle/>
                    <a:p>
                      <a:r>
                        <a:rPr lang="en-US" sz="1800" dirty="0"/>
                        <a:t>EEGNetLarge (rigor)</a:t>
                      </a:r>
                    </a:p>
                  </a:txBody>
                  <a:tcPr/>
                </a:tc>
                <a:tc>
                  <a:txBody>
                    <a:bodyPr/>
                    <a:lstStyle/>
                    <a:p>
                      <a:r>
                        <a:rPr lang="en-US" sz="1800" dirty="0"/>
                        <a:t>141K</a:t>
                      </a:r>
                    </a:p>
                  </a:txBody>
                  <a:tcPr/>
                </a:tc>
                <a:tc>
                  <a:txBody>
                    <a:bodyPr/>
                    <a:lstStyle/>
                    <a:p>
                      <a:r>
                        <a:rPr lang="en-US" sz="1800" dirty="0"/>
                        <a:t>0.287</a:t>
                      </a:r>
                    </a:p>
                  </a:txBody>
                  <a:tcPr/>
                </a:tc>
                <a:extLst>
                  <a:ext uri="{0D108BD9-81ED-4DB2-BD59-A6C34878D82A}">
                    <a16:rowId xmlns:a16="http://schemas.microsoft.com/office/drawing/2014/main" val="3369638341"/>
                  </a:ext>
                </a:extLst>
              </a:tr>
            </a:tbl>
          </a:graphicData>
        </a:graphic>
      </p:graphicFrame>
      <p:sp>
        <p:nvSpPr>
          <p:cNvPr id="18" name="TextBox 17">
            <a:extLst>
              <a:ext uri="{FF2B5EF4-FFF2-40B4-BE49-F238E27FC236}">
                <a16:creationId xmlns:a16="http://schemas.microsoft.com/office/drawing/2014/main" id="{CFAFC3E5-5141-B6D6-2366-25920635312A}"/>
              </a:ext>
            </a:extLst>
          </p:cNvPr>
          <p:cNvSpPr txBox="1"/>
          <p:nvPr/>
        </p:nvSpPr>
        <p:spPr>
          <a:xfrm>
            <a:off x="27354663" y="10148736"/>
            <a:ext cx="5119274" cy="5632311"/>
          </a:xfrm>
          <a:prstGeom prst="rect">
            <a:avLst/>
          </a:prstGeom>
          <a:noFill/>
        </p:spPr>
        <p:txBody>
          <a:bodyPr wrap="square" rtlCol="0">
            <a:spAutoFit/>
          </a:bodyPr>
          <a:lstStyle>
            <a:defPPr>
              <a:defRPr kern="1200"/>
            </a:defPPr>
          </a:lstStyle>
          <a:p>
            <a:pPr algn="just"/>
            <a:r>
              <a:rPr lang="en-US" dirty="0"/>
              <a:t>EEGNet, Ridge, &amp; EEGNetLarge all converge to R² = 0.287, while SpecTempNet, ViT-TCNet, &amp; ATCNet perform worse due to overfitting. This is a ceiling of the data set by epoch-level PAC labels on 2-second windows, not a model capacity limitation. The largest model (2M) performed worst among deep learning approaches due to overfitting. Thus, I shifted from predicting PAC better from single windows, to predicting it further into the future using sequences. The causal TCN, operates on 20-second temporal histories rather than 2-second snapshots.</a:t>
            </a:r>
          </a:p>
        </p:txBody>
      </p:sp>
      <p:pic>
        <p:nvPicPr>
          <p:cNvPr id="107" name="Picture 106">
            <a:extLst>
              <a:ext uri="{FF2B5EF4-FFF2-40B4-BE49-F238E27FC236}">
                <a16:creationId xmlns:a16="http://schemas.microsoft.com/office/drawing/2014/main" id="{F92E45DA-360D-00F6-1F6D-CEABB5F5F0BF}"/>
              </a:ext>
            </a:extLst>
          </p:cNvPr>
          <p:cNvPicPr>
            <a:picLocks noChangeAspect="1"/>
          </p:cNvPicPr>
          <p:nvPr/>
        </p:nvPicPr>
        <p:blipFill>
          <a:blip r:embed="rId8"/>
          <a:srcRect t="7737"/>
          <a:stretch>
            <a:fillRect/>
          </a:stretch>
        </p:blipFill>
        <p:spPr>
          <a:xfrm>
            <a:off x="23013527" y="15742617"/>
            <a:ext cx="8965324" cy="5318634"/>
          </a:xfrm>
          <a:prstGeom prst="rect">
            <a:avLst/>
          </a:prstGeom>
        </p:spPr>
      </p:pic>
      <p:pic>
        <p:nvPicPr>
          <p:cNvPr id="108" name="Picture 107">
            <a:extLst>
              <a:ext uri="{FF2B5EF4-FFF2-40B4-BE49-F238E27FC236}">
                <a16:creationId xmlns:a16="http://schemas.microsoft.com/office/drawing/2014/main" id="{9F97461D-E454-38BC-8376-3FA91441C6AE}"/>
              </a:ext>
            </a:extLst>
          </p:cNvPr>
          <p:cNvPicPr>
            <a:picLocks noChangeAspect="1"/>
          </p:cNvPicPr>
          <p:nvPr/>
        </p:nvPicPr>
        <p:blipFill>
          <a:blip r:embed="rId9"/>
          <a:stretch>
            <a:fillRect/>
          </a:stretch>
        </p:blipFill>
        <p:spPr>
          <a:xfrm>
            <a:off x="22459400" y="34763002"/>
            <a:ext cx="10172066" cy="5986687"/>
          </a:xfrm>
          <a:prstGeom prst="rect">
            <a:avLst/>
          </a:prstGeom>
        </p:spPr>
      </p:pic>
      <p:sp>
        <p:nvSpPr>
          <p:cNvPr id="109" name="Rectangle 108">
            <a:extLst>
              <a:ext uri="{FF2B5EF4-FFF2-40B4-BE49-F238E27FC236}">
                <a16:creationId xmlns:a16="http://schemas.microsoft.com/office/drawing/2014/main" id="{8718C099-56F8-F70C-11E8-9B07CE364258}"/>
              </a:ext>
            </a:extLst>
          </p:cNvPr>
          <p:cNvSpPr/>
          <p:nvPr/>
        </p:nvSpPr>
        <p:spPr>
          <a:xfrm>
            <a:off x="22172049" y="41152548"/>
            <a:ext cx="10744200" cy="9616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110" name="TextBox 109">
            <a:extLst>
              <a:ext uri="{FF2B5EF4-FFF2-40B4-BE49-F238E27FC236}">
                <a16:creationId xmlns:a16="http://schemas.microsoft.com/office/drawing/2014/main" id="{6A8F7A59-944B-C1CF-206B-D3C864BD6508}"/>
              </a:ext>
            </a:extLst>
          </p:cNvPr>
          <p:cNvSpPr txBox="1"/>
          <p:nvPr/>
        </p:nvSpPr>
        <p:spPr>
          <a:xfrm>
            <a:off x="22424427" y="41428724"/>
            <a:ext cx="9601200"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Further Research</a:t>
            </a:r>
          </a:p>
        </p:txBody>
      </p:sp>
      <p:sp>
        <p:nvSpPr>
          <p:cNvPr id="111" name="TextBox 110">
            <a:extLst>
              <a:ext uri="{FF2B5EF4-FFF2-40B4-BE49-F238E27FC236}">
                <a16:creationId xmlns:a16="http://schemas.microsoft.com/office/drawing/2014/main" id="{5D984B8B-018A-1DB1-EF58-57C5C6E84AA6}"/>
              </a:ext>
            </a:extLst>
          </p:cNvPr>
          <p:cNvSpPr txBox="1"/>
          <p:nvPr/>
        </p:nvSpPr>
        <p:spPr>
          <a:xfrm>
            <a:off x="22521672" y="42269972"/>
            <a:ext cx="10058400" cy="2308324"/>
          </a:xfrm>
          <a:prstGeom prst="rect">
            <a:avLst/>
          </a:prstGeom>
          <a:noFill/>
        </p:spPr>
        <p:txBody>
          <a:bodyPr wrap="square" rtlCol="0">
            <a:spAutoFit/>
          </a:bodyPr>
          <a:lstStyle>
            <a:defPPr>
              <a:defRPr kern="1200"/>
            </a:defPPr>
          </a:lstStyle>
          <a:p>
            <a:pPr marL="342900" indent="-342900" algn="just">
              <a:buFontTx/>
              <a:buChar char="-"/>
            </a:pPr>
            <a:r>
              <a:rPr lang="en-US" dirty="0"/>
              <a:t>Deploy with live EEG streaming for real-time crossover validation (adaptive vs fixed within same session)</a:t>
            </a:r>
          </a:p>
          <a:p>
            <a:pPr marL="342900" indent="-342900" algn="just">
              <a:buFontTx/>
              <a:buChar char="-"/>
            </a:pPr>
            <a:r>
              <a:rPr lang="en-US" dirty="0"/>
              <a:t>Record 30–60-minute sessions to capture the full habituation time course</a:t>
            </a:r>
          </a:p>
          <a:p>
            <a:pPr marL="342900" indent="-342900" algn="just">
              <a:buFontTx/>
              <a:buChar char="-"/>
            </a:pPr>
            <a:r>
              <a:rPr lang="en-US" dirty="0"/>
              <a:t>Replace the heuristic controller with reinforcement learning for long-horizon optimization</a:t>
            </a:r>
          </a:p>
          <a:p>
            <a:pPr marL="342900" indent="-342900" algn="just">
              <a:buFontTx/>
              <a:buChar char="-"/>
            </a:pPr>
            <a:r>
              <a:rPr lang="en-US" dirty="0"/>
              <a:t>Extend to multi-biomarker control (PAC + spectral power + connectivity)</a:t>
            </a:r>
          </a:p>
        </p:txBody>
      </p:sp>
      <p:pic>
        <p:nvPicPr>
          <p:cNvPr id="112" name="Picture 111">
            <a:extLst>
              <a:ext uri="{FF2B5EF4-FFF2-40B4-BE49-F238E27FC236}">
                <a16:creationId xmlns:a16="http://schemas.microsoft.com/office/drawing/2014/main" id="{DFF0A9C9-B68C-0232-0D09-144514943A88}"/>
              </a:ext>
            </a:extLst>
          </p:cNvPr>
          <p:cNvPicPr>
            <a:picLocks noChangeAspect="1"/>
          </p:cNvPicPr>
          <p:nvPr/>
        </p:nvPicPr>
        <p:blipFill>
          <a:blip r:embed="rId10"/>
          <a:stretch>
            <a:fillRect/>
          </a:stretch>
        </p:blipFill>
        <p:spPr>
          <a:xfrm>
            <a:off x="22521134" y="44829496"/>
            <a:ext cx="9827581" cy="5662375"/>
          </a:xfrm>
          <a:prstGeom prst="rect">
            <a:avLst/>
          </a:prstGeom>
        </p:spPr>
      </p:pic>
      <p:sp>
        <p:nvSpPr>
          <p:cNvPr id="113" name="Rectangle 112">
            <a:extLst>
              <a:ext uri="{FF2B5EF4-FFF2-40B4-BE49-F238E27FC236}">
                <a16:creationId xmlns:a16="http://schemas.microsoft.com/office/drawing/2014/main" id="{4D4CF46B-C20A-0BD3-27FC-8B2FDD186358}"/>
              </a:ext>
            </a:extLst>
          </p:cNvPr>
          <p:cNvSpPr/>
          <p:nvPr/>
        </p:nvSpPr>
        <p:spPr>
          <a:xfrm>
            <a:off x="457199" y="39537501"/>
            <a:ext cx="10054931" cy="8544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114" name="TextBox 113">
            <a:extLst>
              <a:ext uri="{FF2B5EF4-FFF2-40B4-BE49-F238E27FC236}">
                <a16:creationId xmlns:a16="http://schemas.microsoft.com/office/drawing/2014/main" id="{C933A6F0-16D8-E0DA-87A3-6C965839781E}"/>
              </a:ext>
            </a:extLst>
          </p:cNvPr>
          <p:cNvSpPr txBox="1"/>
          <p:nvPr/>
        </p:nvSpPr>
        <p:spPr>
          <a:xfrm>
            <a:off x="689587" y="39808497"/>
            <a:ext cx="9528066"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References</a:t>
            </a:r>
          </a:p>
        </p:txBody>
      </p:sp>
      <p:sp>
        <p:nvSpPr>
          <p:cNvPr id="115" name="TextBox 114">
            <a:extLst>
              <a:ext uri="{FF2B5EF4-FFF2-40B4-BE49-F238E27FC236}">
                <a16:creationId xmlns:a16="http://schemas.microsoft.com/office/drawing/2014/main" id="{4B443AB5-AB8D-D159-1DC0-1C997A1EEFC9}"/>
              </a:ext>
            </a:extLst>
          </p:cNvPr>
          <p:cNvSpPr txBox="1"/>
          <p:nvPr/>
        </p:nvSpPr>
        <p:spPr>
          <a:xfrm>
            <a:off x="804672" y="40649745"/>
            <a:ext cx="9372600" cy="7266605"/>
          </a:xfrm>
          <a:prstGeom prst="rect">
            <a:avLst/>
          </a:prstGeom>
          <a:noFill/>
        </p:spPr>
        <p:txBody>
          <a:bodyPr wrap="square" rtlCol="0">
            <a:spAutoFit/>
          </a:bodyPr>
          <a:lstStyle>
            <a:defPPr>
              <a:defRPr kern="1200"/>
            </a:defPPr>
          </a:lstStyle>
          <a:p>
            <a:pPr algn="just"/>
            <a:r>
              <a:rPr lang="en-US" sz="2220" dirty="0"/>
              <a:t>Iaccarino, H. F., et al. (2016). Gamma frequency entrainment attenuates amyloid load and modifies microglia. Nature, 540(7632), 230-235.</a:t>
            </a:r>
          </a:p>
          <a:p>
            <a:pPr algn="just"/>
            <a:endParaRPr lang="en-US" sz="2220" dirty="0"/>
          </a:p>
          <a:p>
            <a:pPr algn="just"/>
            <a:r>
              <a:rPr lang="en-US" sz="2220" dirty="0"/>
              <a:t>Martorell, A. J., et al. (2019). Multi-sensory gamma stimulation ameliorates Alzheimer's-associated pathology and improves cognition. Cell, 177(2), 256-271.</a:t>
            </a:r>
          </a:p>
          <a:p>
            <a:pPr algn="just"/>
            <a:endParaRPr lang="en-US" sz="2220" dirty="0"/>
          </a:p>
          <a:p>
            <a:pPr algn="just"/>
            <a:r>
              <a:rPr lang="en-US" sz="2220" dirty="0"/>
              <a:t>Tort, A. B., et al. (2010). Measuring phase-amplitude coupling between neuronal oscillations of different frequencies. Journal of Neurophysiology, 104(2), 1195-1210.</a:t>
            </a:r>
          </a:p>
          <a:p>
            <a:pPr algn="just"/>
            <a:endParaRPr lang="en-US" sz="2220" dirty="0"/>
          </a:p>
          <a:p>
            <a:pPr algn="just"/>
            <a:r>
              <a:rPr lang="en-US" sz="2220" dirty="0"/>
              <a:t>Lawhern, V. J., et al. (2018). EEGNet: A compact convolutional neural network for EEG-based brain-computer interfaces. Journal of Neural Engineering, 15(5), 056013.</a:t>
            </a:r>
          </a:p>
          <a:p>
            <a:pPr algn="just"/>
            <a:endParaRPr lang="en-US" sz="2220" dirty="0"/>
          </a:p>
          <a:p>
            <a:pPr algn="just"/>
            <a:r>
              <a:rPr lang="en-US" sz="2220" dirty="0"/>
              <a:t>Lahijanian, M., et al. (2024). Auditory gamma-band entrainment enhances default mode network connectivity in dementia patients. Scientific Reports, 14, 13153.</a:t>
            </a:r>
          </a:p>
          <a:p>
            <a:pPr algn="just"/>
            <a:endParaRPr lang="en-US" sz="2220" dirty="0"/>
          </a:p>
          <a:p>
            <a:pPr algn="just"/>
            <a:r>
              <a:rPr lang="en-US" sz="2220" dirty="0"/>
              <a:t>Thompson, R. F., &amp; Spencer, W. A. (1966). Habituation: A model phenomenon for the study of neuronal substrates of behavior. Psychological Review, 73(1), 16-43.</a:t>
            </a:r>
          </a:p>
        </p:txBody>
      </p:sp>
      <p:sp>
        <p:nvSpPr>
          <p:cNvPr id="116" name="Rectangle 115">
            <a:extLst>
              <a:ext uri="{FF2B5EF4-FFF2-40B4-BE49-F238E27FC236}">
                <a16:creationId xmlns:a16="http://schemas.microsoft.com/office/drawing/2014/main" id="{D4273B56-C041-DEC5-3C98-38C4463A4E34}"/>
              </a:ext>
            </a:extLst>
          </p:cNvPr>
          <p:cNvSpPr/>
          <p:nvPr/>
        </p:nvSpPr>
        <p:spPr>
          <a:xfrm>
            <a:off x="463377" y="48383212"/>
            <a:ext cx="10048753" cy="23859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1"/>
          </a:p>
        </p:txBody>
      </p:sp>
      <p:sp>
        <p:nvSpPr>
          <p:cNvPr id="117" name="TextBox 116">
            <a:extLst>
              <a:ext uri="{FF2B5EF4-FFF2-40B4-BE49-F238E27FC236}">
                <a16:creationId xmlns:a16="http://schemas.microsoft.com/office/drawing/2014/main" id="{6A1FBB9D-76EC-2A25-2FA5-25EB531C55FF}"/>
              </a:ext>
            </a:extLst>
          </p:cNvPr>
          <p:cNvSpPr txBox="1"/>
          <p:nvPr/>
        </p:nvSpPr>
        <p:spPr>
          <a:xfrm>
            <a:off x="685800" y="48572928"/>
            <a:ext cx="9220717" cy="830997"/>
          </a:xfrm>
          <a:prstGeom prst="rect">
            <a:avLst/>
          </a:prstGeom>
          <a:noFill/>
        </p:spPr>
        <p:txBody>
          <a:bodyPr wrap="square" rtlCol="0">
            <a:spAutoFit/>
          </a:bodyPr>
          <a:lstStyle>
            <a:defPPr>
              <a:defRPr kern="1200"/>
            </a:defPPr>
          </a:lstStyle>
          <a:p>
            <a:r>
              <a:rPr lang="en-US" sz="4800" dirty="0">
                <a:solidFill>
                  <a:srgbClr val="235078"/>
                </a:solidFill>
                <a:latin typeface="Libre Baskerville" panose="02000000000000000000" pitchFamily="2" charset="0"/>
              </a:rPr>
              <a:t>Acknowledgements</a:t>
            </a:r>
          </a:p>
        </p:txBody>
      </p:sp>
      <p:sp>
        <p:nvSpPr>
          <p:cNvPr id="119" name="TextBox 118">
            <a:extLst>
              <a:ext uri="{FF2B5EF4-FFF2-40B4-BE49-F238E27FC236}">
                <a16:creationId xmlns:a16="http://schemas.microsoft.com/office/drawing/2014/main" id="{07004D0E-0083-A774-98B0-C89259A74D86}"/>
              </a:ext>
            </a:extLst>
          </p:cNvPr>
          <p:cNvSpPr txBox="1"/>
          <p:nvPr/>
        </p:nvSpPr>
        <p:spPr>
          <a:xfrm>
            <a:off x="695764" y="49418786"/>
            <a:ext cx="9534959" cy="830997"/>
          </a:xfrm>
          <a:prstGeom prst="rect">
            <a:avLst/>
          </a:prstGeom>
          <a:noFill/>
        </p:spPr>
        <p:txBody>
          <a:bodyPr wrap="square" rtlCol="0">
            <a:spAutoFit/>
          </a:bodyPr>
          <a:lstStyle>
            <a:defPPr>
              <a:defRPr kern="1200"/>
            </a:defPPr>
          </a:lstStyle>
          <a:p>
            <a:r>
              <a:rPr lang="en-US" dirty="0"/>
              <a:t>Data Source: OpenNeuro dataset ds005048 (Lahijanian et al., 2024). All EEG data used under open access license.</a:t>
            </a:r>
            <a:endParaRPr lang="en-US" sz="2000" dirty="0"/>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suadingsapphire|08-2022"/>
</p:tagLst>
</file>

<file path=ppt/theme/theme1.xml><?xml version="1.0" encoding="utf-8"?>
<a:theme xmlns:a="http://schemas.openxmlformats.org/drawingml/2006/main" name="Blank Presentatio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Blank Presentatio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6071</TotalTime>
  <Words>2844</Words>
  <Application>Microsoft Macintosh PowerPoint</Application>
  <PresentationFormat>Custom</PresentationFormat>
  <Paragraphs>211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Montserrat Light</vt:lpstr>
      <vt:lpstr>Times New Roman</vt:lpstr>
      <vt:lpstr>Libre Baskerville</vt:lpstr>
      <vt:lpstr>Blank Presentation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Amaar Chughtai</cp:lastModifiedBy>
  <cp:revision>307</cp:revision>
  <cp:lastPrinted>2006-11-15T16:04:57Z</cp:lastPrinted>
  <dcterms:modified xsi:type="dcterms:W3CDTF">2026-03-05T05:36:46Z</dcterms:modified>
  <cp:category>templates for scientific poster</cp:category>
</cp:coreProperties>
</file>