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63" r:id="rId2"/>
  </p:sldIdLst>
  <p:sldSz cx="43891200" cy="51206400"/>
  <p:notesSz cx="31954788" cy="50149125"/>
  <p:embeddedFontLst>
    <p:embeddedFont>
      <p:font typeface="Libre Baskerville" panose="02000000000000000000" pitchFamily="2" charset="0"/>
      <p:regular r:id="rId5"/>
      <p:bold r:id="rId6"/>
      <p:italic r:id="rId7"/>
    </p:embeddedFont>
    <p:embeddedFont>
      <p:font typeface="Montserrat Light" pitchFamily="2" charset="77"/>
      <p:regular r:id="rId8"/>
    </p:embeddedFont>
  </p:embeddedFontLst>
  <p:custDataLst>
    <p:tags r:id="rId9"/>
  </p:custDataLst>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1061" userDrawn="1">
          <p15:clr>
            <a:srgbClr val="A4A3A4"/>
          </p15:clr>
        </p15:guide>
        <p15:guide id="2" orient="horz" pos="8761" userDrawn="1">
          <p15:clr>
            <a:srgbClr val="A4A3A4"/>
          </p15:clr>
        </p15:guide>
        <p15:guide id="3" orient="horz" pos="5496" userDrawn="1">
          <p15:clr>
            <a:srgbClr val="A4A3A4"/>
          </p15:clr>
        </p15:guide>
        <p15:guide id="4" orient="horz" pos="9716" userDrawn="1">
          <p15:clr>
            <a:srgbClr val="A4A3A4"/>
          </p15:clr>
        </p15:guide>
        <p15:guide id="5" pos="720" userDrawn="1">
          <p15:clr>
            <a:srgbClr val="A4A3A4"/>
          </p15:clr>
        </p15:guide>
        <p15:guide id="6" pos="6912" userDrawn="1">
          <p15:clr>
            <a:srgbClr val="A4A3A4"/>
          </p15:clr>
        </p15:guide>
        <p15:guide id="7" pos="7392" userDrawn="1">
          <p15:clr>
            <a:srgbClr val="A4A3A4"/>
          </p15:clr>
        </p15:guide>
        <p15:guide id="8" pos="13584" userDrawn="1">
          <p15:clr>
            <a:srgbClr val="A4A3A4"/>
          </p15:clr>
        </p15:guide>
        <p15:guide id="9" pos="14064" userDrawn="1">
          <p15:clr>
            <a:srgbClr val="A4A3A4"/>
          </p15:clr>
        </p15:guide>
        <p15:guide id="10" pos="20256" userDrawn="1">
          <p15:clr>
            <a:srgbClr val="A4A3A4"/>
          </p15:clr>
        </p15:guide>
        <p15:guide id="11" pos="20736" userDrawn="1">
          <p15:clr>
            <a:srgbClr val="A4A3A4"/>
          </p15:clr>
        </p15:guide>
        <p15:guide id="12" pos="26928" userDrawn="1">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39" autoAdjust="0"/>
  </p:normalViewPr>
  <p:slideViewPr>
    <p:cSldViewPr>
      <p:cViewPr>
        <p:scale>
          <a:sx n="61" d="100"/>
          <a:sy n="61" d="100"/>
        </p:scale>
        <p:origin x="-632" y="-13408"/>
      </p:cViewPr>
      <p:guideLst>
        <p:guide orient="horz" pos="31061"/>
        <p:guide orient="horz" pos="8761"/>
        <p:guide orient="horz" pos="5496"/>
        <p:guide orient="horz" pos="9716"/>
        <p:guide pos="720"/>
        <p:guide pos="6912"/>
        <p:guide pos="7392"/>
        <p:guide pos="13584"/>
        <p:guide pos="14064"/>
        <p:guide pos="20256"/>
        <p:guide pos="20736"/>
        <p:guide pos="269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20" d="100"/>
          <a:sy n="20" d="100"/>
        </p:scale>
        <p:origin x="4888" y="264"/>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viewProps" Target="viewProps.xml"/><Relationship Id="rId5" Type="http://schemas.openxmlformats.org/officeDocument/2006/relationships/font" Target="fonts/font1.fntdata"/><Relationship Id="rId10" Type="http://schemas.openxmlformats.org/officeDocument/2006/relationships/presProps" Target="presProps.xml"/><Relationship Id="rId4" Type="http://schemas.openxmlformats.org/officeDocument/2006/relationships/handoutMaster" Target="handoutMasters/handoutMaster1.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4099" name="Rectangle 3"/>
          <p:cNvSpPr>
            <a:spLocks noGrp="1" noChangeArrowheads="1"/>
          </p:cNvSpPr>
          <p:nvPr>
            <p:ph type="dt" sz="quarter"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4100" name="Rectangle 4"/>
          <p:cNvSpPr>
            <a:spLocks noGrp="1" noChangeArrowheads="1"/>
          </p:cNvSpPr>
          <p:nvPr>
            <p:ph type="ftr" sz="quarter" idx="2"/>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4101" name="Rectangle 5"/>
          <p:cNvSpPr>
            <a:spLocks noGrp="1" noChangeArrowheads="1"/>
          </p:cNvSpPr>
          <p:nvPr>
            <p:ph type="sldNum" sz="quarter" idx="3"/>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40C443C-8022-4F5D-8F2E-5133654FC91D}" type="slidenum">
              <a:rPr lang="en-AU"/>
              <a:pPr>
                <a:defRPr/>
              </a:pPr>
              <a:t>‹#›</a:t>
            </a:fld>
            <a:endParaRPr lang="en-AU"/>
          </a:p>
        </p:txBody>
      </p:sp>
    </p:spTree>
    <p:extLst>
      <p:ext uri="{BB962C8B-B14F-4D97-AF65-F5344CB8AC3E}">
        <p14:creationId xmlns:p14="http://schemas.microsoft.com/office/powerpoint/2010/main" val="399792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3075" name="Rectangle 3"/>
          <p:cNvSpPr>
            <a:spLocks noGrp="1" noChangeArrowheads="1"/>
          </p:cNvSpPr>
          <p:nvPr>
            <p:ph type="dt"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3076" name="Rectangle 4"/>
          <p:cNvSpPr>
            <a:spLocks noGrp="1" noRot="1" noChangeAspect="1" noChangeArrowheads="1" noTextEdit="1"/>
          </p:cNvSpPr>
          <p:nvPr>
            <p:ph type="sldImg" idx="2"/>
          </p:nvPr>
        </p:nvSpPr>
        <p:spPr bwMode="auto">
          <a:xfrm>
            <a:off x="7842250" y="3757613"/>
            <a:ext cx="16068675" cy="187483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a:lstStyle/>
          <a:p>
            <a:endParaRPr lang="en-US"/>
          </a:p>
        </p:txBody>
      </p:sp>
      <p:sp>
        <p:nvSpPr>
          <p:cNvPr id="3077" name="Rectangle 5"/>
          <p:cNvSpPr>
            <a:spLocks noGrp="1" noChangeArrowheads="1"/>
          </p:cNvSpPr>
          <p:nvPr>
            <p:ph type="body" sz="quarter" idx="3"/>
          </p:nvPr>
        </p:nvSpPr>
        <p:spPr bwMode="auto">
          <a:xfrm>
            <a:off x="4137025" y="24004588"/>
            <a:ext cx="23456900" cy="22512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3079" name="Rectangle 7"/>
          <p:cNvSpPr>
            <a:spLocks noGrp="1" noChangeArrowheads="1"/>
          </p:cNvSpPr>
          <p:nvPr>
            <p:ph type="sldNum" sz="quarter" idx="5"/>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2207482-9F38-4AF6-9B91-768DCEDA59AC}" type="slidenum">
              <a:rPr lang="en-AU"/>
              <a:pPr>
                <a:defRPr/>
              </a:pPr>
              <a:t>‹#›</a:t>
            </a:fld>
            <a:endParaRPr lang="en-AU"/>
          </a:p>
        </p:txBody>
      </p:sp>
    </p:spTree>
    <p:extLst>
      <p:ext uri="{BB962C8B-B14F-4D97-AF65-F5344CB8AC3E}">
        <p14:creationId xmlns:p14="http://schemas.microsoft.com/office/powerpoint/2010/main" val="4090799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4508500">
              <a:defRPr sz="2400">
                <a:solidFill>
                  <a:schemeClr val="tx1"/>
                </a:solidFill>
                <a:latin typeface="Times New Roman" pitchFamily="18" charset="0"/>
              </a:defRPr>
            </a:lvl1pPr>
            <a:lvl2pPr marL="742950" indent="-285750" defTabSz="4508500">
              <a:defRPr sz="2400">
                <a:solidFill>
                  <a:schemeClr val="tx1"/>
                </a:solidFill>
                <a:latin typeface="Times New Roman" pitchFamily="18" charset="0"/>
              </a:defRPr>
            </a:lvl2pPr>
            <a:lvl3pPr marL="1143000" indent="-228600" defTabSz="4508500">
              <a:defRPr sz="2400">
                <a:solidFill>
                  <a:schemeClr val="tx1"/>
                </a:solidFill>
                <a:latin typeface="Times New Roman" pitchFamily="18" charset="0"/>
              </a:defRPr>
            </a:lvl3pPr>
            <a:lvl4pPr marL="1600200" indent="-228600" defTabSz="4508500">
              <a:defRPr sz="2400">
                <a:solidFill>
                  <a:schemeClr val="tx1"/>
                </a:solidFill>
                <a:latin typeface="Times New Roman" pitchFamily="18" charset="0"/>
              </a:defRPr>
            </a:lvl4pPr>
            <a:lvl5pPr marL="2057400" indent="-228600" defTabSz="4508500">
              <a:defRPr sz="2400">
                <a:solidFill>
                  <a:schemeClr val="tx1"/>
                </a:solidFill>
                <a:latin typeface="Times New Roman" pitchFamily="18" charset="0"/>
              </a:defRPr>
            </a:lvl5pPr>
            <a:lvl6pPr marL="2514600" indent="-228600" defTabSz="4508500" eaLnBrk="0" fontAlgn="base" hangingPunct="0">
              <a:spcBef>
                <a:spcPct val="0"/>
              </a:spcBef>
              <a:spcAft>
                <a:spcPct val="0"/>
              </a:spcAft>
              <a:defRPr sz="2400">
                <a:solidFill>
                  <a:schemeClr val="tx1"/>
                </a:solidFill>
                <a:latin typeface="Times New Roman" pitchFamily="18" charset="0"/>
              </a:defRPr>
            </a:lvl6pPr>
            <a:lvl7pPr marL="2971800" indent="-228600" defTabSz="4508500" eaLnBrk="0" fontAlgn="base" hangingPunct="0">
              <a:spcBef>
                <a:spcPct val="0"/>
              </a:spcBef>
              <a:spcAft>
                <a:spcPct val="0"/>
              </a:spcAft>
              <a:defRPr sz="2400">
                <a:solidFill>
                  <a:schemeClr val="tx1"/>
                </a:solidFill>
                <a:latin typeface="Times New Roman" pitchFamily="18" charset="0"/>
              </a:defRPr>
            </a:lvl7pPr>
            <a:lvl8pPr marL="3429000" indent="-228600" defTabSz="4508500" eaLnBrk="0" fontAlgn="base" hangingPunct="0">
              <a:spcBef>
                <a:spcPct val="0"/>
              </a:spcBef>
              <a:spcAft>
                <a:spcPct val="0"/>
              </a:spcAft>
              <a:defRPr sz="2400">
                <a:solidFill>
                  <a:schemeClr val="tx1"/>
                </a:solidFill>
                <a:latin typeface="Times New Roman" pitchFamily="18" charset="0"/>
              </a:defRPr>
            </a:lvl8pPr>
            <a:lvl9pPr marL="3886200" indent="-228600" defTabSz="4508500" eaLnBrk="0" fontAlgn="base" hangingPunct="0">
              <a:spcBef>
                <a:spcPct val="0"/>
              </a:spcBef>
              <a:spcAft>
                <a:spcPct val="0"/>
              </a:spcAft>
              <a:defRPr sz="2400">
                <a:solidFill>
                  <a:schemeClr val="tx1"/>
                </a:solidFill>
                <a:latin typeface="Times New Roman" pitchFamily="18" charset="0"/>
              </a:defRPr>
            </a:lvl9pPr>
          </a:lstStyle>
          <a:p>
            <a:fld id="{842B0325-ACC9-488E-8876-C4E9E3B68AD8}" type="slidenum">
              <a:rPr lang="en-AU" sz="6000" smtClean="0"/>
              <a:t>1</a:t>
            </a:fld>
            <a:endParaRPr lang="en-AU" sz="6000"/>
          </a:p>
        </p:txBody>
      </p:sp>
      <p:sp>
        <p:nvSpPr>
          <p:cNvPr id="4099" name="Rectangle 2"/>
          <p:cNvSpPr>
            <a:spLocks noGrp="1" noRot="1" noChangeAspect="1" noChangeArrowheads="1" noTextEdit="1"/>
          </p:cNvSpPr>
          <p:nvPr>
            <p:ph type="sldImg"/>
          </p:nvPr>
        </p:nvSpPr>
        <p:spPr>
          <a:xfrm>
            <a:off x="7842250" y="3757613"/>
            <a:ext cx="16068675" cy="18748375"/>
          </a:xfrm>
        </p:spPr>
        <p:txBody>
          <a:bodyPr/>
          <a:lstStyle/>
          <a:p>
            <a:endParaRPr lang="en-US"/>
          </a:p>
        </p:txBody>
      </p:sp>
      <p:sp>
        <p:nvSpPr>
          <p:cNvPr id="4100" name="Rectangle 3"/>
          <p:cNvSpPr>
            <a:spLocks noGrp="1" noChangeArrowheads="1"/>
          </p:cNvSpPr>
          <p:nvPr>
            <p:ph type="body" idx="1"/>
          </p:nvPr>
        </p:nvSpPr>
        <p:spPr>
          <a:noFill/>
        </p:spPr>
        <p:txBody>
          <a:bodyPr/>
          <a:lstStyle>
            <a:defPPr>
              <a:defRPr kern="1200"/>
            </a:defP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124" y="15908161"/>
            <a:ext cx="37306957" cy="10974211"/>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4245" y="29015972"/>
            <a:ext cx="30722711" cy="13088056"/>
          </a:xfrm>
        </p:spPr>
        <p:txBody>
          <a:bodyPr/>
          <a:lstStyle>
            <a:defPPr>
              <a:defRPr kern="1200"/>
            </a:defPPr>
            <a:lvl1pPr marL="0" indent="0" algn="ctr">
              <a:buNone/>
              <a:defRPr/>
            </a:lvl1pPr>
            <a:lvl2pPr marL="457243" indent="0" algn="ctr">
              <a:buNone/>
              <a:defRPr/>
            </a:lvl2pPr>
            <a:lvl3pPr marL="914487" indent="0" algn="ctr">
              <a:buNone/>
              <a:defRPr/>
            </a:lvl3pPr>
            <a:lvl4pPr marL="1371731" indent="0" algn="ctr">
              <a:buNone/>
              <a:defRPr/>
            </a:lvl4pPr>
            <a:lvl5pPr marL="1828974" indent="0" algn="ctr">
              <a:buNone/>
              <a:defRPr/>
            </a:lvl5pPr>
            <a:lvl6pPr marL="2286218" indent="0" algn="ctr">
              <a:buNone/>
              <a:defRPr/>
            </a:lvl6pPr>
            <a:lvl7pPr marL="2743461" indent="0" algn="ctr">
              <a:buNone/>
              <a:defRPr/>
            </a:lvl7pPr>
            <a:lvl8pPr marL="3200705" indent="0" algn="ctr">
              <a:buNone/>
              <a:defRPr/>
            </a:lvl8pPr>
            <a:lvl9pPr marL="3657949"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DA66E67-F948-4693-96A5-27BC239C04A3}" type="slidenum">
              <a:rPr lang="en-US"/>
              <a:pPr>
                <a:defRPr/>
              </a:pPr>
              <a:t>‹#›</a:t>
            </a:fld>
            <a:endParaRPr lang="en-US"/>
          </a:p>
        </p:txBody>
      </p:sp>
    </p:spTree>
    <p:extLst>
      <p:ext uri="{BB962C8B-B14F-4D97-AF65-F5344CB8AC3E}">
        <p14:creationId xmlns:p14="http://schemas.microsoft.com/office/powerpoint/2010/main" val="364892258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EC1B4D6-BEE2-4AF6-A92E-38CD68913D5A}" type="slidenum">
              <a:rPr lang="en-US"/>
              <a:pPr>
                <a:defRPr/>
              </a:pPr>
              <a:t>‹#›</a:t>
            </a:fld>
            <a:endParaRPr lang="en-US"/>
          </a:p>
        </p:txBody>
      </p:sp>
    </p:spTree>
    <p:extLst>
      <p:ext uri="{BB962C8B-B14F-4D97-AF65-F5344CB8AC3E}">
        <p14:creationId xmlns:p14="http://schemas.microsoft.com/office/powerpoint/2010/main" val="31777626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32905350"/>
            <a:ext cx="37306957" cy="10169172"/>
          </a:xfr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1" y="21703948"/>
            <a:ext cx="37306957" cy="11201400"/>
          </a:xfrm>
        </p:spPr>
        <p:txBody>
          <a:bodyPr anchor="b"/>
          <a:lstStyle>
            <a:defPPr>
              <a:defRPr kern="1200"/>
            </a:defPPr>
            <a:lvl1pPr marL="0" indent="0">
              <a:buNone/>
              <a:defRPr sz="2000"/>
            </a:lvl1pPr>
            <a:lvl2pPr marL="457243" indent="0">
              <a:buNone/>
              <a:defRPr sz="1800"/>
            </a:lvl2pPr>
            <a:lvl3pPr marL="914487" indent="0">
              <a:buNone/>
              <a:defRPr sz="1600"/>
            </a:lvl3pPr>
            <a:lvl4pPr marL="1371731" indent="0">
              <a:buNone/>
              <a:defRPr sz="1400"/>
            </a:lvl4pPr>
            <a:lvl5pPr marL="1828974" indent="0">
              <a:buNone/>
              <a:defRPr sz="1400"/>
            </a:lvl5pPr>
            <a:lvl6pPr marL="2286218" indent="0">
              <a:buNone/>
              <a:defRPr sz="1400"/>
            </a:lvl6pPr>
            <a:lvl7pPr marL="2743461" indent="0">
              <a:buNone/>
              <a:defRPr sz="1400"/>
            </a:lvl7pPr>
            <a:lvl8pPr marL="3200705" indent="0">
              <a:buNone/>
              <a:defRPr sz="1400"/>
            </a:lvl8pPr>
            <a:lvl9pPr marL="3657949"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8650354-6837-43DB-843B-C6021BD2EF37}" type="slidenum">
              <a:rPr lang="en-US"/>
              <a:pPr>
                <a:defRPr/>
              </a:pPr>
              <a:t>‹#›</a:t>
            </a:fld>
            <a:endParaRPr lang="en-US"/>
          </a:p>
        </p:txBody>
      </p:sp>
    </p:spTree>
    <p:extLst>
      <p:ext uri="{BB962C8B-B14F-4D97-AF65-F5344CB8AC3E}">
        <p14:creationId xmlns:p14="http://schemas.microsoft.com/office/powerpoint/2010/main" val="25686382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3293534" y="14791974"/>
            <a:ext cx="18584332" cy="30724828"/>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3334" y="14791974"/>
            <a:ext cx="18584332" cy="30724828"/>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296FF25-ADB1-4315-9622-9852994CD1E5}" type="slidenum">
              <a:rPr lang="en-US"/>
              <a:pPr>
                <a:defRPr/>
              </a:pPr>
              <a:t>‹#›</a:t>
            </a:fld>
            <a:endParaRPr lang="en-US"/>
          </a:p>
        </p:txBody>
      </p:sp>
    </p:spTree>
    <p:extLst>
      <p:ext uri="{BB962C8B-B14F-4D97-AF65-F5344CB8AC3E}">
        <p14:creationId xmlns:p14="http://schemas.microsoft.com/office/powerpoint/2010/main" val="261830916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279" y="2049639"/>
            <a:ext cx="39502643" cy="85344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4278" y="11463163"/>
            <a:ext cx="19392900" cy="4775906"/>
          </a:xfrm>
        </p:spPr>
        <p:txBody>
          <a:bodyPr anchor="b"/>
          <a:lstStyle>
            <a:defPPr>
              <a:defRPr kern="1200"/>
            </a:defPPr>
            <a:lvl1pPr marL="0" indent="0">
              <a:buNone/>
              <a:defRPr sz="2400" b="1"/>
            </a:lvl1pPr>
            <a:lvl2pPr marL="457243" indent="0">
              <a:buNone/>
              <a:defRPr sz="2000" b="1"/>
            </a:lvl2pPr>
            <a:lvl3pPr marL="914487" indent="0">
              <a:buNone/>
              <a:defRPr sz="1800" b="1"/>
            </a:lvl3pPr>
            <a:lvl4pPr marL="1371731" indent="0">
              <a:buNone/>
              <a:defRPr sz="1600" b="1"/>
            </a:lvl4pPr>
            <a:lvl5pPr marL="1828974" indent="0">
              <a:buNone/>
              <a:defRPr sz="1600" b="1"/>
            </a:lvl5pPr>
            <a:lvl6pPr marL="2286218" indent="0">
              <a:buNone/>
              <a:defRPr sz="1600" b="1"/>
            </a:lvl6pPr>
            <a:lvl7pPr marL="2743461" indent="0">
              <a:buNone/>
              <a:defRPr sz="1600" b="1"/>
            </a:lvl7pPr>
            <a:lvl8pPr marL="3200705" indent="0">
              <a:buNone/>
              <a:defRPr sz="1600" b="1"/>
            </a:lvl8pPr>
            <a:lvl9pPr marL="3657949" indent="0">
              <a:buNone/>
              <a:defRPr sz="1600" b="1"/>
            </a:lvl9pPr>
          </a:lstStyle>
          <a:p>
            <a:pPr lvl="0"/>
            <a:r>
              <a:rPr lang="en-US"/>
              <a:t>Click to edit Master text styles</a:t>
            </a:r>
          </a:p>
        </p:txBody>
      </p:sp>
      <p:sp>
        <p:nvSpPr>
          <p:cNvPr id="4" name="Content Placeholder 3"/>
          <p:cNvSpPr>
            <a:spLocks noGrp="1"/>
          </p:cNvSpPr>
          <p:nvPr>
            <p:ph sz="half" idx="2"/>
          </p:nvPr>
        </p:nvSpPr>
        <p:spPr>
          <a:xfrm>
            <a:off x="2194278" y="16239067"/>
            <a:ext cx="19392900" cy="2950245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5555" y="11463163"/>
            <a:ext cx="19401368" cy="4775906"/>
          </a:xfrm>
        </p:spPr>
        <p:txBody>
          <a:bodyPr anchor="b"/>
          <a:lstStyle>
            <a:defPPr>
              <a:defRPr kern="1200"/>
            </a:defPPr>
            <a:lvl1pPr marL="0" indent="0">
              <a:buNone/>
              <a:defRPr sz="2400" b="1"/>
            </a:lvl1pPr>
            <a:lvl2pPr marL="457243" indent="0">
              <a:buNone/>
              <a:defRPr sz="2000" b="1"/>
            </a:lvl2pPr>
            <a:lvl3pPr marL="914487" indent="0">
              <a:buNone/>
              <a:defRPr sz="1800" b="1"/>
            </a:lvl3pPr>
            <a:lvl4pPr marL="1371731" indent="0">
              <a:buNone/>
              <a:defRPr sz="1600" b="1"/>
            </a:lvl4pPr>
            <a:lvl5pPr marL="1828974" indent="0">
              <a:buNone/>
              <a:defRPr sz="1600" b="1"/>
            </a:lvl5pPr>
            <a:lvl6pPr marL="2286218" indent="0">
              <a:buNone/>
              <a:defRPr sz="1600" b="1"/>
            </a:lvl6pPr>
            <a:lvl7pPr marL="2743461" indent="0">
              <a:buNone/>
              <a:defRPr sz="1600" b="1"/>
            </a:lvl7pPr>
            <a:lvl8pPr marL="3200705" indent="0">
              <a:buNone/>
              <a:defRPr sz="1600" b="1"/>
            </a:lvl8pPr>
            <a:lvl9pPr marL="365794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5555" y="16239067"/>
            <a:ext cx="19401368" cy="2950245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72EF82B1-171C-4CAC-B9C4-22062286C8C4}" type="slidenum">
              <a:rPr lang="en-US"/>
              <a:pPr>
                <a:defRPr/>
              </a:pPr>
              <a:t>‹#›</a:t>
            </a:fld>
            <a:endParaRPr lang="en-US"/>
          </a:p>
        </p:txBody>
      </p:sp>
    </p:spTree>
    <p:extLst>
      <p:ext uri="{BB962C8B-B14F-4D97-AF65-F5344CB8AC3E}">
        <p14:creationId xmlns:p14="http://schemas.microsoft.com/office/powerpoint/2010/main" val="3601223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78F620B-8934-45A0-BE2C-EF6C76032C45}" type="slidenum">
              <a:rPr lang="en-US"/>
              <a:pPr>
                <a:defRPr/>
              </a:pPr>
              <a:t>‹#›</a:t>
            </a:fld>
            <a:endParaRPr lang="en-US"/>
          </a:p>
        </p:txBody>
      </p:sp>
    </p:spTree>
    <p:extLst>
      <p:ext uri="{BB962C8B-B14F-4D97-AF65-F5344CB8AC3E}">
        <p14:creationId xmlns:p14="http://schemas.microsoft.com/office/powerpoint/2010/main" val="35293863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3ECE3F5-A3DD-46D3-8112-19EE7FD1DDFA}" type="slidenum">
              <a:rPr lang="en-US"/>
              <a:pPr>
                <a:defRPr/>
              </a:pPr>
              <a:t>‹#›</a:t>
            </a:fld>
            <a:endParaRPr lang="en-US"/>
          </a:p>
        </p:txBody>
      </p:sp>
    </p:spTree>
    <p:extLst>
      <p:ext uri="{BB962C8B-B14F-4D97-AF65-F5344CB8AC3E}">
        <p14:creationId xmlns:p14="http://schemas.microsoft.com/office/powerpoint/2010/main" val="23374252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278" y="2039761"/>
            <a:ext cx="14439900" cy="8675159"/>
          </a:xfr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523" y="2039761"/>
            <a:ext cx="24536400" cy="43701759"/>
          </a:xfr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278" y="10714920"/>
            <a:ext cx="14439900" cy="35026600"/>
          </a:xfrm>
        </p:spPr>
        <p:txBody>
          <a:bodyPr/>
          <a:lstStyle>
            <a:defPPr>
              <a:defRPr kern="1200"/>
            </a:defPPr>
            <a:lvl1pPr marL="0" indent="0">
              <a:buNone/>
              <a:defRPr sz="1400"/>
            </a:lvl1pPr>
            <a:lvl2pPr marL="457243" indent="0">
              <a:buNone/>
              <a:defRPr sz="1200"/>
            </a:lvl2pPr>
            <a:lvl3pPr marL="914487" indent="0">
              <a:buNone/>
              <a:defRPr sz="1000"/>
            </a:lvl3pPr>
            <a:lvl4pPr marL="1371731" indent="0">
              <a:buNone/>
              <a:defRPr sz="900"/>
            </a:lvl4pPr>
            <a:lvl5pPr marL="1828974" indent="0">
              <a:buNone/>
              <a:defRPr sz="900"/>
            </a:lvl5pPr>
            <a:lvl6pPr marL="2286218" indent="0">
              <a:buNone/>
              <a:defRPr sz="900"/>
            </a:lvl6pPr>
            <a:lvl7pPr marL="2743461" indent="0">
              <a:buNone/>
              <a:defRPr sz="900"/>
            </a:lvl7pPr>
            <a:lvl8pPr marL="3200705" indent="0">
              <a:buNone/>
              <a:defRPr sz="900"/>
            </a:lvl8pPr>
            <a:lvl9pPr marL="3657949"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96691E56-DA67-4BF5-BA67-706F30B37046}" type="slidenum">
              <a:rPr lang="en-US"/>
              <a:pPr>
                <a:defRPr/>
              </a:pPr>
              <a:t>‹#›</a:t>
            </a:fld>
            <a:endParaRPr lang="en-US"/>
          </a:p>
        </p:txBody>
      </p:sp>
    </p:spTree>
    <p:extLst>
      <p:ext uri="{BB962C8B-B14F-4D97-AF65-F5344CB8AC3E}">
        <p14:creationId xmlns:p14="http://schemas.microsoft.com/office/powerpoint/2010/main" val="39828956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3548" y="35843989"/>
            <a:ext cx="26334157" cy="4232628"/>
          </a:xfr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3548" y="4575881"/>
            <a:ext cx="26334157" cy="30722359"/>
          </a:xfrm>
        </p:spPr>
        <p:txBody>
          <a:bodyPr/>
          <a:lstStyle>
            <a:defPPr>
              <a:defRPr kern="1200"/>
            </a:defPPr>
            <a:lvl1pPr marL="0" indent="0">
              <a:buNone/>
              <a:defRPr sz="3200"/>
            </a:lvl1pPr>
            <a:lvl2pPr marL="457243" indent="0">
              <a:buNone/>
              <a:defRPr sz="2800"/>
            </a:lvl2pPr>
            <a:lvl3pPr marL="914487" indent="0">
              <a:buNone/>
              <a:defRPr sz="2400"/>
            </a:lvl3pPr>
            <a:lvl4pPr marL="1371731" indent="0">
              <a:buNone/>
              <a:defRPr sz="2000"/>
            </a:lvl4pPr>
            <a:lvl5pPr marL="1828974" indent="0">
              <a:buNone/>
              <a:defRPr sz="2000"/>
            </a:lvl5pPr>
            <a:lvl6pPr marL="2286218" indent="0">
              <a:buNone/>
              <a:defRPr sz="2000"/>
            </a:lvl6pPr>
            <a:lvl7pPr marL="2743461" indent="0">
              <a:buNone/>
              <a:defRPr sz="2000"/>
            </a:lvl7pPr>
            <a:lvl8pPr marL="3200705" indent="0">
              <a:buNone/>
              <a:defRPr sz="2000"/>
            </a:lvl8pPr>
            <a:lvl9pPr marL="3657949" indent="0">
              <a:buNone/>
              <a:defRPr sz="2000"/>
            </a:lvl9pPr>
          </a:lstStyle>
          <a:p>
            <a:pPr lvl="0"/>
            <a:endParaRPr lang="en-US" noProof="0"/>
          </a:p>
        </p:txBody>
      </p:sp>
      <p:sp>
        <p:nvSpPr>
          <p:cNvPr id="4" name="Text Placeholder 3"/>
          <p:cNvSpPr>
            <a:spLocks noGrp="1"/>
          </p:cNvSpPr>
          <p:nvPr>
            <p:ph type="body" sz="half" idx="2"/>
          </p:nvPr>
        </p:nvSpPr>
        <p:spPr>
          <a:xfrm>
            <a:off x="8603548" y="40076618"/>
            <a:ext cx="26334157" cy="6008158"/>
          </a:xfrm>
        </p:spPr>
        <p:txBody>
          <a:bodyPr/>
          <a:lstStyle>
            <a:defPPr>
              <a:defRPr kern="1200"/>
            </a:defPPr>
            <a:lvl1pPr marL="0" indent="0">
              <a:buNone/>
              <a:defRPr sz="1400"/>
            </a:lvl1pPr>
            <a:lvl2pPr marL="457243" indent="0">
              <a:buNone/>
              <a:defRPr sz="1200"/>
            </a:lvl2pPr>
            <a:lvl3pPr marL="914487" indent="0">
              <a:buNone/>
              <a:defRPr sz="1000"/>
            </a:lvl3pPr>
            <a:lvl4pPr marL="1371731" indent="0">
              <a:buNone/>
              <a:defRPr sz="900"/>
            </a:lvl4pPr>
            <a:lvl5pPr marL="1828974" indent="0">
              <a:buNone/>
              <a:defRPr sz="900"/>
            </a:lvl5pPr>
            <a:lvl6pPr marL="2286218" indent="0">
              <a:buNone/>
              <a:defRPr sz="900"/>
            </a:lvl6pPr>
            <a:lvl7pPr marL="2743461" indent="0">
              <a:buNone/>
              <a:defRPr sz="900"/>
            </a:lvl7pPr>
            <a:lvl8pPr marL="3200705" indent="0">
              <a:buNone/>
              <a:defRPr sz="900"/>
            </a:lvl8pPr>
            <a:lvl9pPr marL="3657949"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F51DAE-E528-43E1-8BE0-91521416EFB0}" type="slidenum">
              <a:rPr lang="en-US"/>
              <a:pPr>
                <a:defRPr/>
              </a:pPr>
              <a:t>‹#›</a:t>
            </a:fld>
            <a:endParaRPr lang="en-US"/>
          </a:p>
        </p:txBody>
      </p:sp>
    </p:spTree>
    <p:extLst>
      <p:ext uri="{BB962C8B-B14F-4D97-AF65-F5344CB8AC3E}">
        <p14:creationId xmlns:p14="http://schemas.microsoft.com/office/powerpoint/2010/main" val="21542948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2DA27A25-0059-41B6-A6E5-54D93C10805F}" type="slidenum">
              <a:rPr lang="en-US"/>
              <a:pPr>
                <a:defRPr/>
              </a:pPr>
              <a:t>‹#›</a:t>
            </a:fld>
            <a:endParaRPr lang="en-US"/>
          </a:p>
        </p:txBody>
      </p:sp>
    </p:spTree>
    <p:extLst>
      <p:ext uri="{BB962C8B-B14F-4D97-AF65-F5344CB8AC3E}">
        <p14:creationId xmlns:p14="http://schemas.microsoft.com/office/powerpoint/2010/main" val="4181187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1638" y="4551188"/>
            <a:ext cx="9326033" cy="40965615"/>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3293537" y="4551188"/>
            <a:ext cx="27842635" cy="40965615"/>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43B26BC-A2E6-4CDA-9F76-12293F26600A}" type="slidenum">
              <a:rPr lang="en-US"/>
              <a:pPr>
                <a:defRPr/>
              </a:pPr>
              <a:t>‹#›</a:t>
            </a:fld>
            <a:endParaRPr lang="en-US"/>
          </a:p>
        </p:txBody>
      </p:sp>
    </p:spTree>
    <p:extLst>
      <p:ext uri="{BB962C8B-B14F-4D97-AF65-F5344CB8AC3E}">
        <p14:creationId xmlns:p14="http://schemas.microsoft.com/office/powerpoint/2010/main" val="34941854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0094B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94063" y="4551187"/>
            <a:ext cx="37303075" cy="853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3294063" y="14791974"/>
            <a:ext cx="37303075" cy="30724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4063" y="46655217"/>
            <a:ext cx="9144000"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defTabSz="4267606">
              <a:defRPr sz="6500"/>
            </a:lvl1pPr>
          </a:lstStyle>
          <a:p>
            <a:pPr>
              <a:defRPr/>
            </a:pPr>
            <a:endParaRPr lang="en-US"/>
          </a:p>
        </p:txBody>
      </p:sp>
      <p:sp>
        <p:nvSpPr>
          <p:cNvPr id="1029" name="Rectangle 5"/>
          <p:cNvSpPr>
            <a:spLocks noGrp="1" noChangeArrowheads="1"/>
          </p:cNvSpPr>
          <p:nvPr>
            <p:ph type="ftr" sz="quarter" idx="3"/>
          </p:nvPr>
        </p:nvSpPr>
        <p:spPr bwMode="auto">
          <a:xfrm>
            <a:off x="14993938" y="46655217"/>
            <a:ext cx="13903325"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ctr" defTabSz="4267606">
              <a:defRPr sz="6500"/>
            </a:lvl1pPr>
          </a:lstStyle>
          <a:p>
            <a:pPr>
              <a:defRPr/>
            </a:pPr>
            <a:endParaRPr lang="en-US"/>
          </a:p>
        </p:txBody>
      </p:sp>
      <p:sp>
        <p:nvSpPr>
          <p:cNvPr id="1030" name="Rectangle 6"/>
          <p:cNvSpPr>
            <a:spLocks noGrp="1" noChangeArrowheads="1"/>
          </p:cNvSpPr>
          <p:nvPr>
            <p:ph type="sldNum" sz="quarter" idx="4"/>
          </p:nvPr>
        </p:nvSpPr>
        <p:spPr bwMode="auto">
          <a:xfrm>
            <a:off x="31453138" y="46655217"/>
            <a:ext cx="9144000"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r" defTabSz="4267606">
              <a:defRPr sz="6500"/>
            </a:lvl1pPr>
          </a:lstStyle>
          <a:p>
            <a:pPr>
              <a:defRPr/>
            </a:pPr>
            <a:fld id="{469A0CB4-D18D-4AEF-B324-9EDF067D136D}" type="slidenum">
              <a:rPr lang="en-US"/>
              <a:pPr>
                <a:defRPr/>
              </a:pPr>
              <a:t>‹#›</a:t>
            </a:fld>
            <a:endParaRPr lang="en-US"/>
          </a:p>
        </p:txBody>
      </p:sp>
      <p:pic>
        <p:nvPicPr>
          <p:cNvPr id="1031" name="New picture"/>
          <p:cNvPicPr/>
          <p:nvPr/>
        </p:nvPicPr>
        <p:blipFill>
          <a:blip r:embed="rId13"/>
          <a:stretch>
            <a:fillRect/>
          </a:stretch>
        </p:blipFill>
        <p:spPr>
          <a:xfrm rot="16200000">
            <a:off x="-15039622" y="26696811"/>
            <a:ext cx="22205244" cy="3937000"/>
          </a:xfrm>
          <a:prstGeom prst="rect">
            <a:avLst/>
          </a:prstGeom>
        </p:spPr>
      </p:pic>
      <p:pic>
        <p:nvPicPr>
          <p:cNvPr id="1032" name="New picture"/>
          <p:cNvPicPr/>
          <p:nvPr/>
        </p:nvPicPr>
        <p:blipFill>
          <a:blip r:embed="rId13"/>
          <a:stretch>
            <a:fillRect/>
          </a:stretch>
        </p:blipFill>
        <p:spPr>
          <a:xfrm rot="5400000">
            <a:off x="36725578" y="26696811"/>
            <a:ext cx="22205244" cy="3937000"/>
          </a:xfrm>
          <a:prstGeom prst="rect">
            <a:avLst/>
          </a:prstGeom>
        </p:spPr>
      </p:pic>
      <p:pic>
        <p:nvPicPr>
          <p:cNvPr id="1033" name="New picture"/>
          <p:cNvPicPr/>
          <p:nvPr/>
        </p:nvPicPr>
        <p:blipFill>
          <a:blip r:embed="rId14"/>
          <a:stretch>
            <a:fillRect/>
          </a:stretch>
        </p:blipFill>
        <p:spPr>
          <a:xfrm>
            <a:off x="6946900" y="51996622"/>
            <a:ext cx="29997400" cy="2252133"/>
          </a:xfrm>
          <a:prstGeom prst="rect">
            <a:avLst/>
          </a:prstGeom>
        </p:spPr>
      </p:pic>
      <p:sp>
        <p:nvSpPr>
          <p:cNvPr id="1034" name="New shape"/>
          <p:cNvSpPr/>
          <p:nvPr/>
        </p:nvSpPr>
        <p:spPr>
          <a:xfrm>
            <a:off x="6946900" y="52885622"/>
            <a:ext cx="21945600" cy="1975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1">
                <a:solidFill>
                  <a:srgbClr val="808080"/>
                </a:solidFill>
              </a:rPr>
              <a:t>Template ID: </a:t>
            </a:r>
            <a:r>
              <a:rPr sz="4561" err="1">
                <a:solidFill>
                  <a:srgbClr val="808080"/>
                </a:solidFill>
              </a:rPr>
              <a:t>persuadingsapphire</a:t>
            </a:r>
            <a:r>
              <a:rPr sz="4561">
                <a:solidFill>
                  <a:srgbClr val="808080"/>
                </a:solidFill>
              </a:rPr>
              <a:t>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4267606" rtl="0" eaLnBrk="0" fontAlgn="base" hangingPunct="0">
        <a:spcBef>
          <a:spcPct val="0"/>
        </a:spcBef>
        <a:spcAft>
          <a:spcPct val="0"/>
        </a:spcAft>
        <a:defRPr sz="20502">
          <a:solidFill>
            <a:schemeClr val="tx2"/>
          </a:solidFill>
          <a:latin typeface="+mj-lt"/>
          <a:ea typeface="+mj-ea"/>
          <a:cs typeface="+mj-cs"/>
        </a:defRPr>
      </a:lvl1pPr>
      <a:lvl2pPr algn="ctr" defTabSz="4267606" rtl="0" eaLnBrk="0" fontAlgn="base" hangingPunct="0">
        <a:spcBef>
          <a:spcPct val="0"/>
        </a:spcBef>
        <a:spcAft>
          <a:spcPct val="0"/>
        </a:spcAft>
        <a:defRPr sz="20502">
          <a:solidFill>
            <a:schemeClr val="tx2"/>
          </a:solidFill>
          <a:latin typeface="Times New Roman" pitchFamily="18" charset="0"/>
        </a:defRPr>
      </a:lvl2pPr>
      <a:lvl3pPr algn="ctr" defTabSz="4267606" rtl="0" eaLnBrk="0" fontAlgn="base" hangingPunct="0">
        <a:spcBef>
          <a:spcPct val="0"/>
        </a:spcBef>
        <a:spcAft>
          <a:spcPct val="0"/>
        </a:spcAft>
        <a:defRPr sz="20502">
          <a:solidFill>
            <a:schemeClr val="tx2"/>
          </a:solidFill>
          <a:latin typeface="Times New Roman" pitchFamily="18" charset="0"/>
        </a:defRPr>
      </a:lvl3pPr>
      <a:lvl4pPr algn="ctr" defTabSz="4267606" rtl="0" eaLnBrk="0" fontAlgn="base" hangingPunct="0">
        <a:spcBef>
          <a:spcPct val="0"/>
        </a:spcBef>
        <a:spcAft>
          <a:spcPct val="0"/>
        </a:spcAft>
        <a:defRPr sz="20502">
          <a:solidFill>
            <a:schemeClr val="tx2"/>
          </a:solidFill>
          <a:latin typeface="Times New Roman" pitchFamily="18" charset="0"/>
        </a:defRPr>
      </a:lvl4pPr>
      <a:lvl5pPr algn="ctr" defTabSz="4267606" rtl="0" eaLnBrk="0" fontAlgn="base" hangingPunct="0">
        <a:spcBef>
          <a:spcPct val="0"/>
        </a:spcBef>
        <a:spcAft>
          <a:spcPct val="0"/>
        </a:spcAft>
        <a:defRPr sz="20502">
          <a:solidFill>
            <a:schemeClr val="tx2"/>
          </a:solidFill>
          <a:latin typeface="Times New Roman" pitchFamily="18" charset="0"/>
        </a:defRPr>
      </a:lvl5pPr>
      <a:lvl6pPr marL="457243" algn="ctr" defTabSz="4267606" rtl="0" eaLnBrk="0" fontAlgn="base" hangingPunct="0">
        <a:spcBef>
          <a:spcPct val="0"/>
        </a:spcBef>
        <a:spcAft>
          <a:spcPct val="0"/>
        </a:spcAft>
        <a:defRPr sz="20502">
          <a:solidFill>
            <a:schemeClr val="tx2"/>
          </a:solidFill>
          <a:latin typeface="Times New Roman" pitchFamily="18" charset="0"/>
        </a:defRPr>
      </a:lvl6pPr>
      <a:lvl7pPr marL="914487" algn="ctr" defTabSz="4267606" rtl="0" eaLnBrk="0" fontAlgn="base" hangingPunct="0">
        <a:spcBef>
          <a:spcPct val="0"/>
        </a:spcBef>
        <a:spcAft>
          <a:spcPct val="0"/>
        </a:spcAft>
        <a:defRPr sz="20502">
          <a:solidFill>
            <a:schemeClr val="tx2"/>
          </a:solidFill>
          <a:latin typeface="Times New Roman" pitchFamily="18" charset="0"/>
        </a:defRPr>
      </a:lvl7pPr>
      <a:lvl8pPr marL="1371731" algn="ctr" defTabSz="4267606" rtl="0" eaLnBrk="0" fontAlgn="base" hangingPunct="0">
        <a:spcBef>
          <a:spcPct val="0"/>
        </a:spcBef>
        <a:spcAft>
          <a:spcPct val="0"/>
        </a:spcAft>
        <a:defRPr sz="20502">
          <a:solidFill>
            <a:schemeClr val="tx2"/>
          </a:solidFill>
          <a:latin typeface="Times New Roman" pitchFamily="18" charset="0"/>
        </a:defRPr>
      </a:lvl8pPr>
      <a:lvl9pPr marL="1828974" algn="ctr" defTabSz="4267606" rtl="0" eaLnBrk="0" fontAlgn="base" hangingPunct="0">
        <a:spcBef>
          <a:spcPct val="0"/>
        </a:spcBef>
        <a:spcAft>
          <a:spcPct val="0"/>
        </a:spcAft>
        <a:defRPr sz="20502">
          <a:solidFill>
            <a:schemeClr val="tx2"/>
          </a:solidFill>
          <a:latin typeface="Times New Roman" pitchFamily="18" charset="0"/>
        </a:defRPr>
      </a:lvl9pPr>
    </p:titleStyle>
    <p:bodyStyle>
      <a:defPPr>
        <a:defRPr kern="1200"/>
      </a:defPPr>
      <a:lvl1pPr marL="1600352" indent="-1600352" algn="l" defTabSz="4267606" rtl="0" eaLnBrk="0" fontAlgn="base" hangingPunct="0">
        <a:spcBef>
          <a:spcPct val="20000"/>
        </a:spcBef>
        <a:spcAft>
          <a:spcPct val="0"/>
        </a:spcAft>
        <a:buChar char="•"/>
        <a:defRPr sz="14901">
          <a:solidFill>
            <a:schemeClr val="tx1"/>
          </a:solidFill>
          <a:latin typeface="+mn-lt"/>
          <a:ea typeface="+mn-ea"/>
          <a:cs typeface="+mn-cs"/>
        </a:defRPr>
      </a:lvl1pPr>
      <a:lvl2pPr marL="3467430" indent="-1333627" algn="l" defTabSz="4267606" rtl="0" eaLnBrk="0" fontAlgn="base" hangingPunct="0">
        <a:spcBef>
          <a:spcPct val="20000"/>
        </a:spcBef>
        <a:spcAft>
          <a:spcPct val="0"/>
        </a:spcAft>
        <a:buChar char="–"/>
        <a:defRPr sz="13101">
          <a:solidFill>
            <a:schemeClr val="tx1"/>
          </a:solidFill>
          <a:latin typeface="+mn-lt"/>
        </a:defRPr>
      </a:lvl2pPr>
      <a:lvl3pPr marL="5334508" indent="-1066902" algn="l" defTabSz="4267606" rtl="0" eaLnBrk="0" fontAlgn="base" hangingPunct="0">
        <a:spcBef>
          <a:spcPct val="20000"/>
        </a:spcBef>
        <a:spcAft>
          <a:spcPct val="0"/>
        </a:spcAft>
        <a:buChar char="•"/>
        <a:defRPr sz="11201">
          <a:solidFill>
            <a:schemeClr val="tx1"/>
          </a:solidFill>
          <a:latin typeface="+mn-lt"/>
        </a:defRPr>
      </a:lvl3pPr>
      <a:lvl4pPr marL="7468311" indent="-1066902" algn="l" defTabSz="4267606" rtl="0" eaLnBrk="0" fontAlgn="base" hangingPunct="0">
        <a:spcBef>
          <a:spcPct val="20000"/>
        </a:spcBef>
        <a:spcAft>
          <a:spcPct val="0"/>
        </a:spcAft>
        <a:buChar char="–"/>
        <a:defRPr sz="9301">
          <a:solidFill>
            <a:schemeClr val="tx1"/>
          </a:solidFill>
          <a:latin typeface="+mn-lt"/>
        </a:defRPr>
      </a:lvl4pPr>
      <a:lvl5pPr marL="9602115" indent="-1066902" algn="l" defTabSz="4267606" rtl="0" eaLnBrk="0" fontAlgn="base" hangingPunct="0">
        <a:spcBef>
          <a:spcPct val="20000"/>
        </a:spcBef>
        <a:spcAft>
          <a:spcPct val="0"/>
        </a:spcAft>
        <a:buChar char="»"/>
        <a:defRPr sz="9301">
          <a:solidFill>
            <a:schemeClr val="tx1"/>
          </a:solidFill>
          <a:latin typeface="+mn-lt"/>
        </a:defRPr>
      </a:lvl5pPr>
      <a:lvl6pPr marL="10059358" indent="-1066902" algn="l" defTabSz="4267606" rtl="0" eaLnBrk="0" fontAlgn="base" hangingPunct="0">
        <a:spcBef>
          <a:spcPct val="20000"/>
        </a:spcBef>
        <a:spcAft>
          <a:spcPct val="0"/>
        </a:spcAft>
        <a:buChar char="»"/>
        <a:defRPr sz="9301">
          <a:solidFill>
            <a:schemeClr val="tx1"/>
          </a:solidFill>
          <a:latin typeface="+mn-lt"/>
        </a:defRPr>
      </a:lvl6pPr>
      <a:lvl7pPr marL="10516601" indent="-1066902" algn="l" defTabSz="4267606" rtl="0" eaLnBrk="0" fontAlgn="base" hangingPunct="0">
        <a:spcBef>
          <a:spcPct val="20000"/>
        </a:spcBef>
        <a:spcAft>
          <a:spcPct val="0"/>
        </a:spcAft>
        <a:buChar char="»"/>
        <a:defRPr sz="9301">
          <a:solidFill>
            <a:schemeClr val="tx1"/>
          </a:solidFill>
          <a:latin typeface="+mn-lt"/>
        </a:defRPr>
      </a:lvl7pPr>
      <a:lvl8pPr marL="10973845" indent="-1066902" algn="l" defTabSz="4267606" rtl="0" eaLnBrk="0" fontAlgn="base" hangingPunct="0">
        <a:spcBef>
          <a:spcPct val="20000"/>
        </a:spcBef>
        <a:spcAft>
          <a:spcPct val="0"/>
        </a:spcAft>
        <a:buChar char="»"/>
        <a:defRPr sz="9301">
          <a:solidFill>
            <a:schemeClr val="tx1"/>
          </a:solidFill>
          <a:latin typeface="+mn-lt"/>
        </a:defRPr>
      </a:lvl8pPr>
      <a:lvl9pPr marL="11431089" indent="-1066902" algn="l" defTabSz="4267606" rtl="0" eaLnBrk="0" fontAlgn="base" hangingPunct="0">
        <a:spcBef>
          <a:spcPct val="20000"/>
        </a:spcBef>
        <a:spcAft>
          <a:spcPct val="0"/>
        </a:spcAft>
        <a:buChar char="»"/>
        <a:defRPr sz="9301">
          <a:solidFill>
            <a:schemeClr val="tx1"/>
          </a:solidFill>
          <a:latin typeface="+mn-lt"/>
        </a:defRPr>
      </a:lvl9pPr>
    </p:bodyStyle>
    <p:otherStyle>
      <a:defPPr>
        <a:defRPr lang="en-US"/>
      </a:defPPr>
      <a:lvl1pPr marL="0" algn="l" defTabSz="914487" rtl="0" eaLnBrk="1" latinLnBrk="0" hangingPunct="1">
        <a:defRPr sz="1800" kern="1200">
          <a:solidFill>
            <a:schemeClr val="tx1"/>
          </a:solidFill>
          <a:latin typeface="+mn-lt"/>
          <a:ea typeface="+mn-ea"/>
          <a:cs typeface="+mn-cs"/>
        </a:defRPr>
      </a:lvl1pPr>
      <a:lvl2pPr marL="457243" algn="l" defTabSz="914487" rtl="0" eaLnBrk="1" latinLnBrk="0" hangingPunct="1">
        <a:defRPr sz="1800" kern="1200">
          <a:solidFill>
            <a:schemeClr val="tx1"/>
          </a:solidFill>
          <a:latin typeface="+mn-lt"/>
          <a:ea typeface="+mn-ea"/>
          <a:cs typeface="+mn-cs"/>
        </a:defRPr>
      </a:lvl2pPr>
      <a:lvl3pPr marL="914487" algn="l" defTabSz="914487" rtl="0" eaLnBrk="1" latinLnBrk="0" hangingPunct="1">
        <a:defRPr sz="1800" kern="1200">
          <a:solidFill>
            <a:schemeClr val="tx1"/>
          </a:solidFill>
          <a:latin typeface="+mn-lt"/>
          <a:ea typeface="+mn-ea"/>
          <a:cs typeface="+mn-cs"/>
        </a:defRPr>
      </a:lvl3pPr>
      <a:lvl4pPr marL="1371731" algn="l" defTabSz="914487" rtl="0" eaLnBrk="1" latinLnBrk="0" hangingPunct="1">
        <a:defRPr sz="1800" kern="1200">
          <a:solidFill>
            <a:schemeClr val="tx1"/>
          </a:solidFill>
          <a:latin typeface="+mn-lt"/>
          <a:ea typeface="+mn-ea"/>
          <a:cs typeface="+mn-cs"/>
        </a:defRPr>
      </a:lvl4pPr>
      <a:lvl5pPr marL="1828974" algn="l" defTabSz="914487" rtl="0" eaLnBrk="1" latinLnBrk="0" hangingPunct="1">
        <a:defRPr sz="1800" kern="1200">
          <a:solidFill>
            <a:schemeClr val="tx1"/>
          </a:solidFill>
          <a:latin typeface="+mn-lt"/>
          <a:ea typeface="+mn-ea"/>
          <a:cs typeface="+mn-cs"/>
        </a:defRPr>
      </a:lvl5pPr>
      <a:lvl6pPr marL="2286218" algn="l" defTabSz="914487" rtl="0" eaLnBrk="1" latinLnBrk="0" hangingPunct="1">
        <a:defRPr sz="1800" kern="1200">
          <a:solidFill>
            <a:schemeClr val="tx1"/>
          </a:solidFill>
          <a:latin typeface="+mn-lt"/>
          <a:ea typeface="+mn-ea"/>
          <a:cs typeface="+mn-cs"/>
        </a:defRPr>
      </a:lvl6pPr>
      <a:lvl7pPr marL="2743461" algn="l" defTabSz="914487" rtl="0" eaLnBrk="1" latinLnBrk="0" hangingPunct="1">
        <a:defRPr sz="1800" kern="1200">
          <a:solidFill>
            <a:schemeClr val="tx1"/>
          </a:solidFill>
          <a:latin typeface="+mn-lt"/>
          <a:ea typeface="+mn-ea"/>
          <a:cs typeface="+mn-cs"/>
        </a:defRPr>
      </a:lvl7pPr>
      <a:lvl8pPr marL="3200705" algn="l" defTabSz="914487" rtl="0" eaLnBrk="1" latinLnBrk="0" hangingPunct="1">
        <a:defRPr sz="1800" kern="1200">
          <a:solidFill>
            <a:schemeClr val="tx1"/>
          </a:solidFill>
          <a:latin typeface="+mn-lt"/>
          <a:ea typeface="+mn-ea"/>
          <a:cs typeface="+mn-cs"/>
        </a:defRPr>
      </a:lvl8pPr>
      <a:lvl9pPr marL="3657949" algn="l" defTabSz="91448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1482A5"/>
            </a:gs>
          </a:gsLst>
          <a:lin ang="5400000" scaled="1"/>
        </a:gradFill>
        <a:effectLst/>
      </p:bgPr>
    </p:bg>
    <p:spTree>
      <p:nvGrpSpPr>
        <p:cNvPr id="1" name=""/>
        <p:cNvGrpSpPr/>
        <p:nvPr/>
      </p:nvGrpSpPr>
      <p:grpSpPr>
        <a:xfrm>
          <a:off x="0" y="0"/>
          <a:ext cx="0" cy="0"/>
          <a:chOff x="0" y="0"/>
          <a:chExt cx="0" cy="0"/>
        </a:xfrm>
      </p:grpSpPr>
      <p:sp>
        <p:nvSpPr>
          <p:cNvPr id="41" name="Title 11">
            <a:extLst>
              <a:ext uri="{FF2B5EF4-FFF2-40B4-BE49-F238E27FC236}">
                <a16:creationId xmlns:a16="http://schemas.microsoft.com/office/drawing/2014/main" id="{8785E597-B0C8-4CA8-9A56-A0F3996D088D}"/>
              </a:ext>
            </a:extLst>
          </p:cNvPr>
          <p:cNvSpPr txBox="1"/>
          <p:nvPr/>
        </p:nvSpPr>
        <p:spPr>
          <a:xfrm>
            <a:off x="3657600" y="1308249"/>
            <a:ext cx="36576000" cy="2746935"/>
          </a:xfrm>
          <a:prstGeom prst="rect">
            <a:avLst/>
          </a:prstGeom>
        </p:spPr>
        <p:txBody>
          <a:bodyPr lIns="128016" tIns="64008" rIns="128016" bIns="64008"/>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8501" dirty="0">
                <a:solidFill>
                  <a:srgbClr val="235078"/>
                </a:solidFill>
                <a:latin typeface="Libre Baskerville" panose="02000000000000000000" pitchFamily="2" charset="0"/>
              </a:rPr>
              <a:t>Personalized Deep Learning Model for Closed-Loop 40 Hz Entrainment to Optimize Theta-Gamma Phase Amplitude Coupling in Alzheimer’s Disease </a:t>
            </a:r>
          </a:p>
        </p:txBody>
      </p:sp>
      <p:sp>
        <p:nvSpPr>
          <p:cNvPr id="42" name="Text Placeholder 16">
            <a:extLst>
              <a:ext uri="{FF2B5EF4-FFF2-40B4-BE49-F238E27FC236}">
                <a16:creationId xmlns:a16="http://schemas.microsoft.com/office/drawing/2014/main" id="{EBC3B70E-A392-4069-A147-C1FCF37051AF}"/>
              </a:ext>
            </a:extLst>
          </p:cNvPr>
          <p:cNvSpPr txBox="1"/>
          <p:nvPr/>
        </p:nvSpPr>
        <p:spPr>
          <a:xfrm>
            <a:off x="3657600" y="5525356"/>
            <a:ext cx="36576000" cy="991041"/>
          </a:xfrm>
          <a:prstGeom prst="rect">
            <a:avLst/>
          </a:prstGeom>
        </p:spPr>
        <p:txBody>
          <a:bodyPr lIns="128016" tIns="64008" rIns="128016" bIns="64008">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5600" dirty="0">
                <a:solidFill>
                  <a:srgbClr val="1482A5"/>
                </a:solidFill>
                <a:latin typeface="Montserrat Light" panose="00000400000000000000" pitchFamily="50" charset="0"/>
              </a:rPr>
              <a:t>Amaar Chughtai</a:t>
            </a:r>
          </a:p>
        </p:txBody>
      </p:sp>
      <p:sp>
        <p:nvSpPr>
          <p:cNvPr id="46" name="Rectangle 45">
            <a:extLst>
              <a:ext uri="{FF2B5EF4-FFF2-40B4-BE49-F238E27FC236}">
                <a16:creationId xmlns:a16="http://schemas.microsoft.com/office/drawing/2014/main" id="{2C718E78-BDD8-4BAD-851F-D423AE935B0D}"/>
              </a:ext>
            </a:extLst>
          </p:cNvPr>
          <p:cNvSpPr/>
          <p:nvPr/>
        </p:nvSpPr>
        <p:spPr>
          <a:xfrm>
            <a:off x="457200" y="7391398"/>
            <a:ext cx="10058400" cy="8462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latin typeface="+mj-lt"/>
            </a:endParaRPr>
          </a:p>
        </p:txBody>
      </p:sp>
      <p:sp>
        <p:nvSpPr>
          <p:cNvPr id="48" name="Rectangle 47">
            <a:extLst>
              <a:ext uri="{FF2B5EF4-FFF2-40B4-BE49-F238E27FC236}">
                <a16:creationId xmlns:a16="http://schemas.microsoft.com/office/drawing/2014/main" id="{3E6D1C9C-2516-4738-BC80-673A19ECE5BD}"/>
              </a:ext>
            </a:extLst>
          </p:cNvPr>
          <p:cNvSpPr/>
          <p:nvPr/>
        </p:nvSpPr>
        <p:spPr>
          <a:xfrm>
            <a:off x="33375600" y="7391400"/>
            <a:ext cx="10058400" cy="35851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49" name="Rectangle 48">
            <a:extLst>
              <a:ext uri="{FF2B5EF4-FFF2-40B4-BE49-F238E27FC236}">
                <a16:creationId xmlns:a16="http://schemas.microsoft.com/office/drawing/2014/main" id="{8F25EFAD-7AAF-4CAF-BA69-869B3D423F7F}"/>
              </a:ext>
            </a:extLst>
          </p:cNvPr>
          <p:cNvSpPr/>
          <p:nvPr/>
        </p:nvSpPr>
        <p:spPr>
          <a:xfrm>
            <a:off x="457200" y="16154854"/>
            <a:ext cx="10054932" cy="16709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0" name="Rectangle 49">
            <a:extLst>
              <a:ext uri="{FF2B5EF4-FFF2-40B4-BE49-F238E27FC236}">
                <a16:creationId xmlns:a16="http://schemas.microsoft.com/office/drawing/2014/main" id="{2EC9A64B-144F-4668-B416-097C0312FF96}"/>
              </a:ext>
            </a:extLst>
          </p:cNvPr>
          <p:cNvSpPr/>
          <p:nvPr/>
        </p:nvSpPr>
        <p:spPr>
          <a:xfrm>
            <a:off x="22172464" y="20665215"/>
            <a:ext cx="10744200" cy="20209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1" name="Rectangle 50">
            <a:extLst>
              <a:ext uri="{FF2B5EF4-FFF2-40B4-BE49-F238E27FC236}">
                <a16:creationId xmlns:a16="http://schemas.microsoft.com/office/drawing/2014/main" id="{BF801B80-E24E-4773-AC4E-37DC17B0424E}"/>
              </a:ext>
            </a:extLst>
          </p:cNvPr>
          <p:cNvSpPr/>
          <p:nvPr/>
        </p:nvSpPr>
        <p:spPr>
          <a:xfrm>
            <a:off x="22177772" y="7391398"/>
            <a:ext cx="10744200" cy="130226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2" name="Rectangle 51">
            <a:extLst>
              <a:ext uri="{FF2B5EF4-FFF2-40B4-BE49-F238E27FC236}">
                <a16:creationId xmlns:a16="http://schemas.microsoft.com/office/drawing/2014/main" id="{F6D8A1CF-B987-4F36-8586-4BEDACCCAB04}"/>
              </a:ext>
            </a:extLst>
          </p:cNvPr>
          <p:cNvSpPr/>
          <p:nvPr/>
        </p:nvSpPr>
        <p:spPr>
          <a:xfrm>
            <a:off x="33375600" y="43543728"/>
            <a:ext cx="10058400" cy="7225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3" name="TextBox 52">
            <a:extLst>
              <a:ext uri="{FF2B5EF4-FFF2-40B4-BE49-F238E27FC236}">
                <a16:creationId xmlns:a16="http://schemas.microsoft.com/office/drawing/2014/main" id="{B9BDD4D7-12C6-4DBA-AD93-2C88BC17BC8B}"/>
              </a:ext>
            </a:extLst>
          </p:cNvPr>
          <p:cNvSpPr txBox="1"/>
          <p:nvPr/>
        </p:nvSpPr>
        <p:spPr>
          <a:xfrm>
            <a:off x="804672" y="8558034"/>
            <a:ext cx="9372600" cy="7109639"/>
          </a:xfrm>
          <a:prstGeom prst="rect">
            <a:avLst/>
          </a:prstGeom>
          <a:noFill/>
        </p:spPr>
        <p:txBody>
          <a:bodyPr wrap="square" rtlCol="0">
            <a:spAutoFit/>
          </a:bodyPr>
          <a:lstStyle>
            <a:defPPr>
              <a:defRPr kern="1200"/>
            </a:defPPr>
          </a:lstStyle>
          <a:p>
            <a:pPr algn="just"/>
            <a:r>
              <a:rPr lang="en-US" dirty="0"/>
              <a:t>Alzheimer's disease affects over 55 million people worldwide, with no cure and limited treatment options. Recent neuroscience research has revealed how 40 Hz auditory stimulation can synchronize brain gamma oscillations, reducing amyloid-beta plaques and tau tangles in animal models and showing early cognitive benefits in human clinical trials.</a:t>
            </a:r>
          </a:p>
          <a:p>
            <a:pPr algn="just"/>
            <a:endParaRPr lang="en-US" dirty="0"/>
          </a:p>
          <a:p>
            <a:pPr algn="just"/>
            <a:r>
              <a:rPr lang="en-US" dirty="0"/>
              <a:t>Current clinical protocols deliver this stimulation on a rigid fixed schedule — 40 seconds of 40 Hz auditory stimulation followed by 20 seconds of silence, cycling continuously for one hour regardless of how the patient's brain is responding. This one-size-fits-all approach ignores how some patients maintain strong theta-gamma coupling throughout a session, while others lose coupling within seconds and never fully synchronize. Prolonged repetitive stimulation causes neural habituation, where the brain progressively "tunes out" the stimulus, and coupling degrades over time. The result is wasted stimulation during periods of strong coupling and missed opportunities during periods of fading coupling.</a:t>
            </a:r>
          </a:p>
          <a:p>
            <a:pPr algn="just"/>
            <a:endParaRPr lang="en-US" dirty="0"/>
          </a:p>
          <a:p>
            <a:pPr algn="just"/>
            <a:r>
              <a:rPr lang="en-US" dirty="0"/>
              <a:t>This project asks: can we predict when a patient's brain will lose entrainment and deliver stimulation proactively, before the decline occurs?</a:t>
            </a:r>
          </a:p>
        </p:txBody>
      </p:sp>
      <p:sp>
        <p:nvSpPr>
          <p:cNvPr id="54" name="TextBox 53">
            <a:extLst>
              <a:ext uri="{FF2B5EF4-FFF2-40B4-BE49-F238E27FC236}">
                <a16:creationId xmlns:a16="http://schemas.microsoft.com/office/drawing/2014/main" id="{E4864E4E-50A2-403F-84B8-E4F7E820612B}"/>
              </a:ext>
            </a:extLst>
          </p:cNvPr>
          <p:cNvSpPr txBox="1"/>
          <p:nvPr/>
        </p:nvSpPr>
        <p:spPr>
          <a:xfrm>
            <a:off x="685800" y="7662672"/>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Introduction</a:t>
            </a:r>
          </a:p>
        </p:txBody>
      </p:sp>
      <p:sp>
        <p:nvSpPr>
          <p:cNvPr id="59" name="TextBox 58">
            <a:extLst>
              <a:ext uri="{FF2B5EF4-FFF2-40B4-BE49-F238E27FC236}">
                <a16:creationId xmlns:a16="http://schemas.microsoft.com/office/drawing/2014/main" id="{D07EEF88-ACF9-4467-B180-074FC642245A}"/>
              </a:ext>
            </a:extLst>
          </p:cNvPr>
          <p:cNvSpPr txBox="1"/>
          <p:nvPr/>
        </p:nvSpPr>
        <p:spPr>
          <a:xfrm>
            <a:off x="33604200" y="7662672"/>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Results &amp; Findings</a:t>
            </a:r>
          </a:p>
        </p:txBody>
      </p:sp>
      <p:sp>
        <p:nvSpPr>
          <p:cNvPr id="61" name="TextBox 60">
            <a:extLst>
              <a:ext uri="{FF2B5EF4-FFF2-40B4-BE49-F238E27FC236}">
                <a16:creationId xmlns:a16="http://schemas.microsoft.com/office/drawing/2014/main" id="{A6E6C31F-098B-45F7-BEE5-8A51FA70D59F}"/>
              </a:ext>
            </a:extLst>
          </p:cNvPr>
          <p:cNvSpPr txBox="1"/>
          <p:nvPr/>
        </p:nvSpPr>
        <p:spPr>
          <a:xfrm>
            <a:off x="33604200" y="43719433"/>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Conclusions</a:t>
            </a:r>
          </a:p>
        </p:txBody>
      </p:sp>
      <p:sp>
        <p:nvSpPr>
          <p:cNvPr id="63" name="TextBox 62">
            <a:extLst>
              <a:ext uri="{FF2B5EF4-FFF2-40B4-BE49-F238E27FC236}">
                <a16:creationId xmlns:a16="http://schemas.microsoft.com/office/drawing/2014/main" id="{92D5F59B-F8CA-463C-871F-D1042309DE00}"/>
              </a:ext>
            </a:extLst>
          </p:cNvPr>
          <p:cNvSpPr txBox="1"/>
          <p:nvPr/>
        </p:nvSpPr>
        <p:spPr>
          <a:xfrm>
            <a:off x="685801" y="16429721"/>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Background</a:t>
            </a:r>
          </a:p>
        </p:txBody>
      </p:sp>
      <p:sp>
        <p:nvSpPr>
          <p:cNvPr id="65" name="TextBox 64">
            <a:extLst>
              <a:ext uri="{FF2B5EF4-FFF2-40B4-BE49-F238E27FC236}">
                <a16:creationId xmlns:a16="http://schemas.microsoft.com/office/drawing/2014/main" id="{68744D3E-CEF9-4748-9719-25AAABF27BDD}"/>
              </a:ext>
            </a:extLst>
          </p:cNvPr>
          <p:cNvSpPr txBox="1"/>
          <p:nvPr/>
        </p:nvSpPr>
        <p:spPr>
          <a:xfrm>
            <a:off x="22406372" y="7662670"/>
            <a:ext cx="8924931"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Materials</a:t>
            </a:r>
          </a:p>
        </p:txBody>
      </p:sp>
      <p:sp>
        <p:nvSpPr>
          <p:cNvPr id="2" name="TextBox 1">
            <a:extLst>
              <a:ext uri="{FF2B5EF4-FFF2-40B4-BE49-F238E27FC236}">
                <a16:creationId xmlns:a16="http://schemas.microsoft.com/office/drawing/2014/main" id="{676BF727-EC69-6F9F-3602-9E10BEBBA8B2}"/>
              </a:ext>
            </a:extLst>
          </p:cNvPr>
          <p:cNvSpPr txBox="1"/>
          <p:nvPr/>
        </p:nvSpPr>
        <p:spPr>
          <a:xfrm>
            <a:off x="804672" y="17268625"/>
            <a:ext cx="9372600" cy="6740307"/>
          </a:xfrm>
          <a:prstGeom prst="rect">
            <a:avLst/>
          </a:prstGeom>
          <a:noFill/>
        </p:spPr>
        <p:txBody>
          <a:bodyPr wrap="square" rtlCol="0">
            <a:spAutoFit/>
          </a:bodyPr>
          <a:lstStyle>
            <a:defPPr>
              <a:defRPr kern="1200"/>
            </a:defPPr>
          </a:lstStyle>
          <a:p>
            <a:pPr marL="342900" indent="-342900">
              <a:buFontTx/>
              <a:buChar char="-"/>
            </a:pPr>
            <a:r>
              <a:rPr lang="en-US" dirty="0"/>
              <a:t>40 Hz gamma entrainment reduces amyloid load in Alzheimer's mouse models by activating microglia (Iaccarino 2016); multi-sensory stimulation reduces tau pathology and improves cognition (Martorell 2019); auditory entrainment enhances default mode network connectivity in human dementia patients (Lahijanian 2024)</a:t>
            </a:r>
          </a:p>
          <a:p>
            <a:pPr marL="342900" indent="-342900">
              <a:buFontTx/>
              <a:buChar char="-"/>
            </a:pPr>
            <a:r>
              <a:rPr lang="en-US" dirty="0"/>
              <a:t>Phase-Amplitude Coupling (PAC) quantifies entrainment success — how strongly gamma amplitude (38-42 Hz) locks to theta phase (4-8 Hz), measured via the Modulation Index (Tort 2010). High PAC = entrained; low PAC = lost synchronization.</a:t>
            </a:r>
          </a:p>
          <a:p>
            <a:pPr marL="342900" indent="-342900">
              <a:buFontTx/>
              <a:buChar char="-"/>
            </a:pPr>
            <a:r>
              <a:rPr lang="en-US" dirty="0"/>
              <a:t>Neural habituation causes repeated identical stimuli to produce progressively weaker neural responses (Thompson &amp; Spencer 1966), making fixed schedules less effective over time</a:t>
            </a:r>
          </a:p>
          <a:p>
            <a:pPr marL="342900" indent="-342900">
              <a:buFontTx/>
              <a:buChar char="-"/>
            </a:pPr>
            <a:endParaRPr lang="en-US" dirty="0"/>
          </a:p>
          <a:p>
            <a:r>
              <a:rPr lang="en-US" dirty="0"/>
              <a:t>No existing system predicts </a:t>
            </a:r>
            <a:r>
              <a:rPr lang="en-US" b="1" dirty="0"/>
              <a:t>future entrainment </a:t>
            </a:r>
            <a:r>
              <a:rPr lang="en-US" dirty="0"/>
              <a:t>state for proactive control. Current approaches either use fixed schedules (no adaptation) or reactive thresholds (respond after PAC decline has already occurred).</a:t>
            </a:r>
          </a:p>
          <a:p>
            <a:pPr marL="342900" indent="-342900">
              <a:buFontTx/>
              <a:buChar char="-"/>
            </a:pPr>
            <a:endParaRPr lang="en-US" dirty="0"/>
          </a:p>
          <a:p>
            <a:pPr marL="342900" indent="-342900">
              <a:buFontTx/>
              <a:buChar char="-"/>
            </a:pPr>
            <a:endParaRPr lang="en-US" dirty="0"/>
          </a:p>
        </p:txBody>
      </p:sp>
      <p:sp>
        <p:nvSpPr>
          <p:cNvPr id="4" name="Rectangle 3">
            <a:extLst>
              <a:ext uri="{FF2B5EF4-FFF2-40B4-BE49-F238E27FC236}">
                <a16:creationId xmlns:a16="http://schemas.microsoft.com/office/drawing/2014/main" id="{ECB68FC4-D107-43B2-2844-274FED33DEB3}"/>
              </a:ext>
            </a:extLst>
          </p:cNvPr>
          <p:cNvSpPr/>
          <p:nvPr/>
        </p:nvSpPr>
        <p:spPr>
          <a:xfrm>
            <a:off x="457199" y="33170209"/>
            <a:ext cx="10054931" cy="5121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 name="TextBox 4">
            <a:extLst>
              <a:ext uri="{FF2B5EF4-FFF2-40B4-BE49-F238E27FC236}">
                <a16:creationId xmlns:a16="http://schemas.microsoft.com/office/drawing/2014/main" id="{4C31ADEB-D562-46AB-2497-13263F418D36}"/>
              </a:ext>
            </a:extLst>
          </p:cNvPr>
          <p:cNvSpPr txBox="1"/>
          <p:nvPr/>
        </p:nvSpPr>
        <p:spPr>
          <a:xfrm>
            <a:off x="685800" y="33447032"/>
            <a:ext cx="9575222"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Hypothesis</a:t>
            </a:r>
          </a:p>
        </p:txBody>
      </p:sp>
      <p:sp>
        <p:nvSpPr>
          <p:cNvPr id="11" name="TextBox 10">
            <a:extLst>
              <a:ext uri="{FF2B5EF4-FFF2-40B4-BE49-F238E27FC236}">
                <a16:creationId xmlns:a16="http://schemas.microsoft.com/office/drawing/2014/main" id="{5DC7AC48-C466-3C41-5AAA-FBCDAA694280}"/>
              </a:ext>
            </a:extLst>
          </p:cNvPr>
          <p:cNvSpPr txBox="1"/>
          <p:nvPr/>
        </p:nvSpPr>
        <p:spPr>
          <a:xfrm>
            <a:off x="22525244" y="8558782"/>
            <a:ext cx="10058400" cy="2677656"/>
          </a:xfrm>
          <a:prstGeom prst="rect">
            <a:avLst/>
          </a:prstGeom>
          <a:noFill/>
        </p:spPr>
        <p:txBody>
          <a:bodyPr wrap="square" rtlCol="0">
            <a:spAutoFit/>
          </a:bodyPr>
          <a:lstStyle>
            <a:defPPr>
              <a:defRPr kern="1200"/>
            </a:defPPr>
          </a:lstStyle>
          <a:p>
            <a:pPr algn="just"/>
            <a:r>
              <a:rPr lang="en-US" dirty="0"/>
              <a:t>Dataset: </a:t>
            </a:r>
          </a:p>
          <a:p>
            <a:pPr marL="342900" indent="-342900" algn="just">
              <a:buFontTx/>
              <a:buChar char="-"/>
            </a:pPr>
            <a:r>
              <a:rPr lang="en-US" dirty="0"/>
              <a:t>35 dementia patients, OpenNeuro ds005048 (Lahijanian 2024)</a:t>
            </a:r>
          </a:p>
          <a:p>
            <a:pPr marL="342900" indent="-342900" algn="just">
              <a:buFontTx/>
              <a:buChar char="-"/>
            </a:pPr>
            <a:r>
              <a:rPr lang="en-US" dirty="0"/>
              <a:t>7 frontal EEG channels (Fp1, Fp2, F3, F4, F7, F8, Fz), 250 Hz</a:t>
            </a:r>
          </a:p>
          <a:p>
            <a:pPr marL="342900" indent="-342900" algn="just">
              <a:buFontTx/>
              <a:buChar char="-"/>
            </a:pPr>
            <a:r>
              <a:rPr lang="en-US" dirty="0"/>
              <a:t>Alternating Stimulus (40 Hz AM auditory) and Rest epochs, 20-40s each</a:t>
            </a:r>
          </a:p>
          <a:p>
            <a:pPr marL="342900" indent="-342900" algn="just">
              <a:buFontTx/>
              <a:buChar char="-"/>
            </a:pPr>
            <a:r>
              <a:rPr lang="en-US" dirty="0"/>
              <a:t>17,283 two-second windows; subject-level splits (24 train / 5 val / 6 test)</a:t>
            </a:r>
          </a:p>
          <a:p>
            <a:pPr algn="just"/>
            <a:endParaRPr lang="en-US" dirty="0"/>
          </a:p>
          <a:p>
            <a:pPr algn="just"/>
            <a:r>
              <a:rPr lang="en-US" dirty="0"/>
              <a:t>Compute: Python 3.13, PyTorch, Apple Silicon (MPS),  no cloud GPU required</a:t>
            </a:r>
          </a:p>
        </p:txBody>
      </p:sp>
      <p:sp>
        <p:nvSpPr>
          <p:cNvPr id="17" name="TextBox 16">
            <a:extLst>
              <a:ext uri="{FF2B5EF4-FFF2-40B4-BE49-F238E27FC236}">
                <a16:creationId xmlns:a16="http://schemas.microsoft.com/office/drawing/2014/main" id="{235DAFE2-CA6F-95F3-1133-4CDC83D159C6}"/>
              </a:ext>
            </a:extLst>
          </p:cNvPr>
          <p:cNvSpPr txBox="1"/>
          <p:nvPr/>
        </p:nvSpPr>
        <p:spPr>
          <a:xfrm>
            <a:off x="22399141" y="20943041"/>
            <a:ext cx="10250309"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Procedures</a:t>
            </a:r>
          </a:p>
        </p:txBody>
      </p:sp>
      <p:sp>
        <p:nvSpPr>
          <p:cNvPr id="25" name="TextBox 24">
            <a:extLst>
              <a:ext uri="{FF2B5EF4-FFF2-40B4-BE49-F238E27FC236}">
                <a16:creationId xmlns:a16="http://schemas.microsoft.com/office/drawing/2014/main" id="{A165349F-C887-4637-758A-8B7199D88181}"/>
              </a:ext>
            </a:extLst>
          </p:cNvPr>
          <p:cNvSpPr txBox="1"/>
          <p:nvPr/>
        </p:nvSpPr>
        <p:spPr>
          <a:xfrm>
            <a:off x="22521672" y="21717000"/>
            <a:ext cx="10058400" cy="8586966"/>
          </a:xfrm>
          <a:prstGeom prst="rect">
            <a:avLst/>
          </a:prstGeom>
          <a:noFill/>
        </p:spPr>
        <p:txBody>
          <a:bodyPr wrap="square" rtlCol="0">
            <a:spAutoFit/>
          </a:bodyPr>
          <a:lstStyle>
            <a:defPPr>
              <a:defRPr kern="1200"/>
            </a:defPPr>
          </a:lstStyle>
          <a:p>
            <a:r>
              <a:rPr lang="en-US" dirty="0"/>
              <a:t>Training:</a:t>
            </a:r>
          </a:p>
          <a:p>
            <a:endParaRPr lang="en-US" dirty="0"/>
          </a:p>
          <a:p>
            <a:pPr marL="342900" indent="-342900">
              <a:buFontTx/>
              <a:buChar char="-"/>
            </a:pPr>
            <a:r>
              <a:rPr lang="en-US" dirty="0"/>
              <a:t>EEGNet: MSE loss, Adam optimizer, gradient clipping (max_norm=1.0), early stopping</a:t>
            </a:r>
          </a:p>
          <a:p>
            <a:pPr marL="342900" indent="-342900">
              <a:buFontTx/>
              <a:buChar char="-"/>
            </a:pPr>
            <a:r>
              <a:rPr lang="en-US" dirty="0"/>
              <a:t>Causal TCN: Huber loss (robust to PAC outliers), </a:t>
            </a:r>
            <a:r>
              <a:rPr lang="en-US" dirty="0" err="1"/>
              <a:t>ReduceLROnPlateau</a:t>
            </a:r>
            <a:r>
              <a:rPr lang="en-US" dirty="0"/>
              <a:t>, early stopping (patience=20)</a:t>
            </a:r>
          </a:p>
          <a:p>
            <a:pPr marL="342900" indent="-342900">
              <a:buFontTx/>
              <a:buChar char="-"/>
            </a:pPr>
            <a:r>
              <a:rPr lang="en-US" dirty="0"/>
              <a:t>All hyperparameters tuned on validation set (5 subjects); test set (6 subjects) used only for final evaluation</a:t>
            </a:r>
          </a:p>
          <a:p>
            <a:pPr marL="342900" indent="-342900">
              <a:buFontTx/>
              <a:buChar char="-"/>
            </a:pPr>
            <a:endParaRPr lang="en-US" dirty="0"/>
          </a:p>
          <a:p>
            <a:r>
              <a:rPr lang="en-US" dirty="0"/>
              <a:t>Validation (two independent protocols):</a:t>
            </a:r>
          </a:p>
          <a:p>
            <a:pPr marL="342900" indent="-342900">
              <a:buFontTx/>
              <a:buChar char="-"/>
            </a:pPr>
            <a:r>
              <a:rPr lang="en-US" dirty="0"/>
              <a:t>Primary (real data): Replayed TCN controller on all 35 subjects' actual EEG recordings — offline counterfactual decisions on real brain data. For validation, ground-truth PAC labels were used as TCN input, isolating the TCN's predictive contribution from EEGNet estimation error.</a:t>
            </a:r>
          </a:p>
          <a:p>
            <a:pPr marL="342900" indent="-342900">
              <a:buFontTx/>
              <a:buChar char="-"/>
            </a:pPr>
            <a:r>
              <a:rPr lang="en-US" dirty="0"/>
              <a:t>Secondary (simulation): Closed-loop simulation with neural fatigue modeling</a:t>
            </a:r>
          </a:p>
          <a:p>
            <a:pPr marL="800100" lvl="1" indent="-342900">
              <a:buFontTx/>
              <a:buChar char="-"/>
            </a:pPr>
            <a:r>
              <a:rPr lang="en-US" dirty="0"/>
              <a:t>6 severity levels × 50 trials × 600 seconds per trial</a:t>
            </a:r>
          </a:p>
          <a:p>
            <a:endParaRPr lang="en-US" dirty="0"/>
          </a:p>
          <a:p>
            <a:r>
              <a:rPr lang="en-US" dirty="0"/>
              <a:t>Statistical validation:</a:t>
            </a:r>
          </a:p>
          <a:p>
            <a:pPr marL="342900" indent="-342900">
              <a:buFontTx/>
              <a:buChar char="-"/>
            </a:pPr>
            <a:r>
              <a:rPr lang="en-US" dirty="0"/>
              <a:t>Wilcoxon signed-rank tests (non-parametric, paired)</a:t>
            </a:r>
          </a:p>
          <a:p>
            <a:pPr marL="342900" indent="-342900">
              <a:buFontTx/>
              <a:buChar char="-"/>
            </a:pPr>
            <a:r>
              <a:rPr lang="en-US" dirty="0"/>
              <a:t>Bootstrap 95% confidence intervals</a:t>
            </a:r>
          </a:p>
          <a:p>
            <a:pPr marL="342900" indent="-342900">
              <a:buFontTx/>
              <a:buChar char="-"/>
            </a:pPr>
            <a:r>
              <a:rPr lang="en-US" dirty="0"/>
              <a:t>Hedges' g effect sizes</a:t>
            </a:r>
          </a:p>
          <a:p>
            <a:pPr marL="342900" indent="-342900">
              <a:buFontTx/>
              <a:buChar char="-"/>
            </a:pPr>
            <a:r>
              <a:rPr lang="en-US" dirty="0"/>
              <a:t>Compared against: Fixed Schedule, Reactive Threshold, PI Controller, Alignment Oracle (theoretical upper bound)</a:t>
            </a:r>
          </a:p>
        </p:txBody>
      </p:sp>
      <p:sp>
        <p:nvSpPr>
          <p:cNvPr id="26" name="Rectangle 25">
            <a:extLst>
              <a:ext uri="{FF2B5EF4-FFF2-40B4-BE49-F238E27FC236}">
                <a16:creationId xmlns:a16="http://schemas.microsoft.com/office/drawing/2014/main" id="{E2D4C366-FDF2-C5BD-0470-2E5B24CF3B06}"/>
              </a:ext>
            </a:extLst>
          </p:cNvPr>
          <p:cNvSpPr/>
          <p:nvPr/>
        </p:nvSpPr>
        <p:spPr>
          <a:xfrm>
            <a:off x="10972800" y="44291845"/>
            <a:ext cx="10747772" cy="64773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34" name="Rectangle 33">
            <a:extLst>
              <a:ext uri="{FF2B5EF4-FFF2-40B4-BE49-F238E27FC236}">
                <a16:creationId xmlns:a16="http://schemas.microsoft.com/office/drawing/2014/main" id="{417C3252-8AF8-75BE-2657-5A7C909120C8}"/>
              </a:ext>
            </a:extLst>
          </p:cNvPr>
          <p:cNvSpPr/>
          <p:nvPr/>
        </p:nvSpPr>
        <p:spPr>
          <a:xfrm>
            <a:off x="10972800" y="37482056"/>
            <a:ext cx="10744200" cy="7510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35" name="TextBox 34">
            <a:extLst>
              <a:ext uri="{FF2B5EF4-FFF2-40B4-BE49-F238E27FC236}">
                <a16:creationId xmlns:a16="http://schemas.microsoft.com/office/drawing/2014/main" id="{1EE75D3A-4114-380E-C7F4-CEDDDCF1CC0E}"/>
              </a:ext>
            </a:extLst>
          </p:cNvPr>
          <p:cNvSpPr txBox="1"/>
          <p:nvPr/>
        </p:nvSpPr>
        <p:spPr>
          <a:xfrm>
            <a:off x="11201400" y="37759253"/>
            <a:ext cx="10775701" cy="830997"/>
          </a:xfrm>
          <a:prstGeom prst="rect">
            <a:avLst/>
          </a:prstGeom>
          <a:noFill/>
        </p:spPr>
        <p:txBody>
          <a:bodyPr wrap="square" rtlCol="0">
            <a:spAutoFit/>
          </a:bodyPr>
          <a:lstStyle>
            <a:defPPr>
              <a:defRPr kern="1200"/>
            </a:defPPr>
          </a:lstStyle>
          <a:p>
            <a:r>
              <a:rPr lang="en-US" sz="4800">
                <a:solidFill>
                  <a:srgbClr val="235078"/>
                </a:solidFill>
                <a:latin typeface="Libre Baskerville" panose="02000000000000000000" pitchFamily="2" charset="0"/>
              </a:rPr>
              <a:t>Data, Charts, &amp; Models</a:t>
            </a:r>
          </a:p>
        </p:txBody>
      </p:sp>
      <p:sp>
        <p:nvSpPr>
          <p:cNvPr id="36" name="TextBox 35">
            <a:extLst>
              <a:ext uri="{FF2B5EF4-FFF2-40B4-BE49-F238E27FC236}">
                <a16:creationId xmlns:a16="http://schemas.microsoft.com/office/drawing/2014/main" id="{37DE4845-82FC-AAE2-8847-48F01115C620}"/>
              </a:ext>
            </a:extLst>
          </p:cNvPr>
          <p:cNvSpPr txBox="1"/>
          <p:nvPr/>
        </p:nvSpPr>
        <p:spPr>
          <a:xfrm>
            <a:off x="731520" y="34288280"/>
            <a:ext cx="9509760" cy="3785652"/>
          </a:xfrm>
          <a:prstGeom prst="rect">
            <a:avLst/>
          </a:prstGeom>
          <a:noFill/>
        </p:spPr>
        <p:txBody>
          <a:bodyPr wrap="square" rtlCol="0">
            <a:spAutoFit/>
          </a:bodyPr>
          <a:lstStyle>
            <a:defPPr>
              <a:defRPr kern="1200"/>
            </a:defPPr>
          </a:lstStyle>
          <a:p>
            <a:pPr algn="just"/>
            <a:r>
              <a:rPr lang="en-US"/>
              <a:t>A causal temporal convolutional network can predict future PAC at 5-10 second horizons where simpler methods fail, enabling adaptive stimulation that targets periods of genuine therapeutic need.</a:t>
            </a:r>
          </a:p>
          <a:p>
            <a:pPr algn="just"/>
            <a:r>
              <a:rPr lang="en-US"/>
              <a:t>Goals:</a:t>
            </a:r>
          </a:p>
          <a:p>
            <a:pPr marL="342900" indent="-342900" algn="just">
              <a:buFontTx/>
              <a:buChar char="-"/>
            </a:pPr>
            <a:r>
              <a:rPr lang="en-US"/>
              <a:t>Predict brain entrainment 5-10s into the future (the minimum lead time for proactive control)</a:t>
            </a:r>
          </a:p>
          <a:p>
            <a:pPr marL="342900" indent="-342900" algn="just">
              <a:buFontTx/>
              <a:buChar char="-"/>
            </a:pPr>
            <a:r>
              <a:rPr lang="en-US"/>
              <a:t>Closed control loop pipeline — integrate predictions into a closed-loop stimulation controller</a:t>
            </a:r>
          </a:p>
          <a:p>
            <a:pPr marL="342900" indent="-342900" algn="just">
              <a:buFontTx/>
              <a:buChar char="-"/>
            </a:pPr>
            <a:r>
              <a:rPr lang="en-US"/>
              <a:t>Validate on real patient EEG that predictive control outperforms fixed and reactive approaches</a:t>
            </a:r>
          </a:p>
        </p:txBody>
      </p:sp>
      <p:sp>
        <p:nvSpPr>
          <p:cNvPr id="38" name="TextBox 37">
            <a:extLst>
              <a:ext uri="{FF2B5EF4-FFF2-40B4-BE49-F238E27FC236}">
                <a16:creationId xmlns:a16="http://schemas.microsoft.com/office/drawing/2014/main" id="{BB03B6A9-5EC8-AC59-B26D-712209928C4B}"/>
              </a:ext>
            </a:extLst>
          </p:cNvPr>
          <p:cNvSpPr txBox="1"/>
          <p:nvPr/>
        </p:nvSpPr>
        <p:spPr>
          <a:xfrm>
            <a:off x="33723072" y="8558784"/>
            <a:ext cx="9372600" cy="1569660"/>
          </a:xfrm>
          <a:prstGeom prst="rect">
            <a:avLst/>
          </a:prstGeom>
          <a:noFill/>
        </p:spPr>
        <p:txBody>
          <a:bodyPr wrap="square" rtlCol="0">
            <a:spAutoFit/>
          </a:bodyPr>
          <a:lstStyle>
            <a:defPPr>
              <a:defRPr kern="1200"/>
            </a:defPPr>
          </a:lstStyle>
          <a:p>
            <a:pPr algn="just"/>
            <a:r>
              <a:rPr lang="en-US" b="1"/>
              <a:t>Result 1: TCN Predictive Control Outperforms All Alternatives</a:t>
            </a:r>
          </a:p>
          <a:p>
            <a:pPr algn="just"/>
            <a:r>
              <a:rPr lang="en-US" b="1"/>
              <a:t>Controller performance replayed on all 35 subjects' real EEG:</a:t>
            </a:r>
          </a:p>
          <a:p>
            <a:pPr algn="just"/>
            <a:endParaRPr lang="en-US" b="1"/>
          </a:p>
          <a:p>
            <a:pPr algn="just"/>
            <a:endParaRPr lang="en-US" b="1"/>
          </a:p>
        </p:txBody>
      </p:sp>
      <p:graphicFrame>
        <p:nvGraphicFramePr>
          <p:cNvPr id="39" name="Table 38">
            <a:extLst>
              <a:ext uri="{FF2B5EF4-FFF2-40B4-BE49-F238E27FC236}">
                <a16:creationId xmlns:a16="http://schemas.microsoft.com/office/drawing/2014/main" id="{B26EACF4-02CC-5ACE-8785-8632BCD7DEB5}"/>
              </a:ext>
            </a:extLst>
          </p:cNvPr>
          <p:cNvGraphicFramePr>
            <a:graphicFrameLocks noGrp="1"/>
          </p:cNvGraphicFramePr>
          <p:nvPr>
            <p:extLst>
              <p:ext uri="{D42A27DB-BD31-4B8C-83A1-F6EECF244321}">
                <p14:modId xmlns:p14="http://schemas.microsoft.com/office/powerpoint/2010/main" val="2977728145"/>
              </p:ext>
            </p:extLst>
          </p:nvPr>
        </p:nvGraphicFramePr>
        <p:xfrm>
          <a:off x="33805368" y="15062974"/>
          <a:ext cx="9169700" cy="3073456"/>
        </p:xfrm>
        <a:graphic>
          <a:graphicData uri="http://schemas.openxmlformats.org/drawingml/2006/table">
            <a:tbl>
              <a:tblPr firstRow="1" bandRow="1">
                <a:tableStyleId>{93296810-A885-4BE3-A3E7-6D5BEEA58F35}</a:tableStyleId>
              </a:tblPr>
              <a:tblGrid>
                <a:gridCol w="1833940">
                  <a:extLst>
                    <a:ext uri="{9D8B030D-6E8A-4147-A177-3AD203B41FA5}">
                      <a16:colId xmlns:a16="http://schemas.microsoft.com/office/drawing/2014/main" val="3839222090"/>
                    </a:ext>
                  </a:extLst>
                </a:gridCol>
                <a:gridCol w="1833940">
                  <a:extLst>
                    <a:ext uri="{9D8B030D-6E8A-4147-A177-3AD203B41FA5}">
                      <a16:colId xmlns:a16="http://schemas.microsoft.com/office/drawing/2014/main" val="50388315"/>
                    </a:ext>
                  </a:extLst>
                </a:gridCol>
                <a:gridCol w="1833940">
                  <a:extLst>
                    <a:ext uri="{9D8B030D-6E8A-4147-A177-3AD203B41FA5}">
                      <a16:colId xmlns:a16="http://schemas.microsoft.com/office/drawing/2014/main" val="1426794024"/>
                    </a:ext>
                  </a:extLst>
                </a:gridCol>
                <a:gridCol w="1833940">
                  <a:extLst>
                    <a:ext uri="{9D8B030D-6E8A-4147-A177-3AD203B41FA5}">
                      <a16:colId xmlns:a16="http://schemas.microsoft.com/office/drawing/2014/main" val="1992107126"/>
                    </a:ext>
                  </a:extLst>
                </a:gridCol>
                <a:gridCol w="1833940">
                  <a:extLst>
                    <a:ext uri="{9D8B030D-6E8A-4147-A177-3AD203B41FA5}">
                      <a16:colId xmlns:a16="http://schemas.microsoft.com/office/drawing/2014/main" val="2191578843"/>
                    </a:ext>
                  </a:extLst>
                </a:gridCol>
              </a:tblGrid>
              <a:tr h="568709">
                <a:tc>
                  <a:txBody>
                    <a:bodyPr/>
                    <a:lstStyle/>
                    <a:p>
                      <a:r>
                        <a:rPr lang="en-US"/>
                        <a:t>Controller</a:t>
                      </a:r>
                    </a:p>
                  </a:txBody>
                  <a:tcPr/>
                </a:tc>
                <a:tc>
                  <a:txBody>
                    <a:bodyPr/>
                    <a:lstStyle/>
                    <a:p>
                      <a:r>
                        <a:rPr lang="en-US"/>
                        <a:t>Alignment</a:t>
                      </a:r>
                    </a:p>
                  </a:txBody>
                  <a:tcPr/>
                </a:tc>
                <a:tc>
                  <a:txBody>
                    <a:bodyPr/>
                    <a:lstStyle/>
                    <a:p>
                      <a:r>
                        <a:rPr lang="en-US"/>
                        <a:t>Low-PAC Targeting</a:t>
                      </a:r>
                    </a:p>
                  </a:txBody>
                  <a:tcPr/>
                </a:tc>
                <a:tc>
                  <a:txBody>
                    <a:bodyPr/>
                    <a:lstStyle/>
                    <a:p>
                      <a:r>
                        <a:rPr lang="en-US"/>
                        <a:t>PAC Gap </a:t>
                      </a:r>
                      <a:r>
                        <a:rPr lang="en-US" sz="1800" b="1" i="0" kern="1200">
                          <a:solidFill>
                            <a:schemeClr val="lt1"/>
                          </a:solidFill>
                          <a:effectLst/>
                          <a:latin typeface="+mn-lt"/>
                          <a:ea typeface="+mn-ea"/>
                          <a:cs typeface="+mn-cs"/>
                        </a:rPr>
                        <a:t>(×10⁻⁶)</a:t>
                      </a:r>
                      <a:endParaRPr lang="en-US"/>
                    </a:p>
                  </a:txBody>
                  <a:tcPr/>
                </a:tc>
                <a:tc>
                  <a:txBody>
                    <a:bodyPr/>
                    <a:lstStyle/>
                    <a:p>
                      <a:r>
                        <a:rPr lang="en-US"/>
                        <a:t>Stim %</a:t>
                      </a:r>
                    </a:p>
                  </a:txBody>
                  <a:tcPr/>
                </a:tc>
                <a:extLst>
                  <a:ext uri="{0D108BD9-81ED-4DB2-BD59-A6C34878D82A}">
                    <a16:rowId xmlns:a16="http://schemas.microsoft.com/office/drawing/2014/main" val="1483437577"/>
                  </a:ext>
                </a:extLst>
              </a:tr>
              <a:tr h="576608">
                <a:tc>
                  <a:txBody>
                    <a:bodyPr/>
                    <a:lstStyle/>
                    <a:p>
                      <a:r>
                        <a:rPr lang="en-US"/>
                        <a:t>Fixed Schedule</a:t>
                      </a:r>
                    </a:p>
                  </a:txBody>
                  <a:tcPr/>
                </a:tc>
                <a:tc>
                  <a:txBody>
                    <a:bodyPr/>
                    <a:lstStyle/>
                    <a:p>
                      <a:r>
                        <a:rPr lang="en-US"/>
                        <a:t>45.0%</a:t>
                      </a:r>
                    </a:p>
                  </a:txBody>
                  <a:tcPr/>
                </a:tc>
                <a:tc>
                  <a:txBody>
                    <a:bodyPr/>
                    <a:lstStyle/>
                    <a:p>
                      <a:r>
                        <a:rPr lang="en-US"/>
                        <a:t>61.4%</a:t>
                      </a:r>
                    </a:p>
                  </a:txBody>
                  <a:tcPr/>
                </a:tc>
                <a:tc>
                  <a:txBody>
                    <a:bodyPr/>
                    <a:lstStyle/>
                    <a:p>
                      <a:r>
                        <a:rPr lang="en-US"/>
                        <a:t>-6.6 (wrong direction)</a:t>
                      </a:r>
                    </a:p>
                  </a:txBody>
                  <a:tcPr/>
                </a:tc>
                <a:tc>
                  <a:txBody>
                    <a:bodyPr/>
                    <a:lstStyle/>
                    <a:p>
                      <a:r>
                        <a:rPr lang="en-US"/>
                        <a:t>66.6%</a:t>
                      </a:r>
                    </a:p>
                  </a:txBody>
                  <a:tcPr/>
                </a:tc>
                <a:extLst>
                  <a:ext uri="{0D108BD9-81ED-4DB2-BD59-A6C34878D82A}">
                    <a16:rowId xmlns:a16="http://schemas.microsoft.com/office/drawing/2014/main" val="3950006189"/>
                  </a:ext>
                </a:extLst>
              </a:tr>
              <a:tr h="576608">
                <a:tc>
                  <a:txBody>
                    <a:bodyPr/>
                    <a:lstStyle/>
                    <a:p>
                      <a:r>
                        <a:rPr lang="en-US"/>
                        <a:t>Reactive</a:t>
                      </a:r>
                    </a:p>
                  </a:txBody>
                  <a:tcPr/>
                </a:tc>
                <a:tc>
                  <a:txBody>
                    <a:bodyPr/>
                    <a:lstStyle/>
                    <a:p>
                      <a:r>
                        <a:rPr lang="en-US"/>
                        <a:t>64.5%</a:t>
                      </a:r>
                    </a:p>
                  </a:txBody>
                  <a:tcPr/>
                </a:tc>
                <a:tc>
                  <a:txBody>
                    <a:bodyPr/>
                    <a:lstStyle/>
                    <a:p>
                      <a:r>
                        <a:rPr lang="en-US"/>
                        <a:t>51.7%</a:t>
                      </a:r>
                    </a:p>
                  </a:txBody>
                  <a:tcPr/>
                </a:tc>
                <a:tc>
                  <a:txBody>
                    <a:bodyPr/>
                    <a:lstStyle/>
                    <a:p>
                      <a:r>
                        <a:rPr lang="en-US"/>
                        <a:t>+21.1</a:t>
                      </a:r>
                    </a:p>
                  </a:txBody>
                  <a:tcPr/>
                </a:tc>
                <a:tc>
                  <a:txBody>
                    <a:bodyPr/>
                    <a:lstStyle/>
                    <a:p>
                      <a:r>
                        <a:rPr lang="en-US"/>
                        <a:t>36.7%</a:t>
                      </a:r>
                    </a:p>
                  </a:txBody>
                  <a:tcPr/>
                </a:tc>
                <a:extLst>
                  <a:ext uri="{0D108BD9-81ED-4DB2-BD59-A6C34878D82A}">
                    <a16:rowId xmlns:a16="http://schemas.microsoft.com/office/drawing/2014/main" val="3910811135"/>
                  </a:ext>
                </a:extLst>
              </a:tr>
              <a:tr h="576608">
                <a:tc>
                  <a:txBody>
                    <a:bodyPr/>
                    <a:lstStyle/>
                    <a:p>
                      <a:r>
                        <a:rPr lang="en-US" b="1"/>
                        <a:t>TCN Predictive</a:t>
                      </a:r>
                    </a:p>
                  </a:txBody>
                  <a:tcPr/>
                </a:tc>
                <a:tc>
                  <a:txBody>
                    <a:bodyPr/>
                    <a:lstStyle/>
                    <a:p>
                      <a:r>
                        <a:rPr lang="en-US" b="1"/>
                        <a:t>72.1%</a:t>
                      </a:r>
                    </a:p>
                  </a:txBody>
                  <a:tcPr/>
                </a:tc>
                <a:tc>
                  <a:txBody>
                    <a:bodyPr/>
                    <a:lstStyle/>
                    <a:p>
                      <a:r>
                        <a:rPr lang="en-US" b="1"/>
                        <a:t>82.6%</a:t>
                      </a:r>
                    </a:p>
                  </a:txBody>
                  <a:tcPr/>
                </a:tc>
                <a:tc>
                  <a:txBody>
                    <a:bodyPr/>
                    <a:lstStyle/>
                    <a:p>
                      <a:r>
                        <a:rPr lang="en-US" b="1"/>
                        <a:t>+30.5</a:t>
                      </a:r>
                    </a:p>
                  </a:txBody>
                  <a:tcPr/>
                </a:tc>
                <a:tc>
                  <a:txBody>
                    <a:bodyPr/>
                    <a:lstStyle/>
                    <a:p>
                      <a:r>
                        <a:rPr lang="en-US" b="1"/>
                        <a:t>59.7%</a:t>
                      </a:r>
                    </a:p>
                  </a:txBody>
                  <a:tcPr/>
                </a:tc>
                <a:extLst>
                  <a:ext uri="{0D108BD9-81ED-4DB2-BD59-A6C34878D82A}">
                    <a16:rowId xmlns:a16="http://schemas.microsoft.com/office/drawing/2014/main" val="2054531399"/>
                  </a:ext>
                </a:extLst>
              </a:tr>
              <a:tr h="576608">
                <a:tc>
                  <a:txBody>
                    <a:bodyPr/>
                    <a:lstStyle/>
                    <a:p>
                      <a:r>
                        <a:rPr lang="en-US"/>
                        <a:t>Oracle (upper bound)</a:t>
                      </a:r>
                    </a:p>
                  </a:txBody>
                  <a:tcPr/>
                </a:tc>
                <a:tc>
                  <a:txBody>
                    <a:bodyPr/>
                    <a:lstStyle/>
                    <a:p>
                      <a:r>
                        <a:rPr lang="en-US"/>
                        <a:t>100.0%</a:t>
                      </a:r>
                    </a:p>
                  </a:txBody>
                  <a:tcPr/>
                </a:tc>
                <a:tc>
                  <a:txBody>
                    <a:bodyPr/>
                    <a:lstStyle/>
                    <a:p>
                      <a:r>
                        <a:rPr lang="en-US"/>
                        <a:t>100.0%</a:t>
                      </a:r>
                    </a:p>
                  </a:txBody>
                  <a:tcPr/>
                </a:tc>
                <a:tc>
                  <a:txBody>
                    <a:bodyPr/>
                    <a:lstStyle/>
                    <a:p>
                      <a:r>
                        <a:rPr lang="en-US"/>
                        <a:t>+33.3</a:t>
                      </a:r>
                    </a:p>
                  </a:txBody>
                  <a:tcPr/>
                </a:tc>
                <a:tc>
                  <a:txBody>
                    <a:bodyPr/>
                    <a:lstStyle/>
                    <a:p>
                      <a:r>
                        <a:rPr lang="en-US"/>
                        <a:t>48.3%</a:t>
                      </a:r>
                    </a:p>
                  </a:txBody>
                  <a:tcPr/>
                </a:tc>
                <a:extLst>
                  <a:ext uri="{0D108BD9-81ED-4DB2-BD59-A6C34878D82A}">
                    <a16:rowId xmlns:a16="http://schemas.microsoft.com/office/drawing/2014/main" val="3610958757"/>
                  </a:ext>
                </a:extLst>
              </a:tr>
            </a:tbl>
          </a:graphicData>
        </a:graphic>
      </p:graphicFrame>
      <p:sp>
        <p:nvSpPr>
          <p:cNvPr id="40" name="TextBox 39">
            <a:extLst>
              <a:ext uri="{FF2B5EF4-FFF2-40B4-BE49-F238E27FC236}">
                <a16:creationId xmlns:a16="http://schemas.microsoft.com/office/drawing/2014/main" id="{394BE20B-692B-BAFA-8246-626FAF715D34}"/>
              </a:ext>
            </a:extLst>
          </p:cNvPr>
          <p:cNvSpPr txBox="1"/>
          <p:nvPr/>
        </p:nvSpPr>
        <p:spPr>
          <a:xfrm>
            <a:off x="33723072" y="18223908"/>
            <a:ext cx="9372600" cy="1938992"/>
          </a:xfrm>
          <a:prstGeom prst="rect">
            <a:avLst/>
          </a:prstGeom>
          <a:noFill/>
        </p:spPr>
        <p:txBody>
          <a:bodyPr wrap="square" rtlCol="0">
            <a:spAutoFit/>
          </a:bodyPr>
          <a:lstStyle>
            <a:defPPr>
              <a:defRPr kern="1200"/>
            </a:defPPr>
          </a:lstStyle>
          <a:p>
            <a:pPr marL="342900" indent="-342900" algn="just">
              <a:buFontTx/>
              <a:buChar char="-"/>
            </a:pPr>
            <a:r>
              <a:rPr lang="en-US"/>
              <a:t>TCN vs Reactive: Alignment g = +1.31, Low-PAC targeting g = +4.47, PAC gap g = +1.57 (all p &lt; 0.001)</a:t>
            </a:r>
          </a:p>
          <a:p>
            <a:pPr marL="342900" indent="-342900" algn="just">
              <a:buFontTx/>
              <a:buChar char="-"/>
            </a:pPr>
            <a:r>
              <a:rPr lang="en-US"/>
              <a:t>TCN PAC targeting gap reaches 92% of the theoretical oracle</a:t>
            </a:r>
          </a:p>
          <a:p>
            <a:pPr marL="342900" indent="-342900" algn="just">
              <a:buFontTx/>
              <a:buChar char="-"/>
            </a:pPr>
            <a:r>
              <a:rPr lang="en-US"/>
              <a:t>TCN uses less stimulation than Fixed Schedule (59.7% vs 66.6%)</a:t>
            </a:r>
          </a:p>
          <a:p>
            <a:pPr marL="342900" indent="-342900" algn="just">
              <a:buFontTx/>
              <a:buChar char="-"/>
            </a:pPr>
            <a:r>
              <a:rPr lang="en-US"/>
              <a:t>Reactive misses 48% of low-PAC windows that need treatment</a:t>
            </a:r>
          </a:p>
        </p:txBody>
      </p:sp>
      <p:sp>
        <p:nvSpPr>
          <p:cNvPr id="44" name="TextBox 43">
            <a:extLst>
              <a:ext uri="{FF2B5EF4-FFF2-40B4-BE49-F238E27FC236}">
                <a16:creationId xmlns:a16="http://schemas.microsoft.com/office/drawing/2014/main" id="{EB3CB05E-5E8E-96F1-D22C-E57641116716}"/>
              </a:ext>
            </a:extLst>
          </p:cNvPr>
          <p:cNvSpPr txBox="1"/>
          <p:nvPr/>
        </p:nvSpPr>
        <p:spPr>
          <a:xfrm>
            <a:off x="33818054" y="25806376"/>
            <a:ext cx="9169698" cy="461665"/>
          </a:xfrm>
          <a:prstGeom prst="rect">
            <a:avLst/>
          </a:prstGeom>
          <a:noFill/>
        </p:spPr>
        <p:txBody>
          <a:bodyPr wrap="square" rtlCol="0">
            <a:spAutoFit/>
          </a:bodyPr>
          <a:lstStyle>
            <a:defPPr>
              <a:defRPr kern="1200"/>
            </a:defPPr>
          </a:lstStyle>
          <a:p>
            <a:pPr algn="just"/>
            <a:r>
              <a:rPr lang="en-US" b="1"/>
              <a:t>Result 2: Every Patient Benefits</a:t>
            </a:r>
            <a:endParaRPr lang="en-US"/>
          </a:p>
        </p:txBody>
      </p:sp>
      <p:sp>
        <p:nvSpPr>
          <p:cNvPr id="45" name="TextBox 44">
            <a:extLst>
              <a:ext uri="{FF2B5EF4-FFF2-40B4-BE49-F238E27FC236}">
                <a16:creationId xmlns:a16="http://schemas.microsoft.com/office/drawing/2014/main" id="{3E48B729-1916-AA61-7297-972DAD18D636}"/>
              </a:ext>
            </a:extLst>
          </p:cNvPr>
          <p:cNvSpPr txBox="1"/>
          <p:nvPr/>
        </p:nvSpPr>
        <p:spPr>
          <a:xfrm>
            <a:off x="33723072" y="31423068"/>
            <a:ext cx="9372600" cy="2677656"/>
          </a:xfrm>
          <a:prstGeom prst="rect">
            <a:avLst/>
          </a:prstGeom>
          <a:noFill/>
        </p:spPr>
        <p:txBody>
          <a:bodyPr wrap="square" rtlCol="0">
            <a:spAutoFit/>
          </a:bodyPr>
          <a:lstStyle>
            <a:defPPr>
              <a:defRPr kern="1200"/>
            </a:defPPr>
          </a:lstStyle>
          <a:p>
            <a:pPr marL="342900" indent="-342900">
              <a:buFontTx/>
              <a:buChar char="-"/>
            </a:pPr>
            <a:r>
              <a:rPr lang="en-US"/>
              <a:t>35/35 subjects (100%) show higher utility with TCN vs Reactive (binomial p &lt; 0.001)</a:t>
            </a:r>
          </a:p>
          <a:p>
            <a:pPr marL="342900" indent="-342900">
              <a:buFontTx/>
              <a:buChar char="-"/>
            </a:pPr>
            <a:r>
              <a:rPr lang="en-US"/>
              <a:t>Advantage holds for 6 held-out test subjects never seen during training</a:t>
            </a:r>
          </a:p>
          <a:p>
            <a:pPr algn="just"/>
            <a:endParaRPr lang="en-US"/>
          </a:p>
          <a:p>
            <a:pPr algn="just"/>
            <a:r>
              <a:rPr lang="en-US" b="1"/>
              <a:t>Result 3: Advantage Increases with Fatigue</a:t>
            </a:r>
          </a:p>
          <a:p>
            <a:pPr algn="just"/>
            <a:r>
              <a:rPr lang="en-US"/>
              <a:t>Simulation results across 6 fatigue severity levels (n = 50 trials each):</a:t>
            </a:r>
            <a:endParaRPr lang="en-US" b="1"/>
          </a:p>
          <a:p>
            <a:pPr algn="just"/>
            <a:endParaRPr lang="en-US"/>
          </a:p>
        </p:txBody>
      </p:sp>
      <p:graphicFrame>
        <p:nvGraphicFramePr>
          <p:cNvPr id="73" name="Table 72">
            <a:extLst>
              <a:ext uri="{FF2B5EF4-FFF2-40B4-BE49-F238E27FC236}">
                <a16:creationId xmlns:a16="http://schemas.microsoft.com/office/drawing/2014/main" id="{24B70595-7B2E-A1FE-E80E-88C193EA1206}"/>
              </a:ext>
            </a:extLst>
          </p:cNvPr>
          <p:cNvGraphicFramePr>
            <a:graphicFrameLocks noGrp="1"/>
          </p:cNvGraphicFramePr>
          <p:nvPr>
            <p:extLst>
              <p:ext uri="{D42A27DB-BD31-4B8C-83A1-F6EECF244321}">
                <p14:modId xmlns:p14="http://schemas.microsoft.com/office/powerpoint/2010/main" val="1354314531"/>
              </p:ext>
            </p:extLst>
          </p:nvPr>
        </p:nvGraphicFramePr>
        <p:xfrm>
          <a:off x="34079688" y="33816573"/>
          <a:ext cx="8662556" cy="3451749"/>
        </p:xfrm>
        <a:graphic>
          <a:graphicData uri="http://schemas.openxmlformats.org/drawingml/2006/table">
            <a:tbl>
              <a:tblPr firstRow="1" bandRow="1">
                <a:tableStyleId>{93296810-A885-4BE3-A3E7-6D5BEEA58F35}</a:tableStyleId>
              </a:tblPr>
              <a:tblGrid>
                <a:gridCol w="2165639">
                  <a:extLst>
                    <a:ext uri="{9D8B030D-6E8A-4147-A177-3AD203B41FA5}">
                      <a16:colId xmlns:a16="http://schemas.microsoft.com/office/drawing/2014/main" val="3839222090"/>
                    </a:ext>
                  </a:extLst>
                </a:gridCol>
                <a:gridCol w="2165639">
                  <a:extLst>
                    <a:ext uri="{9D8B030D-6E8A-4147-A177-3AD203B41FA5}">
                      <a16:colId xmlns:a16="http://schemas.microsoft.com/office/drawing/2014/main" val="50388315"/>
                    </a:ext>
                  </a:extLst>
                </a:gridCol>
                <a:gridCol w="2165639">
                  <a:extLst>
                    <a:ext uri="{9D8B030D-6E8A-4147-A177-3AD203B41FA5}">
                      <a16:colId xmlns:a16="http://schemas.microsoft.com/office/drawing/2014/main" val="1426794024"/>
                    </a:ext>
                  </a:extLst>
                </a:gridCol>
                <a:gridCol w="2165639">
                  <a:extLst>
                    <a:ext uri="{9D8B030D-6E8A-4147-A177-3AD203B41FA5}">
                      <a16:colId xmlns:a16="http://schemas.microsoft.com/office/drawing/2014/main" val="1992107126"/>
                    </a:ext>
                  </a:extLst>
                </a:gridCol>
              </a:tblGrid>
              <a:tr h="568709">
                <a:tc>
                  <a:txBody>
                    <a:bodyPr/>
                    <a:lstStyle/>
                    <a:p>
                      <a:r>
                        <a:rPr lang="en-US"/>
                        <a:t>Fatigue Level</a:t>
                      </a:r>
                    </a:p>
                  </a:txBody>
                  <a:tcPr/>
                </a:tc>
                <a:tc>
                  <a:txBody>
                    <a:bodyPr/>
                    <a:lstStyle/>
                    <a:p>
                      <a:r>
                        <a:rPr lang="en-US"/>
                        <a:t>Fixed Efficiency</a:t>
                      </a:r>
                    </a:p>
                  </a:txBody>
                  <a:tcPr/>
                </a:tc>
                <a:tc>
                  <a:txBody>
                    <a:bodyPr/>
                    <a:lstStyle/>
                    <a:p>
                      <a:r>
                        <a:rPr lang="en-US"/>
                        <a:t>Adaptive Efficiency</a:t>
                      </a:r>
                    </a:p>
                  </a:txBody>
                  <a:tcPr/>
                </a:tc>
                <a:tc>
                  <a:txBody>
                    <a:bodyPr/>
                    <a:lstStyle/>
                    <a:p>
                      <a:r>
                        <a:rPr lang="en-US"/>
                        <a:t>Improvement</a:t>
                      </a:r>
                    </a:p>
                  </a:txBody>
                  <a:tcPr/>
                </a:tc>
                <a:extLst>
                  <a:ext uri="{0D108BD9-81ED-4DB2-BD59-A6C34878D82A}">
                    <a16:rowId xmlns:a16="http://schemas.microsoft.com/office/drawing/2014/main" val="1483437577"/>
                  </a:ext>
                </a:extLst>
              </a:tr>
              <a:tr h="576608">
                <a:tc>
                  <a:txBody>
                    <a:bodyPr/>
                    <a:lstStyle/>
                    <a:p>
                      <a:r>
                        <a:rPr lang="en-US"/>
                        <a:t>None</a:t>
                      </a:r>
                    </a:p>
                  </a:txBody>
                  <a:tcPr/>
                </a:tc>
                <a:tc>
                  <a:txBody>
                    <a:bodyPr/>
                    <a:lstStyle/>
                    <a:p>
                      <a:r>
                        <a:rPr lang="en-US"/>
                        <a:t>0.343</a:t>
                      </a:r>
                    </a:p>
                  </a:txBody>
                  <a:tcPr/>
                </a:tc>
                <a:tc>
                  <a:txBody>
                    <a:bodyPr/>
                    <a:lstStyle/>
                    <a:p>
                      <a:r>
                        <a:rPr lang="en-US"/>
                        <a:t>0.375</a:t>
                      </a:r>
                    </a:p>
                  </a:txBody>
                  <a:tcPr/>
                </a:tc>
                <a:tc>
                  <a:txBody>
                    <a:bodyPr/>
                    <a:lstStyle/>
                    <a:p>
                      <a:r>
                        <a:rPr lang="en-US"/>
                        <a:t>+9.5%***</a:t>
                      </a:r>
                    </a:p>
                  </a:txBody>
                  <a:tcPr/>
                </a:tc>
                <a:extLst>
                  <a:ext uri="{0D108BD9-81ED-4DB2-BD59-A6C34878D82A}">
                    <a16:rowId xmlns:a16="http://schemas.microsoft.com/office/drawing/2014/main" val="3950006189"/>
                  </a:ext>
                </a:extLst>
              </a:tr>
              <a:tr h="576608">
                <a:tc>
                  <a:txBody>
                    <a:bodyPr/>
                    <a:lstStyle/>
                    <a:p>
                      <a:r>
                        <a:rPr lang="en-US"/>
                        <a:t>Mild</a:t>
                      </a:r>
                    </a:p>
                  </a:txBody>
                  <a:tcPr/>
                </a:tc>
                <a:tc>
                  <a:txBody>
                    <a:bodyPr/>
                    <a:lstStyle/>
                    <a:p>
                      <a:r>
                        <a:rPr lang="en-US"/>
                        <a:t>0.341</a:t>
                      </a:r>
                    </a:p>
                  </a:txBody>
                  <a:tcPr/>
                </a:tc>
                <a:tc>
                  <a:txBody>
                    <a:bodyPr/>
                    <a:lstStyle/>
                    <a:p>
                      <a:r>
                        <a:rPr lang="en-US"/>
                        <a:t>0.375</a:t>
                      </a:r>
                    </a:p>
                  </a:txBody>
                  <a:tcPr/>
                </a:tc>
                <a:tc>
                  <a:txBody>
                    <a:bodyPr/>
                    <a:lstStyle/>
                    <a:p>
                      <a:r>
                        <a:rPr lang="en-US"/>
                        <a:t>+10.0%***</a:t>
                      </a:r>
                    </a:p>
                  </a:txBody>
                  <a:tcPr/>
                </a:tc>
                <a:extLst>
                  <a:ext uri="{0D108BD9-81ED-4DB2-BD59-A6C34878D82A}">
                    <a16:rowId xmlns:a16="http://schemas.microsoft.com/office/drawing/2014/main" val="3910811135"/>
                  </a:ext>
                </a:extLst>
              </a:tr>
              <a:tr h="576608">
                <a:tc>
                  <a:txBody>
                    <a:bodyPr/>
                    <a:lstStyle/>
                    <a:p>
                      <a:r>
                        <a:rPr lang="en-US" b="0"/>
                        <a:t>Moderate</a:t>
                      </a:r>
                    </a:p>
                  </a:txBody>
                  <a:tcPr/>
                </a:tc>
                <a:tc>
                  <a:txBody>
                    <a:bodyPr/>
                    <a:lstStyle/>
                    <a:p>
                      <a:r>
                        <a:rPr lang="en-US" b="0"/>
                        <a:t>0.335</a:t>
                      </a:r>
                    </a:p>
                  </a:txBody>
                  <a:tcPr/>
                </a:tc>
                <a:tc>
                  <a:txBody>
                    <a:bodyPr/>
                    <a:lstStyle/>
                    <a:p>
                      <a:r>
                        <a:rPr lang="en-US" b="0"/>
                        <a:t>0.366</a:t>
                      </a:r>
                    </a:p>
                  </a:txBody>
                  <a:tcPr/>
                </a:tc>
                <a:tc>
                  <a:txBody>
                    <a:bodyPr/>
                    <a:lstStyle/>
                    <a:p>
                      <a:r>
                        <a:rPr lang="en-US" b="0"/>
                        <a:t>+9.0%***</a:t>
                      </a:r>
                    </a:p>
                  </a:txBody>
                  <a:tcPr/>
                </a:tc>
                <a:extLst>
                  <a:ext uri="{0D108BD9-81ED-4DB2-BD59-A6C34878D82A}">
                    <a16:rowId xmlns:a16="http://schemas.microsoft.com/office/drawing/2014/main" val="2054531399"/>
                  </a:ext>
                </a:extLst>
              </a:tr>
              <a:tr h="576608">
                <a:tc>
                  <a:txBody>
                    <a:bodyPr/>
                    <a:lstStyle/>
                    <a:p>
                      <a:r>
                        <a:rPr lang="en-US"/>
                        <a:t>High</a:t>
                      </a:r>
                    </a:p>
                  </a:txBody>
                  <a:tcPr/>
                </a:tc>
                <a:tc>
                  <a:txBody>
                    <a:bodyPr/>
                    <a:lstStyle/>
                    <a:p>
                      <a:r>
                        <a:rPr lang="en-US"/>
                        <a:t>0.319</a:t>
                      </a:r>
                    </a:p>
                  </a:txBody>
                  <a:tcPr/>
                </a:tc>
                <a:tc>
                  <a:txBody>
                    <a:bodyPr/>
                    <a:lstStyle/>
                    <a:p>
                      <a:r>
                        <a:rPr lang="en-US"/>
                        <a:t>0.354</a:t>
                      </a:r>
                    </a:p>
                  </a:txBody>
                  <a:tcPr/>
                </a:tc>
                <a:tc>
                  <a:txBody>
                    <a:bodyPr/>
                    <a:lstStyle/>
                    <a:p>
                      <a:r>
                        <a:rPr lang="en-US"/>
                        <a:t>+10.8%***</a:t>
                      </a:r>
                    </a:p>
                  </a:txBody>
                  <a:tcPr/>
                </a:tc>
                <a:extLst>
                  <a:ext uri="{0D108BD9-81ED-4DB2-BD59-A6C34878D82A}">
                    <a16:rowId xmlns:a16="http://schemas.microsoft.com/office/drawing/2014/main" val="3610958757"/>
                  </a:ext>
                </a:extLst>
              </a:tr>
              <a:tr h="576608">
                <a:tc>
                  <a:txBody>
                    <a:bodyPr/>
                    <a:lstStyle/>
                    <a:p>
                      <a:r>
                        <a:rPr lang="en-US"/>
                        <a:t>Severe</a:t>
                      </a:r>
                    </a:p>
                  </a:txBody>
                  <a:tcPr/>
                </a:tc>
                <a:tc>
                  <a:txBody>
                    <a:bodyPr/>
                    <a:lstStyle/>
                    <a:p>
                      <a:r>
                        <a:rPr lang="en-US"/>
                        <a:t>0.316</a:t>
                      </a:r>
                    </a:p>
                  </a:txBody>
                  <a:tcPr/>
                </a:tc>
                <a:tc>
                  <a:txBody>
                    <a:bodyPr/>
                    <a:lstStyle/>
                    <a:p>
                      <a:r>
                        <a:rPr lang="en-US"/>
                        <a:t>0.352</a:t>
                      </a:r>
                    </a:p>
                  </a:txBody>
                  <a:tcPr/>
                </a:tc>
                <a:tc>
                  <a:txBody>
                    <a:bodyPr/>
                    <a:lstStyle/>
                    <a:p>
                      <a:r>
                        <a:rPr lang="en-US"/>
                        <a:t>+11.2%***</a:t>
                      </a:r>
                    </a:p>
                  </a:txBody>
                  <a:tcPr/>
                </a:tc>
                <a:extLst>
                  <a:ext uri="{0D108BD9-81ED-4DB2-BD59-A6C34878D82A}">
                    <a16:rowId xmlns:a16="http://schemas.microsoft.com/office/drawing/2014/main" val="1936147427"/>
                  </a:ext>
                </a:extLst>
              </a:tr>
            </a:tbl>
          </a:graphicData>
        </a:graphic>
      </p:graphicFrame>
      <p:sp>
        <p:nvSpPr>
          <p:cNvPr id="74" name="TextBox 73">
            <a:extLst>
              <a:ext uri="{FF2B5EF4-FFF2-40B4-BE49-F238E27FC236}">
                <a16:creationId xmlns:a16="http://schemas.microsoft.com/office/drawing/2014/main" id="{BE37E21D-EEEA-E7E1-A5F2-1362473E7033}"/>
              </a:ext>
            </a:extLst>
          </p:cNvPr>
          <p:cNvSpPr txBox="1"/>
          <p:nvPr/>
        </p:nvSpPr>
        <p:spPr>
          <a:xfrm>
            <a:off x="33723072" y="37495079"/>
            <a:ext cx="9372600" cy="2677656"/>
          </a:xfrm>
          <a:prstGeom prst="rect">
            <a:avLst/>
          </a:prstGeom>
          <a:noFill/>
        </p:spPr>
        <p:txBody>
          <a:bodyPr wrap="square" rtlCol="0">
            <a:spAutoFit/>
          </a:bodyPr>
          <a:lstStyle>
            <a:defPPr>
              <a:defRPr kern="1200"/>
            </a:defPPr>
          </a:lstStyle>
          <a:p>
            <a:pPr algn="just"/>
            <a:r>
              <a:rPr lang="en-US"/>
              <a:t>***p &lt; 0.001, Hedges' g = 1.7–2.4 (large to very large effects). Advantage grows as fatigue worsens; exactly when personalization matters most.</a:t>
            </a:r>
          </a:p>
          <a:p>
            <a:pPr algn="just"/>
            <a:endParaRPr lang="en-US"/>
          </a:p>
          <a:p>
            <a:pPr algn="just"/>
            <a:r>
              <a:rPr lang="en-US" b="1"/>
              <a:t>Result 4: Robust Across Fatigue Model Assumptions</a:t>
            </a:r>
            <a:endParaRPr lang="en-US"/>
          </a:p>
          <a:p>
            <a:pPr algn="just"/>
            <a:r>
              <a:rPr lang="en-US"/>
              <a:t>Tested under 4 different mathematical models of neural fatigue (n = 50 trials each):</a:t>
            </a:r>
          </a:p>
          <a:p>
            <a:pPr algn="just"/>
            <a:endParaRPr lang="en-US"/>
          </a:p>
        </p:txBody>
      </p:sp>
      <p:graphicFrame>
        <p:nvGraphicFramePr>
          <p:cNvPr id="75" name="Table 74">
            <a:extLst>
              <a:ext uri="{FF2B5EF4-FFF2-40B4-BE49-F238E27FC236}">
                <a16:creationId xmlns:a16="http://schemas.microsoft.com/office/drawing/2014/main" id="{34CD15DE-2C6F-BA1F-07B4-9A7AD2D70623}"/>
              </a:ext>
            </a:extLst>
          </p:cNvPr>
          <p:cNvGraphicFramePr>
            <a:graphicFrameLocks noGrp="1"/>
          </p:cNvGraphicFramePr>
          <p:nvPr>
            <p:extLst>
              <p:ext uri="{D42A27DB-BD31-4B8C-83A1-F6EECF244321}">
                <p14:modId xmlns:p14="http://schemas.microsoft.com/office/powerpoint/2010/main" val="3311357515"/>
              </p:ext>
            </p:extLst>
          </p:nvPr>
        </p:nvGraphicFramePr>
        <p:xfrm>
          <a:off x="34061400" y="39944814"/>
          <a:ext cx="8662556" cy="2938613"/>
        </p:xfrm>
        <a:graphic>
          <a:graphicData uri="http://schemas.openxmlformats.org/drawingml/2006/table">
            <a:tbl>
              <a:tblPr firstRow="1" bandRow="1">
                <a:tableStyleId>{2A488322-F2BA-4B5B-9748-0D474271808F}</a:tableStyleId>
              </a:tblPr>
              <a:tblGrid>
                <a:gridCol w="2165639">
                  <a:extLst>
                    <a:ext uri="{9D8B030D-6E8A-4147-A177-3AD203B41FA5}">
                      <a16:colId xmlns:a16="http://schemas.microsoft.com/office/drawing/2014/main" val="3839222090"/>
                    </a:ext>
                  </a:extLst>
                </a:gridCol>
                <a:gridCol w="2165639">
                  <a:extLst>
                    <a:ext uri="{9D8B030D-6E8A-4147-A177-3AD203B41FA5}">
                      <a16:colId xmlns:a16="http://schemas.microsoft.com/office/drawing/2014/main" val="50388315"/>
                    </a:ext>
                  </a:extLst>
                </a:gridCol>
                <a:gridCol w="2165639">
                  <a:extLst>
                    <a:ext uri="{9D8B030D-6E8A-4147-A177-3AD203B41FA5}">
                      <a16:colId xmlns:a16="http://schemas.microsoft.com/office/drawing/2014/main" val="1426794024"/>
                    </a:ext>
                  </a:extLst>
                </a:gridCol>
                <a:gridCol w="2165639">
                  <a:extLst>
                    <a:ext uri="{9D8B030D-6E8A-4147-A177-3AD203B41FA5}">
                      <a16:colId xmlns:a16="http://schemas.microsoft.com/office/drawing/2014/main" val="1992107126"/>
                    </a:ext>
                  </a:extLst>
                </a:gridCol>
              </a:tblGrid>
              <a:tr h="568709">
                <a:tc>
                  <a:txBody>
                    <a:bodyPr/>
                    <a:lstStyle/>
                    <a:p>
                      <a:r>
                        <a:rPr lang="en-US"/>
                        <a:t>Fatigue Model</a:t>
                      </a:r>
                    </a:p>
                  </a:txBody>
                  <a:tcPr/>
                </a:tc>
                <a:tc>
                  <a:txBody>
                    <a:bodyPr/>
                    <a:lstStyle/>
                    <a:p>
                      <a:r>
                        <a:rPr lang="en-US"/>
                        <a:t>Advantage</a:t>
                      </a:r>
                    </a:p>
                  </a:txBody>
                  <a:tcPr/>
                </a:tc>
                <a:tc>
                  <a:txBody>
                    <a:bodyPr/>
                    <a:lstStyle/>
                    <a:p>
                      <a:r>
                        <a:rPr lang="en-US"/>
                        <a:t>P-value</a:t>
                      </a:r>
                    </a:p>
                  </a:txBody>
                  <a:tcPr/>
                </a:tc>
                <a:tc>
                  <a:txBody>
                    <a:bodyPr/>
                    <a:lstStyle/>
                    <a:p>
                      <a:r>
                        <a:rPr lang="en-US"/>
                        <a:t>Hedges’ g</a:t>
                      </a:r>
                    </a:p>
                  </a:txBody>
                  <a:tcPr/>
                </a:tc>
                <a:extLst>
                  <a:ext uri="{0D108BD9-81ED-4DB2-BD59-A6C34878D82A}">
                    <a16:rowId xmlns:a16="http://schemas.microsoft.com/office/drawing/2014/main" val="1483437577"/>
                  </a:ext>
                </a:extLst>
              </a:tr>
              <a:tr h="576608">
                <a:tc>
                  <a:txBody>
                    <a:bodyPr/>
                    <a:lstStyle/>
                    <a:p>
                      <a:r>
                        <a:rPr lang="en-US"/>
                        <a:t>Exponential Decay</a:t>
                      </a:r>
                    </a:p>
                  </a:txBody>
                  <a:tcPr/>
                </a:tc>
                <a:tc>
                  <a:txBody>
                    <a:bodyPr/>
                    <a:lstStyle/>
                    <a:p>
                      <a:r>
                        <a:rPr lang="en-US"/>
                        <a:t>+9.0%</a:t>
                      </a:r>
                    </a:p>
                  </a:txBody>
                  <a:tcPr/>
                </a:tc>
                <a:tc>
                  <a:txBody>
                    <a:bodyPr/>
                    <a:lstStyle/>
                    <a:p>
                      <a:r>
                        <a:rPr lang="en-US" sz="1800" b="0" kern="1200">
                          <a:solidFill>
                            <a:schemeClr val="dk1"/>
                          </a:solidFill>
                          <a:effectLst/>
                        </a:rPr>
                        <a:t>1.8 × 10⁻¹⁵</a:t>
                      </a:r>
                      <a:endParaRPr lang="en-US"/>
                    </a:p>
                  </a:txBody>
                  <a:tcPr/>
                </a:tc>
                <a:tc>
                  <a:txBody>
                    <a:bodyPr/>
                    <a:lstStyle/>
                    <a:p>
                      <a:r>
                        <a:rPr lang="en-US"/>
                        <a:t>2.31</a:t>
                      </a:r>
                    </a:p>
                  </a:txBody>
                  <a:tcPr/>
                </a:tc>
                <a:extLst>
                  <a:ext uri="{0D108BD9-81ED-4DB2-BD59-A6C34878D82A}">
                    <a16:rowId xmlns:a16="http://schemas.microsoft.com/office/drawing/2014/main" val="3950006189"/>
                  </a:ext>
                </a:extLst>
              </a:tr>
              <a:tr h="576608">
                <a:tc>
                  <a:txBody>
                    <a:bodyPr/>
                    <a:lstStyle/>
                    <a:p>
                      <a:r>
                        <a:rPr lang="en-US"/>
                        <a:t>Step Function</a:t>
                      </a:r>
                    </a:p>
                  </a:txBody>
                  <a:tcPr/>
                </a:tc>
                <a:tc>
                  <a:txBody>
                    <a:bodyPr/>
                    <a:lstStyle/>
                    <a:p>
                      <a:r>
                        <a:rPr lang="en-US"/>
                        <a:t>+6.9%</a:t>
                      </a:r>
                    </a:p>
                  </a:txBody>
                  <a:tcPr/>
                </a:tc>
                <a:tc>
                  <a:txBody>
                    <a:bodyPr/>
                    <a:lstStyle/>
                    <a:p>
                      <a:r>
                        <a:rPr lang="en-US" sz="1800" b="0" kern="1200">
                          <a:solidFill>
                            <a:schemeClr val="dk1"/>
                          </a:solidFill>
                          <a:effectLst/>
                        </a:rPr>
                        <a:t>4.4 × 10⁻¹⁴</a:t>
                      </a:r>
                      <a:endParaRPr lang="en-US"/>
                    </a:p>
                  </a:txBody>
                  <a:tcPr/>
                </a:tc>
                <a:tc>
                  <a:txBody>
                    <a:bodyPr/>
                    <a:lstStyle/>
                    <a:p>
                      <a:r>
                        <a:rPr lang="en-US" sz="1800" b="0" kern="1200">
                          <a:solidFill>
                            <a:schemeClr val="dk1"/>
                          </a:solidFill>
                          <a:effectLst/>
                        </a:rPr>
                        <a:t>1.21</a:t>
                      </a:r>
                      <a:endParaRPr lang="en-US"/>
                    </a:p>
                  </a:txBody>
                  <a:tcPr/>
                </a:tc>
                <a:extLst>
                  <a:ext uri="{0D108BD9-81ED-4DB2-BD59-A6C34878D82A}">
                    <a16:rowId xmlns:a16="http://schemas.microsoft.com/office/drawing/2014/main" val="3910811135"/>
                  </a:ext>
                </a:extLst>
              </a:tr>
              <a:tr h="576608">
                <a:tc>
                  <a:txBody>
                    <a:bodyPr/>
                    <a:lstStyle/>
                    <a:p>
                      <a:r>
                        <a:rPr lang="en-US" b="0"/>
                        <a:t>Heterogenous (50/50)</a:t>
                      </a:r>
                    </a:p>
                  </a:txBody>
                  <a:tcPr/>
                </a:tc>
                <a:tc>
                  <a:txBody>
                    <a:bodyPr/>
                    <a:lstStyle/>
                    <a:p>
                      <a:r>
                        <a:rPr lang="en-US" b="0"/>
                        <a:t>+8.9%</a:t>
                      </a:r>
                    </a:p>
                  </a:txBody>
                  <a:tcPr/>
                </a:tc>
                <a:tc>
                  <a:txBody>
                    <a:bodyPr/>
                    <a:lstStyle/>
                    <a:p>
                      <a:r>
                        <a:rPr lang="en-US" sz="1800" b="0" kern="1200">
                          <a:solidFill>
                            <a:schemeClr val="dk1"/>
                          </a:solidFill>
                          <a:effectLst/>
                        </a:rPr>
                        <a:t>2.5 × 10⁻¹⁴</a:t>
                      </a:r>
                      <a:endParaRPr lang="en-US" b="0"/>
                    </a:p>
                  </a:txBody>
                  <a:tcPr/>
                </a:tc>
                <a:tc>
                  <a:txBody>
                    <a:bodyPr/>
                    <a:lstStyle/>
                    <a:p>
                      <a:r>
                        <a:rPr lang="en-US" b="0"/>
                        <a:t>1.71</a:t>
                      </a:r>
                    </a:p>
                  </a:txBody>
                  <a:tcPr/>
                </a:tc>
                <a:extLst>
                  <a:ext uri="{0D108BD9-81ED-4DB2-BD59-A6C34878D82A}">
                    <a16:rowId xmlns:a16="http://schemas.microsoft.com/office/drawing/2014/main" val="2054531399"/>
                  </a:ext>
                </a:extLst>
              </a:tr>
              <a:tr h="576608">
                <a:tc>
                  <a:txBody>
                    <a:bodyPr/>
                    <a:lstStyle/>
                    <a:p>
                      <a:r>
                        <a:rPr lang="en-US"/>
                        <a:t>Saturation (synaptic)</a:t>
                      </a:r>
                    </a:p>
                  </a:txBody>
                  <a:tcPr/>
                </a:tc>
                <a:tc>
                  <a:txBody>
                    <a:bodyPr/>
                    <a:lstStyle/>
                    <a:p>
                      <a:r>
                        <a:rPr lang="en-US"/>
                        <a:t>+19.0%</a:t>
                      </a:r>
                    </a:p>
                  </a:txBody>
                  <a:tcPr/>
                </a:tc>
                <a:tc>
                  <a:txBody>
                    <a:bodyPr/>
                    <a:lstStyle/>
                    <a:p>
                      <a:r>
                        <a:rPr lang="en-US" sz="1800" b="0" kern="1200">
                          <a:solidFill>
                            <a:schemeClr val="dk1"/>
                          </a:solidFill>
                          <a:effectLst/>
                        </a:rPr>
                        <a:t>1.8 × 10⁻¹⁵</a:t>
                      </a:r>
                      <a:endParaRPr lang="en-US"/>
                    </a:p>
                  </a:txBody>
                  <a:tcPr/>
                </a:tc>
                <a:tc>
                  <a:txBody>
                    <a:bodyPr/>
                    <a:lstStyle/>
                    <a:p>
                      <a:r>
                        <a:rPr lang="en-US"/>
                        <a:t>3.66</a:t>
                      </a:r>
                    </a:p>
                  </a:txBody>
                  <a:tcPr/>
                </a:tc>
                <a:extLst>
                  <a:ext uri="{0D108BD9-81ED-4DB2-BD59-A6C34878D82A}">
                    <a16:rowId xmlns:a16="http://schemas.microsoft.com/office/drawing/2014/main" val="3610958757"/>
                  </a:ext>
                </a:extLst>
              </a:tr>
            </a:tbl>
          </a:graphicData>
        </a:graphic>
      </p:graphicFrame>
      <p:sp>
        <p:nvSpPr>
          <p:cNvPr id="6" name="TextBox 5">
            <a:extLst>
              <a:ext uri="{FF2B5EF4-FFF2-40B4-BE49-F238E27FC236}">
                <a16:creationId xmlns:a16="http://schemas.microsoft.com/office/drawing/2014/main" id="{724BD267-D77F-BFDC-641A-B366AD9F39F4}"/>
              </a:ext>
            </a:extLst>
          </p:cNvPr>
          <p:cNvSpPr txBox="1"/>
          <p:nvPr/>
        </p:nvSpPr>
        <p:spPr>
          <a:xfrm>
            <a:off x="33723072" y="44560681"/>
            <a:ext cx="9372600" cy="6001643"/>
          </a:xfrm>
          <a:prstGeom prst="rect">
            <a:avLst/>
          </a:prstGeom>
          <a:noFill/>
        </p:spPr>
        <p:txBody>
          <a:bodyPr wrap="square" rtlCol="0">
            <a:spAutoFit/>
          </a:bodyPr>
          <a:lstStyle>
            <a:defPPr>
              <a:defRPr kern="1200"/>
            </a:defPPr>
          </a:lstStyle>
          <a:p>
            <a:pPr marL="457200" indent="-457200" algn="just">
              <a:buAutoNum type="arabicPeriod"/>
            </a:pPr>
            <a:r>
              <a:rPr lang="en-US"/>
              <a:t>At 5-10s horizons, the TCN maintains R² ≈ 0.25 while all baselines collapse below zero; a +0.5 R² margin at the operationally relevant range for proactive control</a:t>
            </a:r>
          </a:p>
          <a:p>
            <a:pPr marL="457200" indent="-457200" algn="just">
              <a:buAutoNum type="arabicPeriod"/>
            </a:pPr>
            <a:r>
              <a:rPr lang="en-US"/>
              <a:t>On real patient EEG: 72.1% alignment vs 64.5% reactive (p &lt; 0.001), targeting 82.6% of low-PAC windows vs 51.7% = 60% improvement in therapeutic targeting</a:t>
            </a:r>
          </a:p>
          <a:p>
            <a:pPr marL="457200" indent="-457200" algn="just">
              <a:buAutoNum type="arabicPeriod"/>
            </a:pPr>
            <a:r>
              <a:rPr lang="en-US"/>
              <a:t>All 35 patients benefited, including 6 held-out test subjects — generalizes across individual EEG patterns</a:t>
            </a:r>
          </a:p>
          <a:p>
            <a:pPr marL="457200" indent="-457200" algn="just">
              <a:buAutoNum type="arabicPeriod"/>
            </a:pPr>
            <a:r>
              <a:rPr lang="en-US"/>
              <a:t>Adaptive advantage increases with fatigue (+9.0% to +11.2%) and holds across four fatigue model assumptions</a:t>
            </a:r>
          </a:p>
          <a:p>
            <a:pPr marL="457200" indent="-457200" algn="just">
              <a:buAutoNum type="arabicPeriod"/>
            </a:pPr>
            <a:r>
              <a:rPr lang="en-US"/>
              <a:t>Half of patients habituate while half do not, validating the need for personalized, not fixed scheduling</a:t>
            </a:r>
          </a:p>
          <a:p>
            <a:pPr algn="just"/>
            <a:endParaRPr lang="en-US"/>
          </a:p>
          <a:p>
            <a:pPr algn="just"/>
            <a:r>
              <a:rPr lang="en-US"/>
              <a:t>Limitation: Real-data validation uses offline replay on recorded EEG, not live closed-loop streaming. The system makes decisions on real brain data but cannot observe the brain's response to those decisions.</a:t>
            </a:r>
          </a:p>
        </p:txBody>
      </p:sp>
      <p:sp>
        <p:nvSpPr>
          <p:cNvPr id="9" name="Rectangle 8">
            <a:extLst>
              <a:ext uri="{FF2B5EF4-FFF2-40B4-BE49-F238E27FC236}">
                <a16:creationId xmlns:a16="http://schemas.microsoft.com/office/drawing/2014/main" id="{8C5D7490-2C88-6F34-2C8C-2BC70577F827}"/>
              </a:ext>
            </a:extLst>
          </p:cNvPr>
          <p:cNvSpPr/>
          <p:nvPr/>
        </p:nvSpPr>
        <p:spPr>
          <a:xfrm>
            <a:off x="10976372" y="7391397"/>
            <a:ext cx="10744200" cy="298224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12" name="TextBox 11">
            <a:extLst>
              <a:ext uri="{FF2B5EF4-FFF2-40B4-BE49-F238E27FC236}">
                <a16:creationId xmlns:a16="http://schemas.microsoft.com/office/drawing/2014/main" id="{8301C1AC-D8EF-1D14-8273-CA848BFE3FC3}"/>
              </a:ext>
            </a:extLst>
          </p:cNvPr>
          <p:cNvSpPr txBox="1"/>
          <p:nvPr/>
        </p:nvSpPr>
        <p:spPr>
          <a:xfrm>
            <a:off x="11203051" y="7662671"/>
            <a:ext cx="8338254" cy="830997"/>
          </a:xfrm>
          <a:prstGeom prst="rect">
            <a:avLst/>
          </a:prstGeom>
          <a:noFill/>
        </p:spPr>
        <p:txBody>
          <a:bodyPr wrap="square" rtlCol="0">
            <a:spAutoFit/>
          </a:bodyPr>
          <a:lstStyle>
            <a:defPPr>
              <a:defRPr kern="1200"/>
            </a:defPPr>
          </a:lstStyle>
          <a:p>
            <a:r>
              <a:rPr lang="en-US" sz="4800">
                <a:solidFill>
                  <a:srgbClr val="235078"/>
                </a:solidFill>
                <a:latin typeface="Libre Baskerville" panose="02000000000000000000" pitchFamily="2" charset="0"/>
              </a:rPr>
              <a:t>Model Approach</a:t>
            </a:r>
          </a:p>
        </p:txBody>
      </p:sp>
      <p:sp>
        <p:nvSpPr>
          <p:cNvPr id="14" name="TextBox 13">
            <a:extLst>
              <a:ext uri="{FF2B5EF4-FFF2-40B4-BE49-F238E27FC236}">
                <a16:creationId xmlns:a16="http://schemas.microsoft.com/office/drawing/2014/main" id="{2CD4FF00-EA34-6CA4-76FA-E1289AA6CBAA}"/>
              </a:ext>
            </a:extLst>
          </p:cNvPr>
          <p:cNvSpPr txBox="1"/>
          <p:nvPr/>
        </p:nvSpPr>
        <p:spPr>
          <a:xfrm>
            <a:off x="11323844" y="8554429"/>
            <a:ext cx="10058400" cy="3046988"/>
          </a:xfrm>
          <a:prstGeom prst="rect">
            <a:avLst/>
          </a:prstGeom>
          <a:noFill/>
        </p:spPr>
        <p:txBody>
          <a:bodyPr wrap="square" rtlCol="0">
            <a:spAutoFit/>
          </a:bodyPr>
          <a:lstStyle>
            <a:defPPr>
              <a:defRPr kern="1200"/>
            </a:defPPr>
          </a:lstStyle>
          <a:p>
            <a:pPr algn="just"/>
            <a:r>
              <a:rPr lang="en-US"/>
              <a:t>To control stimulation proactively, the system needs to predict PAC 5-10 seconds into the future. The approach consists of two phases:</a:t>
            </a:r>
          </a:p>
          <a:p>
            <a:pPr marL="342900" indent="-342900" algn="just">
              <a:buFontTx/>
              <a:buChar char="-"/>
            </a:pPr>
            <a:r>
              <a:rPr lang="en-US"/>
              <a:t>Estimate current PAC from raw EEG in real time (since live patients don't have ground-truth labels)</a:t>
            </a:r>
          </a:p>
          <a:p>
            <a:pPr marL="342900" indent="-342900" algn="just">
              <a:buFontTx/>
              <a:buChar char="-"/>
            </a:pPr>
            <a:r>
              <a:rPr lang="en-US"/>
              <a:t>Predict future PAC from a history of past estimates — temporal forecasting</a:t>
            </a:r>
          </a:p>
          <a:p>
            <a:pPr algn="just"/>
            <a:endParaRPr lang="en-US" b="1"/>
          </a:p>
          <a:p>
            <a:pPr algn="just"/>
            <a:r>
              <a:rPr lang="en-US" b="1"/>
              <a:t>Stage 1: Architecture Decision for Static PAC Estimation</a:t>
            </a:r>
          </a:p>
          <a:p>
            <a:pPr marL="342900" indent="-342900" algn="just">
              <a:buFontTx/>
              <a:buChar char="-"/>
            </a:pPr>
            <a:endParaRPr lang="en-US"/>
          </a:p>
        </p:txBody>
      </p:sp>
      <p:sp>
        <p:nvSpPr>
          <p:cNvPr id="109" name="Rectangle 108">
            <a:extLst>
              <a:ext uri="{FF2B5EF4-FFF2-40B4-BE49-F238E27FC236}">
                <a16:creationId xmlns:a16="http://schemas.microsoft.com/office/drawing/2014/main" id="{8718C099-56F8-F70C-11E8-9B07CE364258}"/>
              </a:ext>
            </a:extLst>
          </p:cNvPr>
          <p:cNvSpPr/>
          <p:nvPr/>
        </p:nvSpPr>
        <p:spPr>
          <a:xfrm>
            <a:off x="22172049" y="41152548"/>
            <a:ext cx="10744200" cy="9616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110" name="TextBox 109">
            <a:extLst>
              <a:ext uri="{FF2B5EF4-FFF2-40B4-BE49-F238E27FC236}">
                <a16:creationId xmlns:a16="http://schemas.microsoft.com/office/drawing/2014/main" id="{6A8F7A59-944B-C1CF-206B-D3C864BD6508}"/>
              </a:ext>
            </a:extLst>
          </p:cNvPr>
          <p:cNvSpPr txBox="1"/>
          <p:nvPr/>
        </p:nvSpPr>
        <p:spPr>
          <a:xfrm>
            <a:off x="22424427" y="41428724"/>
            <a:ext cx="9601200" cy="830997"/>
          </a:xfrm>
          <a:prstGeom prst="rect">
            <a:avLst/>
          </a:prstGeom>
          <a:noFill/>
        </p:spPr>
        <p:txBody>
          <a:bodyPr wrap="square" rtlCol="0">
            <a:spAutoFit/>
          </a:bodyPr>
          <a:lstStyle>
            <a:defPPr>
              <a:defRPr kern="1200"/>
            </a:defPPr>
          </a:lstStyle>
          <a:p>
            <a:r>
              <a:rPr lang="en-US" sz="4800">
                <a:solidFill>
                  <a:srgbClr val="235078"/>
                </a:solidFill>
                <a:latin typeface="Libre Baskerville" panose="02000000000000000000" pitchFamily="2" charset="0"/>
              </a:rPr>
              <a:t>Further Research</a:t>
            </a:r>
          </a:p>
        </p:txBody>
      </p:sp>
      <p:sp>
        <p:nvSpPr>
          <p:cNvPr id="111" name="TextBox 110">
            <a:extLst>
              <a:ext uri="{FF2B5EF4-FFF2-40B4-BE49-F238E27FC236}">
                <a16:creationId xmlns:a16="http://schemas.microsoft.com/office/drawing/2014/main" id="{5D984B8B-018A-1DB1-EF58-57C5C6E84AA6}"/>
              </a:ext>
            </a:extLst>
          </p:cNvPr>
          <p:cNvSpPr txBox="1"/>
          <p:nvPr/>
        </p:nvSpPr>
        <p:spPr>
          <a:xfrm>
            <a:off x="22521672" y="42269972"/>
            <a:ext cx="10058400" cy="2308324"/>
          </a:xfrm>
          <a:prstGeom prst="rect">
            <a:avLst/>
          </a:prstGeom>
          <a:noFill/>
        </p:spPr>
        <p:txBody>
          <a:bodyPr wrap="square" rtlCol="0">
            <a:spAutoFit/>
          </a:bodyPr>
          <a:lstStyle>
            <a:defPPr>
              <a:defRPr kern="1200"/>
            </a:defPPr>
          </a:lstStyle>
          <a:p>
            <a:pPr marL="342900" indent="-342900" algn="just">
              <a:buFontTx/>
              <a:buChar char="-"/>
            </a:pPr>
            <a:r>
              <a:rPr lang="en-US"/>
              <a:t>Deploy with live EEG streaming for real-time crossover validation (adaptive vs fixed within same session)</a:t>
            </a:r>
          </a:p>
          <a:p>
            <a:pPr marL="342900" indent="-342900" algn="just">
              <a:buFontTx/>
              <a:buChar char="-"/>
            </a:pPr>
            <a:r>
              <a:rPr lang="en-US"/>
              <a:t>Record 30–60-minute sessions to capture the full habituation time course</a:t>
            </a:r>
          </a:p>
          <a:p>
            <a:pPr marL="342900" indent="-342900" algn="just">
              <a:buFontTx/>
              <a:buChar char="-"/>
            </a:pPr>
            <a:r>
              <a:rPr lang="en-US"/>
              <a:t>Replace the heuristic controller with reinforcement learning for long-horizon optimization</a:t>
            </a:r>
          </a:p>
          <a:p>
            <a:pPr marL="342900" indent="-342900" algn="just">
              <a:buFontTx/>
              <a:buChar char="-"/>
            </a:pPr>
            <a:r>
              <a:rPr lang="en-US"/>
              <a:t>Extend to multi-biomarker control (PAC + spectral power + connectivity)</a:t>
            </a:r>
          </a:p>
        </p:txBody>
      </p:sp>
      <p:pic>
        <p:nvPicPr>
          <p:cNvPr id="112" name="Picture 111">
            <a:extLst>
              <a:ext uri="{FF2B5EF4-FFF2-40B4-BE49-F238E27FC236}">
                <a16:creationId xmlns:a16="http://schemas.microsoft.com/office/drawing/2014/main" id="{DFF0A9C9-B68C-0232-0D09-144514943A88}"/>
              </a:ext>
            </a:extLst>
          </p:cNvPr>
          <p:cNvPicPr>
            <a:picLocks noChangeAspect="1"/>
          </p:cNvPicPr>
          <p:nvPr/>
        </p:nvPicPr>
        <p:blipFill>
          <a:blip r:embed="rId3"/>
          <a:stretch>
            <a:fillRect/>
          </a:stretch>
        </p:blipFill>
        <p:spPr>
          <a:xfrm>
            <a:off x="22521134" y="44829496"/>
            <a:ext cx="9827581" cy="5662375"/>
          </a:xfrm>
          <a:prstGeom prst="rect">
            <a:avLst/>
          </a:prstGeom>
        </p:spPr>
      </p:pic>
      <p:sp>
        <p:nvSpPr>
          <p:cNvPr id="113" name="Rectangle 112">
            <a:extLst>
              <a:ext uri="{FF2B5EF4-FFF2-40B4-BE49-F238E27FC236}">
                <a16:creationId xmlns:a16="http://schemas.microsoft.com/office/drawing/2014/main" id="{4D4CF46B-C20A-0BD3-27FC-8B2FDD186358}"/>
              </a:ext>
            </a:extLst>
          </p:cNvPr>
          <p:cNvSpPr/>
          <p:nvPr/>
        </p:nvSpPr>
        <p:spPr>
          <a:xfrm>
            <a:off x="457199" y="38596912"/>
            <a:ext cx="10054931" cy="9486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114" name="TextBox 113">
            <a:extLst>
              <a:ext uri="{FF2B5EF4-FFF2-40B4-BE49-F238E27FC236}">
                <a16:creationId xmlns:a16="http://schemas.microsoft.com/office/drawing/2014/main" id="{C933A6F0-16D8-E0DA-87A3-6C965839781E}"/>
              </a:ext>
            </a:extLst>
          </p:cNvPr>
          <p:cNvSpPr txBox="1"/>
          <p:nvPr/>
        </p:nvSpPr>
        <p:spPr>
          <a:xfrm>
            <a:off x="689587" y="38867908"/>
            <a:ext cx="9528066" cy="830997"/>
          </a:xfrm>
          <a:prstGeom prst="rect">
            <a:avLst/>
          </a:prstGeom>
          <a:noFill/>
        </p:spPr>
        <p:txBody>
          <a:bodyPr wrap="square" rtlCol="0">
            <a:spAutoFit/>
          </a:bodyPr>
          <a:lstStyle>
            <a:defPPr>
              <a:defRPr kern="1200"/>
            </a:defPPr>
          </a:lstStyle>
          <a:p>
            <a:r>
              <a:rPr lang="en-US" sz="4800">
                <a:solidFill>
                  <a:srgbClr val="235078"/>
                </a:solidFill>
                <a:latin typeface="Libre Baskerville" panose="02000000000000000000" pitchFamily="2" charset="0"/>
              </a:rPr>
              <a:t>References</a:t>
            </a:r>
          </a:p>
        </p:txBody>
      </p:sp>
      <p:sp>
        <p:nvSpPr>
          <p:cNvPr id="115" name="TextBox 114">
            <a:extLst>
              <a:ext uri="{FF2B5EF4-FFF2-40B4-BE49-F238E27FC236}">
                <a16:creationId xmlns:a16="http://schemas.microsoft.com/office/drawing/2014/main" id="{4B443AB5-AB8D-D159-1DC0-1C997A1EEFC9}"/>
              </a:ext>
            </a:extLst>
          </p:cNvPr>
          <p:cNvSpPr txBox="1"/>
          <p:nvPr/>
        </p:nvSpPr>
        <p:spPr>
          <a:xfrm>
            <a:off x="804672" y="39709156"/>
            <a:ext cx="9372600" cy="8217634"/>
          </a:xfrm>
          <a:prstGeom prst="rect">
            <a:avLst/>
          </a:prstGeom>
          <a:noFill/>
        </p:spPr>
        <p:txBody>
          <a:bodyPr wrap="square" rtlCol="0">
            <a:spAutoFit/>
          </a:bodyPr>
          <a:lstStyle>
            <a:defPPr>
              <a:defRPr kern="1200"/>
            </a:defPPr>
          </a:lstStyle>
          <a:p>
            <a:pPr algn="just"/>
            <a:r>
              <a:rPr lang="en-US" dirty="0"/>
              <a:t>Iaccarino, H. F., et al. (2016). Gamma frequency entrainment attenuates amyloid load and modifies microglia. Nature, 540(7632), 230-235.</a:t>
            </a:r>
          </a:p>
          <a:p>
            <a:pPr algn="just"/>
            <a:endParaRPr lang="en-US" dirty="0"/>
          </a:p>
          <a:p>
            <a:pPr algn="just"/>
            <a:r>
              <a:rPr lang="en-US" dirty="0"/>
              <a:t>Martorell, A. J., et al. (2019). Multi-sensory gamma stimulation ameliorates Alzheimer's-associated pathology and improves cognition. Cell, 177(2), 256-271.</a:t>
            </a:r>
          </a:p>
          <a:p>
            <a:pPr algn="just"/>
            <a:endParaRPr lang="en-US" dirty="0"/>
          </a:p>
          <a:p>
            <a:pPr algn="just"/>
            <a:r>
              <a:rPr lang="en-US" dirty="0"/>
              <a:t>Tort, A. B., et al. (2010). Measuring phase-amplitude coupling between neuronal oscillations of different frequencies. Journal of Neurophysiology, 104(2), 1195-1210.</a:t>
            </a:r>
          </a:p>
          <a:p>
            <a:pPr algn="just"/>
            <a:endParaRPr lang="en-US" dirty="0"/>
          </a:p>
          <a:p>
            <a:pPr algn="just"/>
            <a:r>
              <a:rPr lang="en-US" dirty="0"/>
              <a:t>Lawhern, V. J., et al. (2018). EEGNet: A compact convolutional neural network for EEG-based brain-computer interfaces. Journal of Neural Engineering, 15(5), 056013.</a:t>
            </a:r>
          </a:p>
          <a:p>
            <a:pPr algn="just"/>
            <a:endParaRPr lang="en-US" dirty="0"/>
          </a:p>
          <a:p>
            <a:pPr algn="just"/>
            <a:r>
              <a:rPr lang="en-US" dirty="0"/>
              <a:t>Lahijanian, M., et al. (2024). Auditory gamma-band entrainment enhances default mode network connectivity in dementia patients. Scientific Reports, 14, 13153.</a:t>
            </a:r>
          </a:p>
          <a:p>
            <a:pPr algn="just"/>
            <a:endParaRPr lang="en-US" dirty="0"/>
          </a:p>
          <a:p>
            <a:pPr algn="just"/>
            <a:r>
              <a:rPr lang="en-US" dirty="0"/>
              <a:t>Thompson, R. F., &amp; Spencer, W. A. (1966). Habituation: A model phenomenon for the study of neuronal substrates of behavior. Psychological Review, 73(1), 16-43.</a:t>
            </a:r>
          </a:p>
        </p:txBody>
      </p:sp>
      <p:sp>
        <p:nvSpPr>
          <p:cNvPr id="116" name="Rectangle 115">
            <a:extLst>
              <a:ext uri="{FF2B5EF4-FFF2-40B4-BE49-F238E27FC236}">
                <a16:creationId xmlns:a16="http://schemas.microsoft.com/office/drawing/2014/main" id="{D4273B56-C041-DEC5-3C98-38C4463A4E34}"/>
              </a:ext>
            </a:extLst>
          </p:cNvPr>
          <p:cNvSpPr/>
          <p:nvPr/>
        </p:nvSpPr>
        <p:spPr>
          <a:xfrm>
            <a:off x="457200" y="48383212"/>
            <a:ext cx="10058400" cy="23859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117" name="TextBox 116">
            <a:extLst>
              <a:ext uri="{FF2B5EF4-FFF2-40B4-BE49-F238E27FC236}">
                <a16:creationId xmlns:a16="http://schemas.microsoft.com/office/drawing/2014/main" id="{6A1FBB9D-76EC-2A25-2FA5-25EB531C55FF}"/>
              </a:ext>
            </a:extLst>
          </p:cNvPr>
          <p:cNvSpPr txBox="1"/>
          <p:nvPr/>
        </p:nvSpPr>
        <p:spPr>
          <a:xfrm>
            <a:off x="685800" y="48572928"/>
            <a:ext cx="9220717" cy="830997"/>
          </a:xfrm>
          <a:prstGeom prst="rect">
            <a:avLst/>
          </a:prstGeom>
          <a:noFill/>
        </p:spPr>
        <p:txBody>
          <a:bodyPr wrap="square" rtlCol="0">
            <a:spAutoFit/>
          </a:bodyPr>
          <a:lstStyle>
            <a:defPPr>
              <a:defRPr kern="1200"/>
            </a:defPPr>
          </a:lstStyle>
          <a:p>
            <a:r>
              <a:rPr lang="en-US" sz="4800">
                <a:solidFill>
                  <a:srgbClr val="235078"/>
                </a:solidFill>
                <a:latin typeface="Libre Baskerville" panose="02000000000000000000" pitchFamily="2" charset="0"/>
              </a:rPr>
              <a:t>Acknowledgements</a:t>
            </a:r>
          </a:p>
        </p:txBody>
      </p:sp>
      <p:sp>
        <p:nvSpPr>
          <p:cNvPr id="119" name="TextBox 118">
            <a:extLst>
              <a:ext uri="{FF2B5EF4-FFF2-40B4-BE49-F238E27FC236}">
                <a16:creationId xmlns:a16="http://schemas.microsoft.com/office/drawing/2014/main" id="{07004D0E-0083-A774-98B0-C89259A74D86}"/>
              </a:ext>
            </a:extLst>
          </p:cNvPr>
          <p:cNvSpPr txBox="1"/>
          <p:nvPr/>
        </p:nvSpPr>
        <p:spPr>
          <a:xfrm>
            <a:off x="695764" y="49418786"/>
            <a:ext cx="9534959" cy="830997"/>
          </a:xfrm>
          <a:prstGeom prst="rect">
            <a:avLst/>
          </a:prstGeom>
          <a:noFill/>
        </p:spPr>
        <p:txBody>
          <a:bodyPr wrap="square" rtlCol="0">
            <a:spAutoFit/>
          </a:bodyPr>
          <a:lstStyle>
            <a:defPPr>
              <a:defRPr kern="1200"/>
            </a:defPPr>
          </a:lstStyle>
          <a:p>
            <a:r>
              <a:rPr lang="en-US"/>
              <a:t>Data Source: OpenNeuro dataset ds005048 (Lahijanian et al., 2024). All EEG data used under open access license.</a:t>
            </a:r>
            <a:endParaRPr lang="en-US" sz="2000"/>
          </a:p>
        </p:txBody>
      </p:sp>
      <p:pic>
        <p:nvPicPr>
          <p:cNvPr id="22" name="Picture 21">
            <a:extLst>
              <a:ext uri="{FF2B5EF4-FFF2-40B4-BE49-F238E27FC236}">
                <a16:creationId xmlns:a16="http://schemas.microsoft.com/office/drawing/2014/main" id="{A0407D4A-A219-1501-E039-F829B040D3E8}"/>
              </a:ext>
            </a:extLst>
          </p:cNvPr>
          <p:cNvPicPr>
            <a:picLocks noChangeAspect="1"/>
          </p:cNvPicPr>
          <p:nvPr/>
        </p:nvPicPr>
        <p:blipFill>
          <a:blip r:embed="rId4"/>
          <a:stretch>
            <a:fillRect/>
          </a:stretch>
        </p:blipFill>
        <p:spPr>
          <a:xfrm>
            <a:off x="817604" y="23308802"/>
            <a:ext cx="9326158" cy="9326158"/>
          </a:xfrm>
          <a:prstGeom prst="rect">
            <a:avLst/>
          </a:prstGeom>
        </p:spPr>
      </p:pic>
      <p:graphicFrame>
        <p:nvGraphicFramePr>
          <p:cNvPr id="28" name="Table 27">
            <a:extLst>
              <a:ext uri="{FF2B5EF4-FFF2-40B4-BE49-F238E27FC236}">
                <a16:creationId xmlns:a16="http://schemas.microsoft.com/office/drawing/2014/main" id="{9E485B83-25B3-7070-32E2-456726331417}"/>
              </a:ext>
            </a:extLst>
          </p:cNvPr>
          <p:cNvGraphicFramePr>
            <a:graphicFrameLocks noGrp="1"/>
          </p:cNvGraphicFramePr>
          <p:nvPr>
            <p:extLst>
              <p:ext uri="{D42A27DB-BD31-4B8C-83A1-F6EECF244321}">
                <p14:modId xmlns:p14="http://schemas.microsoft.com/office/powerpoint/2010/main" val="1140031807"/>
              </p:ext>
            </p:extLst>
          </p:nvPr>
        </p:nvGraphicFramePr>
        <p:xfrm>
          <a:off x="11240406" y="11324886"/>
          <a:ext cx="4623229" cy="5407807"/>
        </p:xfrm>
        <a:graphic>
          <a:graphicData uri="http://schemas.openxmlformats.org/drawingml/2006/table">
            <a:tbl>
              <a:tblPr firstRow="1" bandRow="1">
                <a:tableStyleId>{073A0DAA-6AF3-43AB-8588-CEC1D06C72B9}</a:tableStyleId>
              </a:tblPr>
              <a:tblGrid>
                <a:gridCol w="2398600">
                  <a:extLst>
                    <a:ext uri="{9D8B030D-6E8A-4147-A177-3AD203B41FA5}">
                      <a16:colId xmlns:a16="http://schemas.microsoft.com/office/drawing/2014/main" val="476290120"/>
                    </a:ext>
                  </a:extLst>
                </a:gridCol>
                <a:gridCol w="1191766">
                  <a:extLst>
                    <a:ext uri="{9D8B030D-6E8A-4147-A177-3AD203B41FA5}">
                      <a16:colId xmlns:a16="http://schemas.microsoft.com/office/drawing/2014/main" val="2226223649"/>
                    </a:ext>
                  </a:extLst>
                </a:gridCol>
                <a:gridCol w="1032863">
                  <a:extLst>
                    <a:ext uri="{9D8B030D-6E8A-4147-A177-3AD203B41FA5}">
                      <a16:colId xmlns:a16="http://schemas.microsoft.com/office/drawing/2014/main" val="1535894409"/>
                    </a:ext>
                  </a:extLst>
                </a:gridCol>
              </a:tblGrid>
              <a:tr h="723819">
                <a:tc>
                  <a:txBody>
                    <a:bodyPr/>
                    <a:lstStyle/>
                    <a:p>
                      <a:r>
                        <a:rPr lang="en-US" sz="1800"/>
                        <a:t>Architecture</a:t>
                      </a:r>
                    </a:p>
                  </a:txBody>
                  <a:tcPr/>
                </a:tc>
                <a:tc>
                  <a:txBody>
                    <a:bodyPr/>
                    <a:lstStyle/>
                    <a:p>
                      <a:r>
                        <a:rPr lang="en-US" sz="1800"/>
                        <a:t>Params</a:t>
                      </a:r>
                    </a:p>
                  </a:txBody>
                  <a:tcPr/>
                </a:tc>
                <a:tc>
                  <a:txBody>
                    <a:bodyPr/>
                    <a:lstStyle/>
                    <a:p>
                      <a:r>
                        <a:rPr lang="en-US" sz="1800"/>
                        <a:t>Test </a:t>
                      </a:r>
                      <a:r>
                        <a:rPr lang="en-US" sz="1800" b="1" i="0" kern="1200">
                          <a:solidFill>
                            <a:schemeClr val="lt1"/>
                          </a:solidFill>
                          <a:effectLst/>
                          <a:latin typeface="+mn-lt"/>
                          <a:ea typeface="+mn-ea"/>
                          <a:cs typeface="+mn-cs"/>
                        </a:rPr>
                        <a:t>R²</a:t>
                      </a:r>
                      <a:endParaRPr lang="en-US" sz="1800"/>
                    </a:p>
                  </a:txBody>
                  <a:tcPr/>
                </a:tc>
                <a:extLst>
                  <a:ext uri="{0D108BD9-81ED-4DB2-BD59-A6C34878D82A}">
                    <a16:rowId xmlns:a16="http://schemas.microsoft.com/office/drawing/2014/main" val="32210522"/>
                  </a:ext>
                </a:extLst>
              </a:tr>
              <a:tr h="894356">
                <a:tc>
                  <a:txBody>
                    <a:bodyPr/>
                    <a:lstStyle/>
                    <a:p>
                      <a:r>
                        <a:rPr lang="en-US" sz="1800" b="1"/>
                        <a:t>EEGNet (V1)</a:t>
                      </a:r>
                    </a:p>
                  </a:txBody>
                  <a:tcPr/>
                </a:tc>
                <a:tc>
                  <a:txBody>
                    <a:bodyPr/>
                    <a:lstStyle/>
                    <a:p>
                      <a:r>
                        <a:rPr lang="en-US" sz="1800" b="1"/>
                        <a:t>1457</a:t>
                      </a:r>
                    </a:p>
                  </a:txBody>
                  <a:tcPr/>
                </a:tc>
                <a:tc>
                  <a:txBody>
                    <a:bodyPr/>
                    <a:lstStyle/>
                    <a:p>
                      <a:r>
                        <a:rPr lang="en-US" sz="1800" b="1"/>
                        <a:t>0.287</a:t>
                      </a:r>
                    </a:p>
                  </a:txBody>
                  <a:tcPr/>
                </a:tc>
                <a:extLst>
                  <a:ext uri="{0D108BD9-81ED-4DB2-BD59-A6C34878D82A}">
                    <a16:rowId xmlns:a16="http://schemas.microsoft.com/office/drawing/2014/main" val="2185965967"/>
                  </a:ext>
                </a:extLst>
              </a:tr>
              <a:tr h="723819">
                <a:tc>
                  <a:txBody>
                    <a:bodyPr/>
                    <a:lstStyle/>
                    <a:p>
                      <a:r>
                        <a:rPr lang="en-US" sz="1800"/>
                        <a:t>SpecTempNet (V3)</a:t>
                      </a:r>
                    </a:p>
                  </a:txBody>
                  <a:tcPr/>
                </a:tc>
                <a:tc>
                  <a:txBody>
                    <a:bodyPr/>
                    <a:lstStyle/>
                    <a:p>
                      <a:r>
                        <a:rPr lang="en-US" sz="1800"/>
                        <a:t>180K</a:t>
                      </a:r>
                    </a:p>
                  </a:txBody>
                  <a:tcPr/>
                </a:tc>
                <a:tc>
                  <a:txBody>
                    <a:bodyPr/>
                    <a:lstStyle/>
                    <a:p>
                      <a:r>
                        <a:rPr lang="en-US" sz="1800"/>
                        <a:t>0.236</a:t>
                      </a:r>
                    </a:p>
                  </a:txBody>
                  <a:tcPr/>
                </a:tc>
                <a:extLst>
                  <a:ext uri="{0D108BD9-81ED-4DB2-BD59-A6C34878D82A}">
                    <a16:rowId xmlns:a16="http://schemas.microsoft.com/office/drawing/2014/main" val="833987082"/>
                  </a:ext>
                </a:extLst>
              </a:tr>
              <a:tr h="723819">
                <a:tc>
                  <a:txBody>
                    <a:bodyPr/>
                    <a:lstStyle/>
                    <a:p>
                      <a:r>
                        <a:rPr lang="en-US" sz="1800"/>
                        <a:t>ViT-TCNet (V4)</a:t>
                      </a:r>
                    </a:p>
                  </a:txBody>
                  <a:tcPr/>
                </a:tc>
                <a:tc>
                  <a:txBody>
                    <a:bodyPr/>
                    <a:lstStyle/>
                    <a:p>
                      <a:r>
                        <a:rPr lang="en-US" sz="1800"/>
                        <a:t>~2M</a:t>
                      </a:r>
                    </a:p>
                  </a:txBody>
                  <a:tcPr/>
                </a:tc>
                <a:tc>
                  <a:txBody>
                    <a:bodyPr/>
                    <a:lstStyle/>
                    <a:p>
                      <a:r>
                        <a:rPr lang="en-US" sz="1800"/>
                        <a:t>0.252</a:t>
                      </a:r>
                    </a:p>
                  </a:txBody>
                  <a:tcPr/>
                </a:tc>
                <a:extLst>
                  <a:ext uri="{0D108BD9-81ED-4DB2-BD59-A6C34878D82A}">
                    <a16:rowId xmlns:a16="http://schemas.microsoft.com/office/drawing/2014/main" val="620352131"/>
                  </a:ext>
                </a:extLst>
              </a:tr>
              <a:tr h="723819">
                <a:tc>
                  <a:txBody>
                    <a:bodyPr/>
                    <a:lstStyle/>
                    <a:p>
                      <a:r>
                        <a:rPr lang="en-US" sz="1800"/>
                        <a:t>Ridge Regression (V5)</a:t>
                      </a:r>
                    </a:p>
                  </a:txBody>
                  <a:tcPr/>
                </a:tc>
                <a:tc>
                  <a:txBody>
                    <a:bodyPr/>
                    <a:lstStyle/>
                    <a:p>
                      <a:r>
                        <a:rPr lang="en-US" sz="1800"/>
                        <a:t>135 coefs</a:t>
                      </a:r>
                    </a:p>
                  </a:txBody>
                  <a:tcPr/>
                </a:tc>
                <a:tc>
                  <a:txBody>
                    <a:bodyPr/>
                    <a:lstStyle/>
                    <a:p>
                      <a:r>
                        <a:rPr lang="en-US" sz="1800"/>
                        <a:t>0.287</a:t>
                      </a:r>
                    </a:p>
                  </a:txBody>
                  <a:tcPr/>
                </a:tc>
                <a:extLst>
                  <a:ext uri="{0D108BD9-81ED-4DB2-BD59-A6C34878D82A}">
                    <a16:rowId xmlns:a16="http://schemas.microsoft.com/office/drawing/2014/main" val="1033956266"/>
                  </a:ext>
                </a:extLst>
              </a:tr>
              <a:tr h="723819">
                <a:tc>
                  <a:txBody>
                    <a:bodyPr/>
                    <a:lstStyle/>
                    <a:p>
                      <a:r>
                        <a:rPr lang="en-US" sz="1800"/>
                        <a:t>ATCNet (V8)</a:t>
                      </a:r>
                    </a:p>
                  </a:txBody>
                  <a:tcPr/>
                </a:tc>
                <a:tc>
                  <a:txBody>
                    <a:bodyPr/>
                    <a:lstStyle/>
                    <a:p>
                      <a:r>
                        <a:rPr lang="en-US" sz="1800"/>
                        <a:t>25K</a:t>
                      </a:r>
                    </a:p>
                  </a:txBody>
                  <a:tcPr/>
                </a:tc>
                <a:tc>
                  <a:txBody>
                    <a:bodyPr/>
                    <a:lstStyle/>
                    <a:p>
                      <a:r>
                        <a:rPr lang="en-US" sz="1800"/>
                        <a:t>0.075</a:t>
                      </a:r>
                    </a:p>
                  </a:txBody>
                  <a:tcPr/>
                </a:tc>
                <a:extLst>
                  <a:ext uri="{0D108BD9-81ED-4DB2-BD59-A6C34878D82A}">
                    <a16:rowId xmlns:a16="http://schemas.microsoft.com/office/drawing/2014/main" val="1634207841"/>
                  </a:ext>
                </a:extLst>
              </a:tr>
              <a:tr h="894356">
                <a:tc>
                  <a:txBody>
                    <a:bodyPr/>
                    <a:lstStyle/>
                    <a:p>
                      <a:r>
                        <a:rPr lang="en-US" sz="1800"/>
                        <a:t>EEGNetLarge (rigor)</a:t>
                      </a:r>
                    </a:p>
                  </a:txBody>
                  <a:tcPr/>
                </a:tc>
                <a:tc>
                  <a:txBody>
                    <a:bodyPr/>
                    <a:lstStyle/>
                    <a:p>
                      <a:r>
                        <a:rPr lang="en-US" sz="1800"/>
                        <a:t>141K</a:t>
                      </a:r>
                    </a:p>
                  </a:txBody>
                  <a:tcPr/>
                </a:tc>
                <a:tc>
                  <a:txBody>
                    <a:bodyPr/>
                    <a:lstStyle/>
                    <a:p>
                      <a:r>
                        <a:rPr lang="en-US" sz="1800"/>
                        <a:t>0.287</a:t>
                      </a:r>
                    </a:p>
                  </a:txBody>
                  <a:tcPr/>
                </a:tc>
                <a:extLst>
                  <a:ext uri="{0D108BD9-81ED-4DB2-BD59-A6C34878D82A}">
                    <a16:rowId xmlns:a16="http://schemas.microsoft.com/office/drawing/2014/main" val="3369638341"/>
                  </a:ext>
                </a:extLst>
              </a:tr>
            </a:tbl>
          </a:graphicData>
        </a:graphic>
      </p:graphicFrame>
      <p:sp>
        <p:nvSpPr>
          <p:cNvPr id="29" name="TextBox 28">
            <a:extLst>
              <a:ext uri="{FF2B5EF4-FFF2-40B4-BE49-F238E27FC236}">
                <a16:creationId xmlns:a16="http://schemas.microsoft.com/office/drawing/2014/main" id="{A5BE9255-8D92-CA21-6361-0B270D7B7372}"/>
              </a:ext>
            </a:extLst>
          </p:cNvPr>
          <p:cNvSpPr txBox="1"/>
          <p:nvPr/>
        </p:nvSpPr>
        <p:spPr>
          <a:xfrm>
            <a:off x="15945932" y="11225079"/>
            <a:ext cx="5518608" cy="5632311"/>
          </a:xfrm>
          <a:prstGeom prst="rect">
            <a:avLst/>
          </a:prstGeom>
          <a:noFill/>
        </p:spPr>
        <p:txBody>
          <a:bodyPr wrap="square" rtlCol="0">
            <a:spAutoFit/>
          </a:bodyPr>
          <a:lstStyle>
            <a:defPPr>
              <a:defRPr kern="1200"/>
            </a:defPPr>
          </a:lstStyle>
          <a:p>
            <a:pPr marL="342900" indent="-342900" algn="just">
              <a:buFontTx/>
              <a:buChar char="-"/>
            </a:pPr>
            <a:r>
              <a:rPr lang="en-US"/>
              <a:t>Simplest models (EEGNet, Ridge, EEGNetLarge) converge to R² = 0.287</a:t>
            </a:r>
          </a:p>
          <a:p>
            <a:pPr marL="342900" indent="-342900" algn="just">
              <a:buFontTx/>
              <a:buChar char="-"/>
            </a:pPr>
            <a:r>
              <a:rPr lang="en-US"/>
              <a:t>Larger models perform worse due to overfitting; the 2M-parameter ViT-TCNet scored lower than the 1,457-parameter EEGNet</a:t>
            </a:r>
          </a:p>
          <a:p>
            <a:pPr marL="342900" indent="-342900" algn="just">
              <a:buFontTx/>
              <a:buChar char="-"/>
            </a:pPr>
            <a:r>
              <a:rPr lang="en-US"/>
              <a:t>Conclusion: R² = 0.287 is a data ceiling (epoch-level PAC labels on 2s windows)</a:t>
            </a:r>
          </a:p>
          <a:p>
            <a:pPr algn="just"/>
            <a:endParaRPr lang="en-US"/>
          </a:p>
          <a:p>
            <a:pPr algn="just"/>
            <a:r>
              <a:rPr lang="en-US"/>
              <a:t>EEGNet matches the best R² (0.287) with only 1,457 parameters; It’s the lightest weight architecture tested, enabling real-time inference on embedded devices. provides the current PAC estimate that feeds into the temporal predictor.</a:t>
            </a:r>
          </a:p>
        </p:txBody>
      </p:sp>
      <p:pic>
        <p:nvPicPr>
          <p:cNvPr id="30" name="Picture 29">
            <a:extLst>
              <a:ext uri="{FF2B5EF4-FFF2-40B4-BE49-F238E27FC236}">
                <a16:creationId xmlns:a16="http://schemas.microsoft.com/office/drawing/2014/main" id="{278354D0-B810-C276-232B-3BE3351FADC7}"/>
              </a:ext>
            </a:extLst>
          </p:cNvPr>
          <p:cNvPicPr>
            <a:picLocks noChangeAspect="1"/>
          </p:cNvPicPr>
          <p:nvPr/>
        </p:nvPicPr>
        <p:blipFill>
          <a:blip r:embed="rId5"/>
          <a:srcRect t="7737"/>
          <a:stretch>
            <a:fillRect/>
          </a:stretch>
        </p:blipFill>
        <p:spPr>
          <a:xfrm>
            <a:off x="11786533" y="16818960"/>
            <a:ext cx="8965324" cy="5318634"/>
          </a:xfrm>
          <a:prstGeom prst="rect">
            <a:avLst/>
          </a:prstGeom>
        </p:spPr>
      </p:pic>
      <p:sp>
        <p:nvSpPr>
          <p:cNvPr id="57" name="TextBox 56">
            <a:extLst>
              <a:ext uri="{FF2B5EF4-FFF2-40B4-BE49-F238E27FC236}">
                <a16:creationId xmlns:a16="http://schemas.microsoft.com/office/drawing/2014/main" id="{7A621565-A7EF-E65C-8B6F-666EB74065D7}"/>
              </a:ext>
            </a:extLst>
          </p:cNvPr>
          <p:cNvSpPr txBox="1"/>
          <p:nvPr/>
        </p:nvSpPr>
        <p:spPr>
          <a:xfrm>
            <a:off x="11311128" y="22096810"/>
            <a:ext cx="10058400" cy="461665"/>
          </a:xfrm>
          <a:prstGeom prst="rect">
            <a:avLst/>
          </a:prstGeom>
          <a:noFill/>
        </p:spPr>
        <p:txBody>
          <a:bodyPr wrap="square" rtlCol="0">
            <a:spAutoFit/>
          </a:bodyPr>
          <a:lstStyle>
            <a:defPPr>
              <a:defRPr kern="1200"/>
            </a:defPPr>
          </a:lstStyle>
          <a:p>
            <a:pPr algn="just"/>
            <a:r>
              <a:rPr lang="en-US" b="1"/>
              <a:t>Stage 2: Temporal Prediction; Causal TCN</a:t>
            </a:r>
          </a:p>
        </p:txBody>
      </p:sp>
      <p:graphicFrame>
        <p:nvGraphicFramePr>
          <p:cNvPr id="58" name="Table 57">
            <a:extLst>
              <a:ext uri="{FF2B5EF4-FFF2-40B4-BE49-F238E27FC236}">
                <a16:creationId xmlns:a16="http://schemas.microsoft.com/office/drawing/2014/main" id="{722A9E81-6501-7FB9-CC4F-B1A2CF482EAE}"/>
              </a:ext>
            </a:extLst>
          </p:cNvPr>
          <p:cNvGraphicFramePr>
            <a:graphicFrameLocks noGrp="1"/>
          </p:cNvGraphicFramePr>
          <p:nvPr>
            <p:extLst>
              <p:ext uri="{D42A27DB-BD31-4B8C-83A1-F6EECF244321}">
                <p14:modId xmlns:p14="http://schemas.microsoft.com/office/powerpoint/2010/main" val="3448162069"/>
              </p:ext>
            </p:extLst>
          </p:nvPr>
        </p:nvGraphicFramePr>
        <p:xfrm>
          <a:off x="11400361" y="24279232"/>
          <a:ext cx="9878569" cy="3903814"/>
        </p:xfrm>
        <a:graphic>
          <a:graphicData uri="http://schemas.openxmlformats.org/drawingml/2006/table">
            <a:tbl>
              <a:tblPr firstRow="1" bandRow="1">
                <a:tableStyleId>{073A0DAA-6AF3-43AB-8588-CEC1D06C72B9}</a:tableStyleId>
              </a:tblPr>
              <a:tblGrid>
                <a:gridCol w="1918566">
                  <a:extLst>
                    <a:ext uri="{9D8B030D-6E8A-4147-A177-3AD203B41FA5}">
                      <a16:colId xmlns:a16="http://schemas.microsoft.com/office/drawing/2014/main" val="476290120"/>
                    </a:ext>
                  </a:extLst>
                </a:gridCol>
                <a:gridCol w="4082053">
                  <a:extLst>
                    <a:ext uri="{9D8B030D-6E8A-4147-A177-3AD203B41FA5}">
                      <a16:colId xmlns:a16="http://schemas.microsoft.com/office/drawing/2014/main" val="2226223649"/>
                    </a:ext>
                  </a:extLst>
                </a:gridCol>
                <a:gridCol w="3877950">
                  <a:extLst>
                    <a:ext uri="{9D8B030D-6E8A-4147-A177-3AD203B41FA5}">
                      <a16:colId xmlns:a16="http://schemas.microsoft.com/office/drawing/2014/main" val="1535894409"/>
                    </a:ext>
                  </a:extLst>
                </a:gridCol>
              </a:tblGrid>
              <a:tr h="522514">
                <a:tc>
                  <a:txBody>
                    <a:bodyPr/>
                    <a:lstStyle/>
                    <a:p>
                      <a:endParaRPr lang="en-US" sz="1800"/>
                    </a:p>
                  </a:txBody>
                  <a:tcPr/>
                </a:tc>
                <a:tc>
                  <a:txBody>
                    <a:bodyPr/>
                    <a:lstStyle/>
                    <a:p>
                      <a:r>
                        <a:rPr lang="en-US" sz="1800"/>
                        <a:t>EEGNet</a:t>
                      </a:r>
                    </a:p>
                  </a:txBody>
                  <a:tcPr/>
                </a:tc>
                <a:tc>
                  <a:txBody>
                    <a:bodyPr/>
                    <a:lstStyle/>
                    <a:p>
                      <a:r>
                        <a:rPr lang="en-US" sz="1800"/>
                        <a:t>Causal TCN</a:t>
                      </a:r>
                    </a:p>
                  </a:txBody>
                  <a:tcPr/>
                </a:tc>
                <a:extLst>
                  <a:ext uri="{0D108BD9-81ED-4DB2-BD59-A6C34878D82A}">
                    <a16:rowId xmlns:a16="http://schemas.microsoft.com/office/drawing/2014/main" val="32210522"/>
                  </a:ext>
                </a:extLst>
              </a:tr>
              <a:tr h="645622">
                <a:tc>
                  <a:txBody>
                    <a:bodyPr/>
                    <a:lstStyle/>
                    <a:p>
                      <a:r>
                        <a:rPr lang="en-US" sz="1800"/>
                        <a:t>Purpose</a:t>
                      </a:r>
                    </a:p>
                  </a:txBody>
                  <a:tcPr/>
                </a:tc>
                <a:tc>
                  <a:txBody>
                    <a:bodyPr/>
                    <a:lstStyle/>
                    <a:p>
                      <a:r>
                        <a:rPr lang="en-US" sz="1800"/>
                        <a:t>Estimate current PAC from raw EEG</a:t>
                      </a:r>
                    </a:p>
                  </a:txBody>
                  <a:tcPr/>
                </a:tc>
                <a:tc>
                  <a:txBody>
                    <a:bodyPr/>
                    <a:lstStyle/>
                    <a:p>
                      <a:r>
                        <a:rPr lang="en-US" sz="1800"/>
                        <a:t>Predict future PAC from history</a:t>
                      </a:r>
                    </a:p>
                  </a:txBody>
                  <a:tcPr/>
                </a:tc>
                <a:extLst>
                  <a:ext uri="{0D108BD9-81ED-4DB2-BD59-A6C34878D82A}">
                    <a16:rowId xmlns:a16="http://schemas.microsoft.com/office/drawing/2014/main" val="2185965967"/>
                  </a:ext>
                </a:extLst>
              </a:tr>
              <a:tr h="522514">
                <a:tc>
                  <a:txBody>
                    <a:bodyPr/>
                    <a:lstStyle/>
                    <a:p>
                      <a:r>
                        <a:rPr lang="en-US" sz="1800"/>
                        <a:t>Parameters</a:t>
                      </a:r>
                    </a:p>
                  </a:txBody>
                  <a:tcPr/>
                </a:tc>
                <a:tc>
                  <a:txBody>
                    <a:bodyPr/>
                    <a:lstStyle/>
                    <a:p>
                      <a:r>
                        <a:rPr lang="en-US" sz="1800"/>
                        <a:t>1457 (12 samples/param)</a:t>
                      </a:r>
                    </a:p>
                  </a:txBody>
                  <a:tcPr/>
                </a:tc>
                <a:tc>
                  <a:txBody>
                    <a:bodyPr/>
                    <a:lstStyle/>
                    <a:p>
                      <a:r>
                        <a:rPr lang="en-US" sz="1800"/>
                        <a:t>31,043</a:t>
                      </a:r>
                    </a:p>
                  </a:txBody>
                  <a:tcPr/>
                </a:tc>
                <a:extLst>
                  <a:ext uri="{0D108BD9-81ED-4DB2-BD59-A6C34878D82A}">
                    <a16:rowId xmlns:a16="http://schemas.microsoft.com/office/drawing/2014/main" val="833987082"/>
                  </a:ext>
                </a:extLst>
              </a:tr>
              <a:tr h="522514">
                <a:tc>
                  <a:txBody>
                    <a:bodyPr/>
                    <a:lstStyle/>
                    <a:p>
                      <a:r>
                        <a:rPr lang="en-US" sz="1800"/>
                        <a:t>Input</a:t>
                      </a:r>
                    </a:p>
                  </a:txBody>
                  <a:tcPr/>
                </a:tc>
                <a:tc>
                  <a:txBody>
                    <a:bodyPr/>
                    <a:lstStyle/>
                    <a:p>
                      <a:r>
                        <a:rPr lang="en-US" sz="1800"/>
                        <a:t>Raw EEG (7 ch x 500 samples)</a:t>
                      </a:r>
                    </a:p>
                  </a:txBody>
                  <a:tcPr/>
                </a:tc>
                <a:tc>
                  <a:txBody>
                    <a:bodyPr/>
                    <a:lstStyle/>
                    <a:p>
                      <a:r>
                        <a:rPr lang="en-US" sz="1800"/>
                        <a:t>73 features x 20 timesteps</a:t>
                      </a:r>
                    </a:p>
                  </a:txBody>
                  <a:tcPr/>
                </a:tc>
                <a:extLst>
                  <a:ext uri="{0D108BD9-81ED-4DB2-BD59-A6C34878D82A}">
                    <a16:rowId xmlns:a16="http://schemas.microsoft.com/office/drawing/2014/main" val="620352131"/>
                  </a:ext>
                </a:extLst>
              </a:tr>
              <a:tr h="522514">
                <a:tc>
                  <a:txBody>
                    <a:bodyPr/>
                    <a:lstStyle/>
                    <a:p>
                      <a:r>
                        <a:rPr lang="en-US" sz="1800"/>
                        <a:t>Architecture</a:t>
                      </a:r>
                    </a:p>
                  </a:txBody>
                  <a:tcPr/>
                </a:tc>
                <a:tc>
                  <a:txBody>
                    <a:bodyPr/>
                    <a:lstStyle/>
                    <a:p>
                      <a:r>
                        <a:rPr lang="en-US" sz="1800"/>
                        <a:t>Temporal + depth wise spatial conv.</a:t>
                      </a:r>
                    </a:p>
                  </a:txBody>
                  <a:tcPr/>
                </a:tc>
                <a:tc>
                  <a:txBody>
                    <a:bodyPr/>
                    <a:lstStyle/>
                    <a:p>
                      <a:r>
                        <a:rPr lang="en-US" sz="1800"/>
                        <a:t>Dilated causal conv (d=1,2,4,8)</a:t>
                      </a:r>
                    </a:p>
                  </a:txBody>
                  <a:tcPr/>
                </a:tc>
                <a:extLst>
                  <a:ext uri="{0D108BD9-81ED-4DB2-BD59-A6C34878D82A}">
                    <a16:rowId xmlns:a16="http://schemas.microsoft.com/office/drawing/2014/main" val="1033956266"/>
                  </a:ext>
                </a:extLst>
              </a:tr>
              <a:tr h="522514">
                <a:tc>
                  <a:txBody>
                    <a:bodyPr/>
                    <a:lstStyle/>
                    <a:p>
                      <a:r>
                        <a:rPr lang="en-US" sz="1800"/>
                        <a:t>Output</a:t>
                      </a:r>
                    </a:p>
                  </a:txBody>
                  <a:tcPr/>
                </a:tc>
                <a:tc>
                  <a:txBody>
                    <a:bodyPr/>
                    <a:lstStyle/>
                    <a:p>
                      <a:r>
                        <a:rPr lang="en-US" sz="1800"/>
                        <a:t>Current PAC Estimate</a:t>
                      </a:r>
                    </a:p>
                  </a:txBody>
                  <a:tcPr/>
                </a:tc>
                <a:tc>
                  <a:txBody>
                    <a:bodyPr/>
                    <a:lstStyle/>
                    <a:p>
                      <a:r>
                        <a:rPr lang="en-US" sz="1800"/>
                        <a:t>Future PAC (5s Horizon)</a:t>
                      </a:r>
                    </a:p>
                  </a:txBody>
                  <a:tcPr/>
                </a:tc>
                <a:extLst>
                  <a:ext uri="{0D108BD9-81ED-4DB2-BD59-A6C34878D82A}">
                    <a16:rowId xmlns:a16="http://schemas.microsoft.com/office/drawing/2014/main" val="1634207841"/>
                  </a:ext>
                </a:extLst>
              </a:tr>
              <a:tr h="645622">
                <a:tc>
                  <a:txBody>
                    <a:bodyPr/>
                    <a:lstStyle/>
                    <a:p>
                      <a:r>
                        <a:rPr lang="en-US" sz="1800"/>
                        <a:t>Key Feature</a:t>
                      </a:r>
                    </a:p>
                  </a:txBody>
                  <a:tcPr/>
                </a:tc>
                <a:tc>
                  <a:txBody>
                    <a:bodyPr/>
                    <a:lstStyle/>
                    <a:p>
                      <a:r>
                        <a:rPr lang="en-US" sz="1800"/>
                        <a:t>Real-time-inference</a:t>
                      </a:r>
                    </a:p>
                  </a:txBody>
                  <a:tcPr/>
                </a:tc>
                <a:tc>
                  <a:txBody>
                    <a:bodyPr/>
                    <a:lstStyle/>
                    <a:p>
                      <a:r>
                        <a:rPr lang="en-US" sz="1800"/>
                        <a:t>44-second receptive field, causal (no future leakage)</a:t>
                      </a:r>
                    </a:p>
                  </a:txBody>
                  <a:tcPr/>
                </a:tc>
                <a:extLst>
                  <a:ext uri="{0D108BD9-81ED-4DB2-BD59-A6C34878D82A}">
                    <a16:rowId xmlns:a16="http://schemas.microsoft.com/office/drawing/2014/main" val="3369638341"/>
                  </a:ext>
                </a:extLst>
              </a:tr>
            </a:tbl>
          </a:graphicData>
        </a:graphic>
      </p:graphicFrame>
      <p:sp>
        <p:nvSpPr>
          <p:cNvPr id="60" name="TextBox 59">
            <a:extLst>
              <a:ext uri="{FF2B5EF4-FFF2-40B4-BE49-F238E27FC236}">
                <a16:creationId xmlns:a16="http://schemas.microsoft.com/office/drawing/2014/main" id="{714AB1B0-D906-9971-B3B0-3C0FE1A28746}"/>
              </a:ext>
            </a:extLst>
          </p:cNvPr>
          <p:cNvSpPr txBox="1"/>
          <p:nvPr/>
        </p:nvSpPr>
        <p:spPr>
          <a:xfrm>
            <a:off x="11307660" y="28370238"/>
            <a:ext cx="10058400" cy="1200329"/>
          </a:xfrm>
          <a:prstGeom prst="rect">
            <a:avLst/>
          </a:prstGeom>
          <a:noFill/>
        </p:spPr>
        <p:txBody>
          <a:bodyPr wrap="square" rtlCol="0">
            <a:spAutoFit/>
          </a:bodyPr>
          <a:lstStyle>
            <a:defPPr>
              <a:defRPr kern="1200"/>
            </a:defPPr>
          </a:lstStyle>
          <a:p>
            <a:pPr algn="just"/>
            <a:r>
              <a:rPr lang="en-US" b="1"/>
              <a:t>73 TCN input features:</a:t>
            </a:r>
            <a:r>
              <a:rPr lang="en-US"/>
              <a:t> 61 spectral power + 7 PAC-derived (current value from EEGNet, moving averages, trends) + 5 stimulation context (on/off state, duration, session phase)</a:t>
            </a:r>
          </a:p>
        </p:txBody>
      </p:sp>
      <p:sp>
        <p:nvSpPr>
          <p:cNvPr id="64" name="TextBox 63">
            <a:extLst>
              <a:ext uri="{FF2B5EF4-FFF2-40B4-BE49-F238E27FC236}">
                <a16:creationId xmlns:a16="http://schemas.microsoft.com/office/drawing/2014/main" id="{63D47AD0-7D3E-1BD2-F9B6-EB2CAACC83F9}"/>
              </a:ext>
            </a:extLst>
          </p:cNvPr>
          <p:cNvSpPr txBox="1"/>
          <p:nvPr/>
        </p:nvSpPr>
        <p:spPr>
          <a:xfrm>
            <a:off x="11472672" y="22574771"/>
            <a:ext cx="10058400" cy="1569660"/>
          </a:xfrm>
          <a:prstGeom prst="rect">
            <a:avLst/>
          </a:prstGeom>
          <a:noFill/>
        </p:spPr>
        <p:txBody>
          <a:bodyPr wrap="square" rtlCol="0">
            <a:spAutoFit/>
          </a:bodyPr>
          <a:lstStyle>
            <a:defPPr>
              <a:defRPr kern="1200"/>
            </a:defPPr>
          </a:lstStyle>
          <a:p>
            <a:pPr algn="just"/>
            <a:r>
              <a:rPr lang="en-US"/>
              <a:t>Since no single-window architecture could exceed R² = 0.287, I shifted the approach: instead of predicting PAC better from one snapshot, predict it further into the future from a sequence of snapshots. The Causal TCN ingests 20 seconds of history and forecasts PAC 5 seconds ahead.</a:t>
            </a:r>
          </a:p>
        </p:txBody>
      </p:sp>
      <p:pic>
        <p:nvPicPr>
          <p:cNvPr id="88" name="Picture 87">
            <a:extLst>
              <a:ext uri="{FF2B5EF4-FFF2-40B4-BE49-F238E27FC236}">
                <a16:creationId xmlns:a16="http://schemas.microsoft.com/office/drawing/2014/main" id="{0EF50D8A-74C2-2E75-3424-F16B72757D8D}"/>
              </a:ext>
            </a:extLst>
          </p:cNvPr>
          <p:cNvPicPr>
            <a:picLocks noChangeAspect="1"/>
          </p:cNvPicPr>
          <p:nvPr/>
        </p:nvPicPr>
        <p:blipFill>
          <a:blip r:embed="rId6"/>
          <a:stretch>
            <a:fillRect/>
          </a:stretch>
        </p:blipFill>
        <p:spPr>
          <a:xfrm>
            <a:off x="22641881" y="11362955"/>
            <a:ext cx="9817981" cy="8861280"/>
          </a:xfrm>
          <a:prstGeom prst="rect">
            <a:avLst/>
          </a:prstGeom>
        </p:spPr>
      </p:pic>
      <p:pic>
        <p:nvPicPr>
          <p:cNvPr id="90" name="Picture 89">
            <a:extLst>
              <a:ext uri="{FF2B5EF4-FFF2-40B4-BE49-F238E27FC236}">
                <a16:creationId xmlns:a16="http://schemas.microsoft.com/office/drawing/2014/main" id="{8B6B8183-F055-4E49-F289-8CB704F8A12F}"/>
              </a:ext>
            </a:extLst>
          </p:cNvPr>
          <p:cNvPicPr>
            <a:picLocks noChangeAspect="1"/>
          </p:cNvPicPr>
          <p:nvPr/>
        </p:nvPicPr>
        <p:blipFill>
          <a:blip r:embed="rId7"/>
          <a:stretch>
            <a:fillRect/>
          </a:stretch>
        </p:blipFill>
        <p:spPr>
          <a:xfrm>
            <a:off x="22521670" y="30486821"/>
            <a:ext cx="10127779" cy="10127779"/>
          </a:xfrm>
          <a:prstGeom prst="rect">
            <a:avLst/>
          </a:prstGeom>
        </p:spPr>
      </p:pic>
      <p:pic>
        <p:nvPicPr>
          <p:cNvPr id="92" name="Picture 91">
            <a:extLst>
              <a:ext uri="{FF2B5EF4-FFF2-40B4-BE49-F238E27FC236}">
                <a16:creationId xmlns:a16="http://schemas.microsoft.com/office/drawing/2014/main" id="{C1F866C1-5692-170E-7F9A-76FE9430BCFE}"/>
              </a:ext>
            </a:extLst>
          </p:cNvPr>
          <p:cNvPicPr>
            <a:picLocks noChangeAspect="1"/>
          </p:cNvPicPr>
          <p:nvPr/>
        </p:nvPicPr>
        <p:blipFill>
          <a:blip r:embed="rId8"/>
          <a:srcRect r="267"/>
          <a:stretch>
            <a:fillRect/>
          </a:stretch>
        </p:blipFill>
        <p:spPr>
          <a:xfrm>
            <a:off x="11049870" y="29621799"/>
            <a:ext cx="10593632" cy="7510101"/>
          </a:xfrm>
          <a:prstGeom prst="rect">
            <a:avLst/>
          </a:prstGeom>
        </p:spPr>
      </p:pic>
      <p:pic>
        <p:nvPicPr>
          <p:cNvPr id="93" name="Picture 92">
            <a:extLst>
              <a:ext uri="{FF2B5EF4-FFF2-40B4-BE49-F238E27FC236}">
                <a16:creationId xmlns:a16="http://schemas.microsoft.com/office/drawing/2014/main" id="{B8EF6007-35A9-A10A-DBF8-A1E822F2DCA2}"/>
              </a:ext>
            </a:extLst>
          </p:cNvPr>
          <p:cNvPicPr>
            <a:picLocks noChangeAspect="1"/>
          </p:cNvPicPr>
          <p:nvPr/>
        </p:nvPicPr>
        <p:blipFill>
          <a:blip r:embed="rId9"/>
          <a:stretch>
            <a:fillRect/>
          </a:stretch>
        </p:blipFill>
        <p:spPr>
          <a:xfrm>
            <a:off x="11049869" y="38701596"/>
            <a:ext cx="10512507" cy="6180204"/>
          </a:xfrm>
          <a:prstGeom prst="rect">
            <a:avLst/>
          </a:prstGeom>
        </p:spPr>
      </p:pic>
      <p:pic>
        <p:nvPicPr>
          <p:cNvPr id="94" name="Picture 93">
            <a:extLst>
              <a:ext uri="{FF2B5EF4-FFF2-40B4-BE49-F238E27FC236}">
                <a16:creationId xmlns:a16="http://schemas.microsoft.com/office/drawing/2014/main" id="{2661324D-3C10-FC49-10E8-1B8D7F5FC161}"/>
              </a:ext>
            </a:extLst>
          </p:cNvPr>
          <p:cNvPicPr>
            <a:picLocks noChangeAspect="1"/>
          </p:cNvPicPr>
          <p:nvPr/>
        </p:nvPicPr>
        <p:blipFill>
          <a:blip r:embed="rId10"/>
          <a:stretch>
            <a:fillRect/>
          </a:stretch>
        </p:blipFill>
        <p:spPr>
          <a:xfrm>
            <a:off x="11055818" y="44922541"/>
            <a:ext cx="10590895" cy="5771211"/>
          </a:xfrm>
          <a:prstGeom prst="rect">
            <a:avLst/>
          </a:prstGeom>
        </p:spPr>
      </p:pic>
      <p:pic>
        <p:nvPicPr>
          <p:cNvPr id="96" name="Picture 95">
            <a:extLst>
              <a:ext uri="{FF2B5EF4-FFF2-40B4-BE49-F238E27FC236}">
                <a16:creationId xmlns:a16="http://schemas.microsoft.com/office/drawing/2014/main" id="{D38320BD-5E59-6076-D987-6A49F37EB47A}"/>
              </a:ext>
            </a:extLst>
          </p:cNvPr>
          <p:cNvPicPr>
            <a:picLocks noChangeAspect="1"/>
          </p:cNvPicPr>
          <p:nvPr/>
        </p:nvPicPr>
        <p:blipFill>
          <a:blip r:embed="rId11"/>
          <a:stretch>
            <a:fillRect/>
          </a:stretch>
        </p:blipFill>
        <p:spPr>
          <a:xfrm>
            <a:off x="33704522" y="9633599"/>
            <a:ext cx="9371391" cy="5034098"/>
          </a:xfrm>
          <a:prstGeom prst="rect">
            <a:avLst/>
          </a:prstGeom>
        </p:spPr>
      </p:pic>
      <p:pic>
        <p:nvPicPr>
          <p:cNvPr id="99" name="Picture 98">
            <a:extLst>
              <a:ext uri="{FF2B5EF4-FFF2-40B4-BE49-F238E27FC236}">
                <a16:creationId xmlns:a16="http://schemas.microsoft.com/office/drawing/2014/main" id="{2A45D29D-7A30-C9DF-E78E-9371023E9E61}"/>
              </a:ext>
            </a:extLst>
          </p:cNvPr>
          <p:cNvPicPr>
            <a:picLocks noChangeAspect="1"/>
          </p:cNvPicPr>
          <p:nvPr/>
        </p:nvPicPr>
        <p:blipFill>
          <a:blip r:embed="rId12"/>
          <a:srcRect b="664"/>
          <a:stretch>
            <a:fillRect/>
          </a:stretch>
        </p:blipFill>
        <p:spPr>
          <a:xfrm>
            <a:off x="33368556" y="20162900"/>
            <a:ext cx="10054781" cy="5462195"/>
          </a:xfrm>
          <a:prstGeom prst="rect">
            <a:avLst/>
          </a:prstGeom>
        </p:spPr>
      </p:pic>
      <p:pic>
        <p:nvPicPr>
          <p:cNvPr id="104" name="Picture 103">
            <a:extLst>
              <a:ext uri="{FF2B5EF4-FFF2-40B4-BE49-F238E27FC236}">
                <a16:creationId xmlns:a16="http://schemas.microsoft.com/office/drawing/2014/main" id="{81E8EED0-2108-10F5-AF13-0942335A779B}"/>
              </a:ext>
            </a:extLst>
          </p:cNvPr>
          <p:cNvPicPr>
            <a:picLocks noChangeAspect="1"/>
          </p:cNvPicPr>
          <p:nvPr/>
        </p:nvPicPr>
        <p:blipFill>
          <a:blip r:embed="rId13"/>
          <a:stretch>
            <a:fillRect/>
          </a:stretch>
        </p:blipFill>
        <p:spPr>
          <a:xfrm>
            <a:off x="33663636" y="26278292"/>
            <a:ext cx="9491472" cy="5153572"/>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suadingsapphire|08-2022"/>
</p:tagLst>
</file>

<file path=ppt/theme/theme1.xml><?xml version="1.0" encoding="utf-8"?>
<a:theme xmlns:a="http://schemas.openxmlformats.org/drawingml/2006/main" name="Blank 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lank Presentatio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6332</TotalTime>
  <Words>1821</Words>
  <Application>Microsoft Macintosh PowerPoint</Application>
  <PresentationFormat>Custom</PresentationFormat>
  <Paragraphs>215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Montserrat Light</vt:lpstr>
      <vt:lpstr>Times New Roman</vt:lpstr>
      <vt:lpstr>Libre Baskerville</vt:lpstr>
      <vt:lpstr>Blank Presentation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Amaar Chughtai</cp:lastModifiedBy>
  <cp:revision>320</cp:revision>
  <cp:lastPrinted>2006-11-15T16:04:57Z</cp:lastPrinted>
  <dcterms:modified xsi:type="dcterms:W3CDTF">2026-03-05T12:08:31Z</dcterms:modified>
  <cp:category>templates for scientific poster</cp:category>
</cp:coreProperties>
</file>